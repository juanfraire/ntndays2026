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147473379" r:id="rId2"/>
    <p:sldId id="263" r:id="rId3"/>
    <p:sldId id="275" r:id="rId4"/>
    <p:sldId id="2147476199" r:id="rId5"/>
    <p:sldId id="265" r:id="rId6"/>
    <p:sldId id="2147476200" r:id="rId7"/>
    <p:sldId id="2147473312" r:id="rId8"/>
    <p:sldId id="2147473287" r:id="rId9"/>
    <p:sldId id="2147473314" r:id="rId10"/>
    <p:sldId id="2147328342" r:id="rId11"/>
    <p:sldId id="2147473315" r:id="rId12"/>
    <p:sldId id="2147473317" r:id="rId13"/>
    <p:sldId id="2147473316" r:id="rId14"/>
    <p:sldId id="2147473318" r:id="rId15"/>
    <p:sldId id="2147473319" r:id="rId16"/>
    <p:sldId id="2147473320" r:id="rId17"/>
    <p:sldId id="2147473321" r:id="rId18"/>
    <p:sldId id="2147473324" r:id="rId19"/>
    <p:sldId id="2147473322" r:id="rId20"/>
    <p:sldId id="2147473325" r:id="rId21"/>
    <p:sldId id="2147473323" r:id="rId22"/>
    <p:sldId id="2147476201" r:id="rId23"/>
    <p:sldId id="2147473313" r:id="rId24"/>
    <p:sldId id="21474733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CF3444-2EE0-4D44-BA86-7383A2630807}" v="215" dt="2026-10-12T00:03:34.9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1" autoAdjust="0"/>
    <p:restoredTop sz="74543" autoAdjust="0"/>
  </p:normalViewPr>
  <p:slideViewPr>
    <p:cSldViewPr snapToGrid="0">
      <p:cViewPr varScale="1">
        <p:scale>
          <a:sx n="61" d="100"/>
          <a:sy n="61" d="100"/>
        </p:scale>
        <p:origin x="138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661346-495C-4A10-88B1-3110240C31A0}" type="datetimeFigureOut">
              <a:rPr lang="en-US" smtClean="0"/>
              <a:t>10/11/2026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826CE5-DED1-4C63-855E-EFC1265B44F1}" type="slidenum">
              <a:rPr lang="en-US" smtClean="0"/>
              <a:t>‹#›</a:t>
            </a:fld>
            <a:endParaRPr lang="en-US"/>
          </a:p>
        </p:txBody>
      </p:sp>
    </p:spTree>
    <p:extLst>
      <p:ext uri="{BB962C8B-B14F-4D97-AF65-F5344CB8AC3E}">
        <p14:creationId xmlns:p14="http://schemas.microsoft.com/office/powerpoint/2010/main" val="852092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Non-terrestrial networks (NTNs) have gained increasing attention as a means to complement terrestrial networks by providing coverage to hard-to-reach areas such as mountains, oceans, and deserts, thereby enhancing service availability and network resilience.</a:t>
            </a:r>
          </a:p>
        </p:txBody>
      </p:sp>
      <p:sp>
        <p:nvSpPr>
          <p:cNvPr id="4" name="Header Placeholder 3"/>
          <p:cNvSpPr>
            <a:spLocks noGrp="1"/>
          </p:cNvSpPr>
          <p:nvPr>
            <p:ph type="hdr" sz="quarter"/>
          </p:nvPr>
        </p:nvSpPr>
        <p:spPr/>
        <p:txBody>
          <a:bodyPr/>
          <a:lstStyle/>
          <a:p>
            <a:r>
              <a:rPr lang="en-US"/>
              <a:t>Test document 2 </a:t>
            </a:r>
          </a:p>
        </p:txBody>
      </p:sp>
      <p:sp>
        <p:nvSpPr>
          <p:cNvPr id="5" name="Date Placeholder 4"/>
          <p:cNvSpPr>
            <a:spLocks noGrp="1"/>
          </p:cNvSpPr>
          <p:nvPr>
            <p:ph type="dt" idx="1"/>
          </p:nvPr>
        </p:nvSpPr>
        <p:spPr/>
        <p:txBody>
          <a:bodyPr/>
          <a:lstStyle/>
          <a:p>
            <a:r>
              <a:rPr lang="en-US"/>
              <a:t> </a:t>
            </a:r>
          </a:p>
        </p:txBody>
      </p:sp>
      <p:sp>
        <p:nvSpPr>
          <p:cNvPr id="6" name="Footer Placeholder 5"/>
          <p:cNvSpPr>
            <a:spLocks noGrp="1"/>
          </p:cNvSpPr>
          <p:nvPr>
            <p:ph type="ftr" sz="quarter" idx="4"/>
          </p:nvPr>
        </p:nvSpPr>
        <p:spPr/>
        <p:txBody>
          <a:bodyPr/>
          <a:lstStyle/>
          <a:p>
            <a:r>
              <a:rPr lang="en-US"/>
              <a:t>1551-192072 Uen, Rev PA1 </a:t>
            </a:r>
          </a:p>
        </p:txBody>
      </p:sp>
      <p:sp>
        <p:nvSpPr>
          <p:cNvPr id="7" name="Slide Number Placeholder 6"/>
          <p:cNvSpPr>
            <a:spLocks noGrp="1"/>
          </p:cNvSpPr>
          <p:nvPr>
            <p:ph type="sldNum" sz="quarter" idx="5"/>
          </p:nvPr>
        </p:nvSpPr>
        <p:spPr/>
        <p:txBody>
          <a:bodyPr/>
          <a:lstStyle/>
          <a:p>
            <a:fld id="{F949BC75-2359-4F98-918A-7033C92AD487}" type="slidenum">
              <a:rPr lang="en-US" smtClean="0"/>
              <a:pPr/>
              <a:t>3</a:t>
            </a:fld>
            <a:endParaRPr lang="en-US"/>
          </a:p>
        </p:txBody>
      </p:sp>
    </p:spTree>
    <p:extLst>
      <p:ext uri="{BB962C8B-B14F-4D97-AF65-F5344CB8AC3E}">
        <p14:creationId xmlns:p14="http://schemas.microsoft.com/office/powerpoint/2010/main" val="3208705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networks are typically comprised of satellites, high-altitude platform systems (HAPS), as opposed to traditional terrestrial networks that rely on ground-based towers and cables.</a:t>
            </a:r>
          </a:p>
        </p:txBody>
      </p:sp>
      <p:sp>
        <p:nvSpPr>
          <p:cNvPr id="4" name="Header Placeholder 3"/>
          <p:cNvSpPr>
            <a:spLocks noGrp="1"/>
          </p:cNvSpPr>
          <p:nvPr>
            <p:ph type="hdr" sz="quarter"/>
          </p:nvPr>
        </p:nvSpPr>
        <p:spPr/>
        <p:txBody>
          <a:bodyPr/>
          <a:lstStyle/>
          <a:p>
            <a:r>
              <a:rPr lang="en-US"/>
              <a:t>Test document 2 </a:t>
            </a:r>
          </a:p>
        </p:txBody>
      </p:sp>
      <p:sp>
        <p:nvSpPr>
          <p:cNvPr id="5" name="Date Placeholder 4"/>
          <p:cNvSpPr>
            <a:spLocks noGrp="1"/>
          </p:cNvSpPr>
          <p:nvPr>
            <p:ph type="dt" idx="1"/>
          </p:nvPr>
        </p:nvSpPr>
        <p:spPr/>
        <p:txBody>
          <a:bodyPr/>
          <a:lstStyle/>
          <a:p>
            <a:r>
              <a:rPr lang="en-US"/>
              <a:t> </a:t>
            </a:r>
          </a:p>
        </p:txBody>
      </p:sp>
      <p:sp>
        <p:nvSpPr>
          <p:cNvPr id="6" name="Footer Placeholder 5"/>
          <p:cNvSpPr>
            <a:spLocks noGrp="1"/>
          </p:cNvSpPr>
          <p:nvPr>
            <p:ph type="ftr" sz="quarter" idx="4"/>
          </p:nvPr>
        </p:nvSpPr>
        <p:spPr/>
        <p:txBody>
          <a:bodyPr/>
          <a:lstStyle/>
          <a:p>
            <a:r>
              <a:rPr lang="en-US"/>
              <a:t>1551-192072 Uen, Rev PA1 </a:t>
            </a:r>
          </a:p>
        </p:txBody>
      </p:sp>
      <p:sp>
        <p:nvSpPr>
          <p:cNvPr id="7" name="Slide Number Placeholder 6"/>
          <p:cNvSpPr>
            <a:spLocks noGrp="1"/>
          </p:cNvSpPr>
          <p:nvPr>
            <p:ph type="sldNum" sz="quarter" idx="5"/>
          </p:nvPr>
        </p:nvSpPr>
        <p:spPr/>
        <p:txBody>
          <a:bodyPr/>
          <a:lstStyle/>
          <a:p>
            <a:fld id="{F949BC75-2359-4F98-918A-7033C92AD487}" type="slidenum">
              <a:rPr lang="en-US" smtClean="0"/>
              <a:pPr/>
              <a:t>4</a:t>
            </a:fld>
            <a:endParaRPr lang="en-US"/>
          </a:p>
        </p:txBody>
      </p:sp>
    </p:spTree>
    <p:extLst>
      <p:ext uri="{BB962C8B-B14F-4D97-AF65-F5344CB8AC3E}">
        <p14:creationId xmlns:p14="http://schemas.microsoft.com/office/powerpoint/2010/main" val="313696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major problem of RRM in NTN is beam hopping</a:t>
            </a:r>
          </a:p>
        </p:txBody>
      </p:sp>
      <p:sp>
        <p:nvSpPr>
          <p:cNvPr id="4" name="Slide Number Placeholder 3"/>
          <p:cNvSpPr>
            <a:spLocks noGrp="1"/>
          </p:cNvSpPr>
          <p:nvPr>
            <p:ph type="sldNum" sz="quarter" idx="5"/>
          </p:nvPr>
        </p:nvSpPr>
        <p:spPr/>
        <p:txBody>
          <a:bodyPr/>
          <a:lstStyle/>
          <a:p>
            <a:fld id="{58826CE5-DED1-4C63-855E-EFC1265B44F1}" type="slidenum">
              <a:rPr lang="en-US" smtClean="0"/>
              <a:t>5</a:t>
            </a:fld>
            <a:endParaRPr lang="en-US"/>
          </a:p>
        </p:txBody>
      </p:sp>
    </p:spTree>
    <p:extLst>
      <p:ext uri="{BB962C8B-B14F-4D97-AF65-F5344CB8AC3E}">
        <p14:creationId xmlns:p14="http://schemas.microsoft.com/office/powerpoint/2010/main" val="1445197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6941-4E43-3FBC-2004-006DCA1401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2E983-4850-64A6-DC08-E5B2CBD04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9A2ECD-2C0E-CFE1-127D-1BAA872FED70}"/>
              </a:ext>
            </a:extLst>
          </p:cNvPr>
          <p:cNvSpPr>
            <a:spLocks noGrp="1"/>
          </p:cNvSpPr>
          <p:nvPr>
            <p:ph type="body" idx="1"/>
          </p:nvPr>
        </p:nvSpPr>
        <p:spPr/>
        <p:txBody>
          <a:bodyPr/>
          <a:lstStyle/>
          <a:p>
            <a:r>
              <a:rPr lang="en-US" dirty="0"/>
              <a:t>One of the major problem of RRM in NTN is beam hopping</a:t>
            </a:r>
          </a:p>
        </p:txBody>
      </p:sp>
      <p:sp>
        <p:nvSpPr>
          <p:cNvPr id="4" name="Slide Number Placeholder 3">
            <a:extLst>
              <a:ext uri="{FF2B5EF4-FFF2-40B4-BE49-F238E27FC236}">
                <a16:creationId xmlns:a16="http://schemas.microsoft.com/office/drawing/2014/main" id="{0F544D72-3F84-60EA-957A-EF01C62C80DE}"/>
              </a:ext>
            </a:extLst>
          </p:cNvPr>
          <p:cNvSpPr>
            <a:spLocks noGrp="1"/>
          </p:cNvSpPr>
          <p:nvPr>
            <p:ph type="sldNum" sz="quarter" idx="5"/>
          </p:nvPr>
        </p:nvSpPr>
        <p:spPr/>
        <p:txBody>
          <a:bodyPr/>
          <a:lstStyle/>
          <a:p>
            <a:fld id="{58826CE5-DED1-4C63-855E-EFC1265B44F1}" type="slidenum">
              <a:rPr lang="en-US" smtClean="0"/>
              <a:t>6</a:t>
            </a:fld>
            <a:endParaRPr lang="en-US"/>
          </a:p>
        </p:txBody>
      </p:sp>
    </p:spTree>
    <p:extLst>
      <p:ext uri="{BB962C8B-B14F-4D97-AF65-F5344CB8AC3E}">
        <p14:creationId xmlns:p14="http://schemas.microsoft.com/office/powerpoint/2010/main" val="1408630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approaches of Beam Hopping rely on spatial </a:t>
            </a:r>
            <a:r>
              <a:rPr lang="en-US" dirty="0" err="1"/>
              <a:t>sep</a:t>
            </a:r>
            <a:r>
              <a:rPr lang="en-US" dirty="0"/>
              <a:t> </a:t>
            </a:r>
            <a:r>
              <a:rPr lang="en-US" dirty="0" err="1"/>
              <a:t>aration</a:t>
            </a:r>
            <a:r>
              <a:rPr lang="en-US" dirty="0"/>
              <a:t> to mitigate interference between simultaneously active beams. These simplified spatial assumptions that may not fully capture the heterogeneous and asymmetric interference patterns observed in NTN systems. Subsequent works investigated Beam Hopping under different constraints. For example, in [5], the authors study dynamic Beam Hopping for LEO satellite systems with differentiated traffic demands. The problem is formulated to maximize a fairness-oriented metric (traffic satisfaction rate) across cells, while considering interference avoidance. Also, in [6], the Beam Hopping problem is formulated as a throughput driven or satisfaction-driven optimization problem for integrated satellite–terrestrial networks. Also, in [7], the authors formulate a scheduling problem that accounts for service requirements, resource constraints, and co-channel interference, and propose a metaheuristic solution based on an enhanced artificial bee colony algorithm. However, in these approaches, although interference is taken into consideration, it does not explicitly structure the beam scheduling decisions. More recently, Beam Hopping has been investigated from a structural perspective. [8] proposes a graph-theoretic Beam Hopping approach for multi-satellite LEO systems based on dynamic satellite–cell assignment and graph coloring. The method first generates an initial Satellites to Cells assignment while respecting the maximum number of beams per satellite. Then, a Tabu Search combined with graph coloring iteratively explores new assignments to reduce inter </a:t>
            </a:r>
            <a:r>
              <a:rPr lang="en-US" dirty="0" err="1"/>
              <a:t>ference</a:t>
            </a:r>
            <a:r>
              <a:rPr lang="en-US" dirty="0"/>
              <a:t> conflicts. The interference threshold is progressively relaxed until a conflict-free solution is obtained. In this work, we also adopt a graph coloring perspective for beam scheduling in LEO satellite systems, but consider a different problem setting: Unlike [8], we assume that the satellite–cell association is given and fixed over the considered scheduling window, as satellite coverage can be considered quasi-static over short time intervals. In this framework, the interference graph is constructed based on pairwise interference metrics, with a parameter controlling the set of interferers.</a:t>
            </a:r>
          </a:p>
        </p:txBody>
      </p:sp>
      <p:sp>
        <p:nvSpPr>
          <p:cNvPr id="4" name="Slide Number Placeholder 3"/>
          <p:cNvSpPr>
            <a:spLocks noGrp="1"/>
          </p:cNvSpPr>
          <p:nvPr>
            <p:ph type="sldNum" sz="quarter" idx="5"/>
          </p:nvPr>
        </p:nvSpPr>
        <p:spPr/>
        <p:txBody>
          <a:bodyPr/>
          <a:lstStyle/>
          <a:p>
            <a:fld id="{58826CE5-DED1-4C63-855E-EFC1265B44F1}" type="slidenum">
              <a:rPr lang="en-US" smtClean="0"/>
              <a:t>7</a:t>
            </a:fld>
            <a:endParaRPr lang="en-US"/>
          </a:p>
        </p:txBody>
      </p:sp>
    </p:spTree>
    <p:extLst>
      <p:ext uri="{BB962C8B-B14F-4D97-AF65-F5344CB8AC3E}">
        <p14:creationId xmlns:p14="http://schemas.microsoft.com/office/powerpoint/2010/main" val="3209051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826CE5-DED1-4C63-855E-EFC1265B44F1}" type="slidenum">
              <a:rPr lang="en-US" smtClean="0"/>
              <a:t>9</a:t>
            </a:fld>
            <a:endParaRPr lang="en-US"/>
          </a:p>
        </p:txBody>
      </p:sp>
    </p:spTree>
    <p:extLst>
      <p:ext uri="{BB962C8B-B14F-4D97-AF65-F5344CB8AC3E}">
        <p14:creationId xmlns:p14="http://schemas.microsoft.com/office/powerpoint/2010/main" val="13554112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Cells : </a:t>
            </a:r>
            <a:r>
              <a:rPr lang="en-US" dirty="0" err="1"/>
              <a:t>raws</a:t>
            </a:r>
            <a:br>
              <a:rPr lang="en-US" dirty="0"/>
            </a:br>
            <a:r>
              <a:rPr lang="en-US" dirty="0"/>
              <a:t>Beams : columns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962366-1660-499E-B5B9-70851915994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1334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take as a scenario, 17 cells placed in a hexagonal pattern (more details in section V). We sweep α from 0 to 1. As shown in Figure 3, as α increases, the number of arcs |A| increases linearly, meaning more cell pairs are identified as aggressors. These aggressors are taken into account by the scheduling optimization, which separates them into different time slots, thereby improving the SIR. However, beyond α = 0.5, the SIR does not improve anymore: once the dominant interferers are already separated, the additional arcs only capture weak interferers whose contribution to the total interference is negligible regardless of their scheduling. Fig. 4 illustrates the mean cell capacity and the number of colors K as a function of α. For low values of α (α ∈ [0,0.2]), K remains low (from 1 to 3), meaning the optimization scheduler cannot fully separate the interferers with few avail able slots. As a result, some dominant aggressors remain co scheduled, limiting the SIR and cell capacity improvement. For (α ∈ [0.2,0.3]), the cell capacity reaches its maximum of approximately 15.5 Mbps. Here, K is just large enough to separate the dominant interferers into different slots, and the SIR gain outweighs the bandwidth loss from dividing by K. At α ≈0.4, a sharp degradation occurs: the cell capacity drops to about 12.1 Mbps while K jumps to 6. At this point, the SIR has not yet improved enough to compensate for the increased number of colors, resulting in a cell capacity loss. </a:t>
            </a:r>
            <a:br>
              <a:rPr lang="en-US" dirty="0"/>
            </a:br>
            <a:br>
              <a:rPr lang="en-US" dirty="0"/>
            </a:br>
            <a:r>
              <a:rPr lang="en-US" dirty="0"/>
              <a:t>For larger values (α ∈ [0.5,1]), the SIR improves and saturates as shown in Figure 3, but K remains high. The SIR gain partially recovers the capacity to around 13.5–13.7 Mbps, but the bandwidth division by K prevents it from reaching the optimal value observed at α ≈ 0.3. These results confirm the existence of an optimal operating point, in this scenario at α ≈ 0.3, and show that increasing α to include more aggressors does not necessarily improve performance. Beyond this point, adding more arcs to the graph increases K without proportional SIR benefit, leading to less scheduled slots per cell.</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58826CE5-DED1-4C63-855E-EFC1265B44F1}" type="slidenum">
              <a:rPr lang="en-US" smtClean="0"/>
              <a:t>13</a:t>
            </a:fld>
            <a:endParaRPr lang="en-US"/>
          </a:p>
        </p:txBody>
      </p:sp>
    </p:spTree>
    <p:extLst>
      <p:ext uri="{BB962C8B-B14F-4D97-AF65-F5344CB8AC3E}">
        <p14:creationId xmlns:p14="http://schemas.microsoft.com/office/powerpoint/2010/main" val="626868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experiments, we compare the performance of three algorithms: (</a:t>
            </a:r>
            <a:r>
              <a:rPr lang="en-US" dirty="0" err="1"/>
              <a:t>i</a:t>
            </a:r>
            <a:r>
              <a:rPr lang="en-US" dirty="0"/>
              <a:t>) the solution provided by the classical Branch and-Bound algorithm to solve Problem 2, which yields the minimum chromatic number required to achieve zero SIR constraint violations (17); (ii) a fixed Beam Hopping pattern that takes the number of colors as input and assigns them to cells based on their geographical position in a cyclic manner, without performing any interference-aware optimization; and (iii) a 2-Pass Heuristic described in Algorithm 1, which, given a fixed number of colors, starts from a random coloring and iteratively improves it by testing all possible color reassign </a:t>
            </a:r>
            <a:r>
              <a:rPr lang="en-US" dirty="0" err="1"/>
              <a:t>ments</a:t>
            </a:r>
            <a:r>
              <a:rPr lang="en-US" dirty="0"/>
              <a:t> for each cell and selecting the one that minimizes the total number of constraint violations (17), until no further improvement is found.</a:t>
            </a:r>
          </a:p>
        </p:txBody>
      </p:sp>
      <p:sp>
        <p:nvSpPr>
          <p:cNvPr id="4" name="Slide Number Placeholder 3"/>
          <p:cNvSpPr>
            <a:spLocks noGrp="1"/>
          </p:cNvSpPr>
          <p:nvPr>
            <p:ph type="sldNum" sz="quarter" idx="5"/>
          </p:nvPr>
        </p:nvSpPr>
        <p:spPr/>
        <p:txBody>
          <a:bodyPr/>
          <a:lstStyle/>
          <a:p>
            <a:fld id="{58826CE5-DED1-4C63-855E-EFC1265B44F1}" type="slidenum">
              <a:rPr lang="en-US" smtClean="0"/>
              <a:t>15</a:t>
            </a:fld>
            <a:endParaRPr lang="en-US"/>
          </a:p>
        </p:txBody>
      </p:sp>
    </p:spTree>
    <p:extLst>
      <p:ext uri="{BB962C8B-B14F-4D97-AF65-F5344CB8AC3E}">
        <p14:creationId xmlns:p14="http://schemas.microsoft.com/office/powerpoint/2010/main" val="3479850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Ericsson Hilda" panose="00000500000000000000" pitchFamily="2" charset="0"/>
              </a:rPr>
              <a:t>The simulator then executes the queuing model for each cell :  it aggregates the requested traffic from all co-located UEs, determines the achievable bitrate of each UE based on its SINR, and solves the birth-death process to obtain the served traffic that the system can actually deliver given the beam activity fraction and the shared radio resources. </a:t>
            </a:r>
            <a:br>
              <a:rPr lang="en-US" sz="1200" dirty="0">
                <a:latin typeface="Ericsson Hilda" panose="00000500000000000000" pitchFamily="2" charset="0"/>
              </a:rPr>
            </a:br>
            <a:r>
              <a:rPr lang="en-US" sz="1200" dirty="0">
                <a:latin typeface="Ericsson Hilda" panose="00000500000000000000" pitchFamily="2" charset="0"/>
              </a:rPr>
              <a:t>A satisfaction rate is then defined as the ratio between served and requested traffic </a:t>
            </a:r>
          </a:p>
          <a:p>
            <a:endParaRPr lang="en-US" dirty="0"/>
          </a:p>
        </p:txBody>
      </p:sp>
      <p:sp>
        <p:nvSpPr>
          <p:cNvPr id="4" name="Slide Number Placeholder 3"/>
          <p:cNvSpPr>
            <a:spLocks noGrp="1"/>
          </p:cNvSpPr>
          <p:nvPr>
            <p:ph type="sldNum" sz="quarter" idx="5"/>
          </p:nvPr>
        </p:nvSpPr>
        <p:spPr/>
        <p:txBody>
          <a:bodyPr/>
          <a:lstStyle/>
          <a:p>
            <a:fld id="{58826CE5-DED1-4C63-855E-EFC1265B44F1}" type="slidenum">
              <a:rPr lang="en-US" smtClean="0"/>
              <a:t>16</a:t>
            </a:fld>
            <a:endParaRPr lang="en-US"/>
          </a:p>
        </p:txBody>
      </p:sp>
    </p:spTree>
    <p:extLst>
      <p:ext uri="{BB962C8B-B14F-4D97-AF65-F5344CB8AC3E}">
        <p14:creationId xmlns:p14="http://schemas.microsoft.com/office/powerpoint/2010/main" val="3553180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5 presents the CDF of SIR at cell level, aggregated over all time steps. As expected, the baseline scenario BH=1, where all beams are simultaneously active, yields the lowest SIR due to maximum inter-beam interference. For regular beam hopping schemes, increasing the number of colors (i.e., time slots) reduces the number of co-channel beams per slot, thereby improving SIR. Similarly, for the optimization-based approach, increasing α leads to a denser aggressor graph, resulting in a higher chromatic number K and consequently higher SIR values. When comparing the optimization approach with regular beam hopping at the same number of colors, both methods achieve comparable average SIR performance. However, at K =4, a significant fairness gap emerges between the two approaches for this scenario, with Jain’s Fairness Index values of 0.71 and 0.02 for the optimization and the BH=4, </a:t>
            </a:r>
            <a:r>
              <a:rPr lang="en-US" dirty="0" err="1"/>
              <a:t>respec</a:t>
            </a:r>
            <a:r>
              <a:rPr lang="en-US" dirty="0"/>
              <a:t> </a:t>
            </a:r>
            <a:r>
              <a:rPr lang="en-US" dirty="0" err="1"/>
              <a:t>tively</a:t>
            </a:r>
            <a:r>
              <a:rPr lang="en-US" dirty="0"/>
              <a:t>. This indicates that regular beam hopping, which only relies on geometrical patterns, show high SIR improvement for best-served users that are generally located at the cell centers whereas the graph-coloring optimization produces a more balanced allocation for all users, even the ones at the edge. Finally, the greedy heuristic algorithm with 4 colors achieves performance comparable to the ILP-based optimization with 4 colors, offering a computationally efficient alternative for practical deployment scenarios.</a:t>
            </a:r>
          </a:p>
        </p:txBody>
      </p:sp>
      <p:sp>
        <p:nvSpPr>
          <p:cNvPr id="4" name="Slide Number Placeholder 3"/>
          <p:cNvSpPr>
            <a:spLocks noGrp="1"/>
          </p:cNvSpPr>
          <p:nvPr>
            <p:ph type="sldNum" sz="quarter" idx="5"/>
          </p:nvPr>
        </p:nvSpPr>
        <p:spPr/>
        <p:txBody>
          <a:bodyPr/>
          <a:lstStyle/>
          <a:p>
            <a:fld id="{58826CE5-DED1-4C63-855E-EFC1265B44F1}" type="slidenum">
              <a:rPr lang="en-US" smtClean="0"/>
              <a:t>17</a:t>
            </a:fld>
            <a:endParaRPr lang="en-US"/>
          </a:p>
        </p:txBody>
      </p:sp>
    </p:spTree>
    <p:extLst>
      <p:ext uri="{BB962C8B-B14F-4D97-AF65-F5344CB8AC3E}">
        <p14:creationId xmlns:p14="http://schemas.microsoft.com/office/powerpoint/2010/main" val="2017794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6 presents the interference budget constraint viola </a:t>
            </a:r>
            <a:r>
              <a:rPr lang="en-US" dirty="0" err="1"/>
              <a:t>tions</a:t>
            </a:r>
            <a:r>
              <a:rPr lang="en-US" dirty="0"/>
              <a:t> for each scheduling strategy. The baseline BH=1 exhibits 100% violations, as all beams are simultaneously active. Regular beam hopping BH=3 reduces violations to 70.6%, but remains far from satisfying the constraints. All three </a:t>
            </a:r>
            <a:r>
              <a:rPr lang="en-US" dirty="0" err="1"/>
              <a:t>optimiza</a:t>
            </a:r>
            <a:r>
              <a:rPr lang="en-US" dirty="0"/>
              <a:t> </a:t>
            </a:r>
            <a:r>
              <a:rPr lang="en-US" dirty="0" err="1"/>
              <a:t>tion</a:t>
            </a:r>
            <a:r>
              <a:rPr lang="en-US" dirty="0"/>
              <a:t> variants achieve 0% violations by construction, regardless of α value. The greedy heuristic achieves 5.9% violations, rep resenting a significant improvement over regular beam hopping with 3 colors while maintaining low computational complexity. </a:t>
            </a:r>
          </a:p>
        </p:txBody>
      </p:sp>
      <p:sp>
        <p:nvSpPr>
          <p:cNvPr id="4" name="Slide Number Placeholder 3"/>
          <p:cNvSpPr>
            <a:spLocks noGrp="1"/>
          </p:cNvSpPr>
          <p:nvPr>
            <p:ph type="sldNum" sz="quarter" idx="5"/>
          </p:nvPr>
        </p:nvSpPr>
        <p:spPr/>
        <p:txBody>
          <a:bodyPr/>
          <a:lstStyle/>
          <a:p>
            <a:fld id="{58826CE5-DED1-4C63-855E-EFC1265B44F1}" type="slidenum">
              <a:rPr lang="en-US" smtClean="0"/>
              <a:t>18</a:t>
            </a:fld>
            <a:endParaRPr lang="en-US"/>
          </a:p>
        </p:txBody>
      </p:sp>
    </p:spTree>
    <p:extLst>
      <p:ext uri="{BB962C8B-B14F-4D97-AF65-F5344CB8AC3E}">
        <p14:creationId xmlns:p14="http://schemas.microsoft.com/office/powerpoint/2010/main" val="1767870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7 compares the per-cell capacity distributions. Among regular fixed beam hopping schemes, BH=1 yields the lowest capacity due to maximum interference, yet it is not the worst performing configuration overall. Two optimization variants produce also very low per-cell capacity, for different reasons. The configuration α = 0.25 generates a sparse aggressor graph that fails to filter significant interferers; resulting in low SINR. Conversely, α = 0.70 achieves good SIR levels through aggressive interference identification, but the resulting chromatic number K = 7 means each beam is only scheduled once every 7 slots, dividing the usable bandwidth by 7 and severely penalizing cell capacity. The configuration α = 0.35 (K = 4) emerges as the best trade-off between interference mitigation and spectral resource utilization </a:t>
            </a:r>
            <a:br>
              <a:rPr lang="en-US" dirty="0"/>
            </a:br>
            <a:br>
              <a:rPr lang="en-US" dirty="0"/>
            </a:br>
            <a:r>
              <a:rPr lang="en-US" dirty="0"/>
              <a:t>Table I details the per-UE capacity statistics : mean, median, percentiles 5% and 95% and Jain Fairness Index.</a:t>
            </a:r>
            <a:br>
              <a:rPr lang="en-US" dirty="0"/>
            </a:br>
            <a:r>
              <a:rPr lang="en-US" dirty="0"/>
              <a:t>As shown in Table I, the optimization with α = 0.35 achieves the highest mean capacity (0.52 Mbps), the high est median (0.44 Mbps), and the best Jain’s Fairness Index (0.5623) among all evaluated schemes. Compared to the </a:t>
            </a:r>
            <a:r>
              <a:rPr lang="en-US" dirty="0" err="1"/>
              <a:t>regu</a:t>
            </a:r>
            <a:r>
              <a:rPr lang="en-US" dirty="0"/>
              <a:t> lar BH=4, which achieves the same mean but a higher P95, the optimization provides more fairness and median performance. While BH=4 benefits the best-served users, it does so at the expense of overall fairness. The greedy heuristic performs comparably to BH=3.</a:t>
            </a:r>
          </a:p>
        </p:txBody>
      </p:sp>
      <p:sp>
        <p:nvSpPr>
          <p:cNvPr id="4" name="Slide Number Placeholder 3"/>
          <p:cNvSpPr>
            <a:spLocks noGrp="1"/>
          </p:cNvSpPr>
          <p:nvPr>
            <p:ph type="sldNum" sz="quarter" idx="5"/>
          </p:nvPr>
        </p:nvSpPr>
        <p:spPr/>
        <p:txBody>
          <a:bodyPr/>
          <a:lstStyle/>
          <a:p>
            <a:fld id="{58826CE5-DED1-4C63-855E-EFC1265B44F1}" type="slidenum">
              <a:rPr lang="en-US" smtClean="0"/>
              <a:t>19</a:t>
            </a:fld>
            <a:endParaRPr lang="en-US"/>
          </a:p>
        </p:txBody>
      </p:sp>
    </p:spTree>
    <p:extLst>
      <p:ext uri="{BB962C8B-B14F-4D97-AF65-F5344CB8AC3E}">
        <p14:creationId xmlns:p14="http://schemas.microsoft.com/office/powerpoint/2010/main" val="1590482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II reports the user satisfaction (served/offered) for the considered configurations. The optimized scheme (</a:t>
            </a:r>
            <a:r>
              <a:rPr lang="en-US" dirty="0" err="1"/>
              <a:t>opti</a:t>
            </a:r>
            <a:r>
              <a:rPr lang="en-US" dirty="0"/>
              <a:t> K = 4) achieves the highest mean and median values for this scenario, indicating an improvement in the typical user experience compared to the baseline BH=4 configuration. </a:t>
            </a:r>
          </a:p>
        </p:txBody>
      </p:sp>
      <p:sp>
        <p:nvSpPr>
          <p:cNvPr id="4" name="Slide Number Placeholder 3"/>
          <p:cNvSpPr>
            <a:spLocks noGrp="1"/>
          </p:cNvSpPr>
          <p:nvPr>
            <p:ph type="sldNum" sz="quarter" idx="5"/>
          </p:nvPr>
        </p:nvSpPr>
        <p:spPr/>
        <p:txBody>
          <a:bodyPr/>
          <a:lstStyle/>
          <a:p>
            <a:fld id="{58826CE5-DED1-4C63-855E-EFC1265B44F1}" type="slidenum">
              <a:rPr lang="en-US" smtClean="0"/>
              <a:t>20</a:t>
            </a:fld>
            <a:endParaRPr lang="en-US"/>
          </a:p>
        </p:txBody>
      </p:sp>
    </p:spTree>
    <p:extLst>
      <p:ext uri="{BB962C8B-B14F-4D97-AF65-F5344CB8AC3E}">
        <p14:creationId xmlns:p14="http://schemas.microsoft.com/office/powerpoint/2010/main" val="1520649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paper, we introduced an interference-aware Beam Hopping scheduling framework for LEO satellite networks based on soft-conflict graph coloring. By representing inter </a:t>
            </a:r>
            <a:r>
              <a:rPr lang="en-US" dirty="0" err="1"/>
              <a:t>ference</a:t>
            </a:r>
            <a:r>
              <a:rPr lang="en-US" dirty="0"/>
              <a:t> relationships through a parameterized conflict graph, the proposed approach jointly controls interference levels and temporal resource utilization. Unlike conventional Beam Hopping schemes that rely on predefined geometric patterns, the proposed framework exploits physical interference in formation to derive scheduling decisions. This makes the approach inherently adaptable to heterogeneous NTN deploy </a:t>
            </a:r>
            <a:r>
              <a:rPr lang="en-US" dirty="0" err="1"/>
              <a:t>ments</a:t>
            </a:r>
            <a:r>
              <a:rPr lang="en-US" dirty="0"/>
              <a:t> where interference relationships may be highly irregular and difficult to capture through fixed reuse patterns. Numerical results demonstrate that the proposed optimization framework achieves performance comparable to fixed regular Beam Hop ping schemes while guaranteeing interference constraints and providing a significantly more flexible scheduling mechanism. The results also show that there exists a range of values for α, </a:t>
            </a:r>
            <a:r>
              <a:rPr lang="en-US" dirty="0" err="1"/>
              <a:t>interfereres</a:t>
            </a:r>
            <a:r>
              <a:rPr lang="en-US" dirty="0"/>
              <a:t> selection parameter, that provides a good balance between limiting interference and avoiding excessive time-slot fragmentation. Beyond the specific scenario considered in this paper, the proposed formulation provides a generic </a:t>
            </a:r>
            <a:r>
              <a:rPr lang="en-US" dirty="0" err="1"/>
              <a:t>founda</a:t>
            </a:r>
            <a:r>
              <a:rPr lang="en-US" dirty="0"/>
              <a:t> </a:t>
            </a:r>
            <a:r>
              <a:rPr lang="en-US" dirty="0" err="1"/>
              <a:t>tion</a:t>
            </a:r>
            <a:r>
              <a:rPr lang="en-US" dirty="0"/>
              <a:t> for future NTN resource management problems. It can naturally accommodate irregular cell layouts, heterogeneous traffic demands, multi-satellite coordination, and adaptive in </a:t>
            </a:r>
            <a:r>
              <a:rPr lang="en-US" dirty="0" err="1"/>
              <a:t>terference</a:t>
            </a:r>
            <a:r>
              <a:rPr lang="en-US" dirty="0"/>
              <a:t> management strategies. Future work will investigate dynamic graph construction, learning-based adaptation of α, and the integration of traffic-awareness into the scheduling process.</a:t>
            </a:r>
          </a:p>
        </p:txBody>
      </p:sp>
      <p:sp>
        <p:nvSpPr>
          <p:cNvPr id="4" name="Slide Number Placeholder 3"/>
          <p:cNvSpPr>
            <a:spLocks noGrp="1"/>
          </p:cNvSpPr>
          <p:nvPr>
            <p:ph type="sldNum" sz="quarter" idx="5"/>
          </p:nvPr>
        </p:nvSpPr>
        <p:spPr/>
        <p:txBody>
          <a:bodyPr/>
          <a:lstStyle/>
          <a:p>
            <a:fld id="{58826CE5-DED1-4C63-855E-EFC1265B44F1}" type="slidenum">
              <a:rPr lang="en-US" smtClean="0"/>
              <a:t>21</a:t>
            </a:fld>
            <a:endParaRPr lang="en-US"/>
          </a:p>
        </p:txBody>
      </p:sp>
    </p:spTree>
    <p:extLst>
      <p:ext uri="{BB962C8B-B14F-4D97-AF65-F5344CB8AC3E}">
        <p14:creationId xmlns:p14="http://schemas.microsoft.com/office/powerpoint/2010/main" val="3043935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FB5CE-2431-1323-2D67-4072FE4EA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E22CDE-809C-436B-90C1-6BBED7587A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A77AE7-CD91-D017-61E1-6A2EE6114868}"/>
              </a:ext>
            </a:extLst>
          </p:cNvPr>
          <p:cNvSpPr>
            <a:spLocks noGrp="1"/>
          </p:cNvSpPr>
          <p:nvPr>
            <p:ph type="dt" sz="half" idx="10"/>
          </p:nvPr>
        </p:nvSpPr>
        <p:spPr/>
        <p:txBody>
          <a:bodyPr/>
          <a:lstStyle/>
          <a:p>
            <a:fld id="{E47D1D63-8333-4E4A-A3ED-AF019B4D4843}" type="datetime1">
              <a:rPr lang="en-US" smtClean="0"/>
              <a:t>10/12/2026</a:t>
            </a:fld>
            <a:endParaRPr lang="en-US"/>
          </a:p>
        </p:txBody>
      </p:sp>
      <p:sp>
        <p:nvSpPr>
          <p:cNvPr id="5" name="Footer Placeholder 4">
            <a:extLst>
              <a:ext uri="{FF2B5EF4-FFF2-40B4-BE49-F238E27FC236}">
                <a16:creationId xmlns:a16="http://schemas.microsoft.com/office/drawing/2014/main" id="{D6CC8EEA-8694-98C1-F2B6-F175913723A9}"/>
              </a:ext>
            </a:extLst>
          </p:cNvPr>
          <p:cNvSpPr>
            <a:spLocks noGrp="1"/>
          </p:cNvSpPr>
          <p:nvPr>
            <p:ph type="ftr" sz="quarter" idx="11"/>
          </p:nvPr>
        </p:nvSpPr>
        <p:spPr/>
        <p:txBody>
          <a:bodyPr/>
          <a:lstStyle/>
          <a:p>
            <a:r>
              <a:rPr lang="fr-FR"/>
              <a:t>NTN Days 2026 - 13/10/2026</a:t>
            </a:r>
            <a:endParaRPr lang="en-US"/>
          </a:p>
        </p:txBody>
      </p:sp>
      <p:sp>
        <p:nvSpPr>
          <p:cNvPr id="6" name="Slide Number Placeholder 5">
            <a:extLst>
              <a:ext uri="{FF2B5EF4-FFF2-40B4-BE49-F238E27FC236}">
                <a16:creationId xmlns:a16="http://schemas.microsoft.com/office/drawing/2014/main" id="{CDC43E47-099A-4D76-C945-F4CC1CEFCF28}"/>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3613527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C7286-69BC-B9E7-7025-C5A4FD4E74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1EC7A4-A1A3-D595-BEEB-3CC6854B2E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40D1AA-BF2C-DF7F-A6A5-E6DE6E68BAB3}"/>
              </a:ext>
            </a:extLst>
          </p:cNvPr>
          <p:cNvSpPr>
            <a:spLocks noGrp="1"/>
          </p:cNvSpPr>
          <p:nvPr>
            <p:ph type="dt" sz="half" idx="10"/>
          </p:nvPr>
        </p:nvSpPr>
        <p:spPr/>
        <p:txBody>
          <a:bodyPr/>
          <a:lstStyle/>
          <a:p>
            <a:fld id="{6A50625A-6437-4418-B399-2B946AFCE142}" type="datetime1">
              <a:rPr lang="en-US" smtClean="0"/>
              <a:t>10/12/2026</a:t>
            </a:fld>
            <a:endParaRPr lang="en-US"/>
          </a:p>
        </p:txBody>
      </p:sp>
      <p:sp>
        <p:nvSpPr>
          <p:cNvPr id="5" name="Footer Placeholder 4">
            <a:extLst>
              <a:ext uri="{FF2B5EF4-FFF2-40B4-BE49-F238E27FC236}">
                <a16:creationId xmlns:a16="http://schemas.microsoft.com/office/drawing/2014/main" id="{CFCB458C-D814-A930-6BE9-22886A62EE9D}"/>
              </a:ext>
            </a:extLst>
          </p:cNvPr>
          <p:cNvSpPr>
            <a:spLocks noGrp="1"/>
          </p:cNvSpPr>
          <p:nvPr>
            <p:ph type="ftr" sz="quarter" idx="11"/>
          </p:nvPr>
        </p:nvSpPr>
        <p:spPr/>
        <p:txBody>
          <a:bodyPr/>
          <a:lstStyle/>
          <a:p>
            <a:r>
              <a:rPr lang="fr-FR"/>
              <a:t>NTN Days 2026 - 13/10/2026</a:t>
            </a:r>
            <a:endParaRPr lang="en-US"/>
          </a:p>
        </p:txBody>
      </p:sp>
      <p:sp>
        <p:nvSpPr>
          <p:cNvPr id="6" name="Slide Number Placeholder 5">
            <a:extLst>
              <a:ext uri="{FF2B5EF4-FFF2-40B4-BE49-F238E27FC236}">
                <a16:creationId xmlns:a16="http://schemas.microsoft.com/office/drawing/2014/main" id="{AC239EB5-B6C3-952F-E902-4680D9F69318}"/>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290332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ECB8E-BCD7-73DF-CBD4-D8149F46CB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4A5AE9-995E-EDA4-492F-D0175C460B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0976F5-6BE6-B568-6EB6-BDE16EA38876}"/>
              </a:ext>
            </a:extLst>
          </p:cNvPr>
          <p:cNvSpPr>
            <a:spLocks noGrp="1"/>
          </p:cNvSpPr>
          <p:nvPr>
            <p:ph type="dt" sz="half" idx="10"/>
          </p:nvPr>
        </p:nvSpPr>
        <p:spPr/>
        <p:txBody>
          <a:bodyPr/>
          <a:lstStyle/>
          <a:p>
            <a:fld id="{79A159B6-082E-4E38-BBE1-876B9AB7C2E1}" type="datetime1">
              <a:rPr lang="en-US" smtClean="0"/>
              <a:t>10/12/2026</a:t>
            </a:fld>
            <a:endParaRPr lang="en-US"/>
          </a:p>
        </p:txBody>
      </p:sp>
      <p:sp>
        <p:nvSpPr>
          <p:cNvPr id="5" name="Footer Placeholder 4">
            <a:extLst>
              <a:ext uri="{FF2B5EF4-FFF2-40B4-BE49-F238E27FC236}">
                <a16:creationId xmlns:a16="http://schemas.microsoft.com/office/drawing/2014/main" id="{1F3ADB6F-839B-18DC-0935-37923C4A0726}"/>
              </a:ext>
            </a:extLst>
          </p:cNvPr>
          <p:cNvSpPr>
            <a:spLocks noGrp="1"/>
          </p:cNvSpPr>
          <p:nvPr>
            <p:ph type="ftr" sz="quarter" idx="11"/>
          </p:nvPr>
        </p:nvSpPr>
        <p:spPr/>
        <p:txBody>
          <a:bodyPr/>
          <a:lstStyle/>
          <a:p>
            <a:r>
              <a:rPr lang="fr-FR"/>
              <a:t>NTN Days 2026 - 13/10/2026</a:t>
            </a:r>
            <a:endParaRPr lang="en-US"/>
          </a:p>
        </p:txBody>
      </p:sp>
      <p:sp>
        <p:nvSpPr>
          <p:cNvPr id="6" name="Slide Number Placeholder 5">
            <a:extLst>
              <a:ext uri="{FF2B5EF4-FFF2-40B4-BE49-F238E27FC236}">
                <a16:creationId xmlns:a16="http://schemas.microsoft.com/office/drawing/2014/main" id="{C04C2660-B344-81A5-8A99-C6D40534C956}"/>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3047730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8A5D2-0FE7-C4C3-9082-6C7EF345F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FBD5DD-93EE-5859-6318-4DC50EB4B6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9F8DDE-CF9F-CC4A-8E3C-9CB6C85DB1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7C8B84-6B77-D183-C865-A26F276937A0}"/>
              </a:ext>
            </a:extLst>
          </p:cNvPr>
          <p:cNvSpPr>
            <a:spLocks noGrp="1"/>
          </p:cNvSpPr>
          <p:nvPr>
            <p:ph type="dt" sz="half" idx="10"/>
          </p:nvPr>
        </p:nvSpPr>
        <p:spPr/>
        <p:txBody>
          <a:bodyPr/>
          <a:lstStyle/>
          <a:p>
            <a:fld id="{6C3E16E0-C235-48B4-822B-B124A4D5C632}" type="datetime1">
              <a:rPr lang="en-US" smtClean="0"/>
              <a:t>10/12/2026</a:t>
            </a:fld>
            <a:endParaRPr lang="en-US"/>
          </a:p>
        </p:txBody>
      </p:sp>
      <p:sp>
        <p:nvSpPr>
          <p:cNvPr id="6" name="Footer Placeholder 5">
            <a:extLst>
              <a:ext uri="{FF2B5EF4-FFF2-40B4-BE49-F238E27FC236}">
                <a16:creationId xmlns:a16="http://schemas.microsoft.com/office/drawing/2014/main" id="{0E8FB949-AAC3-5B50-95FD-A0A4BA622DBC}"/>
              </a:ext>
            </a:extLst>
          </p:cNvPr>
          <p:cNvSpPr>
            <a:spLocks noGrp="1"/>
          </p:cNvSpPr>
          <p:nvPr>
            <p:ph type="ftr" sz="quarter" idx="11"/>
          </p:nvPr>
        </p:nvSpPr>
        <p:spPr/>
        <p:txBody>
          <a:bodyPr/>
          <a:lstStyle/>
          <a:p>
            <a:r>
              <a:rPr lang="fr-FR"/>
              <a:t>NTN Days 2026 - 13/10/2026</a:t>
            </a:r>
            <a:endParaRPr lang="en-US"/>
          </a:p>
        </p:txBody>
      </p:sp>
      <p:sp>
        <p:nvSpPr>
          <p:cNvPr id="7" name="Slide Number Placeholder 6">
            <a:extLst>
              <a:ext uri="{FF2B5EF4-FFF2-40B4-BE49-F238E27FC236}">
                <a16:creationId xmlns:a16="http://schemas.microsoft.com/office/drawing/2014/main" id="{E70C428F-2AC6-812C-1C0A-5802F29E4223}"/>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1519731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E851B-D260-CB29-F616-4E28A9BA2C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A73654-6CC6-6B5A-53E0-90710C781B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09F33-A33E-23CE-6D7B-50B47CBDF5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B4923E-769A-E408-C0D5-939B89BB54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200164-0224-0AEE-6879-6482543E38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1F76AA-5EE8-1573-072B-B93D53353295}"/>
              </a:ext>
            </a:extLst>
          </p:cNvPr>
          <p:cNvSpPr>
            <a:spLocks noGrp="1"/>
          </p:cNvSpPr>
          <p:nvPr>
            <p:ph type="dt" sz="half" idx="10"/>
          </p:nvPr>
        </p:nvSpPr>
        <p:spPr/>
        <p:txBody>
          <a:bodyPr/>
          <a:lstStyle/>
          <a:p>
            <a:fld id="{D1476025-93B2-4D4A-9818-2BE4CE146AEC}" type="datetime1">
              <a:rPr lang="en-US" smtClean="0"/>
              <a:t>10/12/2026</a:t>
            </a:fld>
            <a:endParaRPr lang="en-US"/>
          </a:p>
        </p:txBody>
      </p:sp>
      <p:sp>
        <p:nvSpPr>
          <p:cNvPr id="8" name="Footer Placeholder 7">
            <a:extLst>
              <a:ext uri="{FF2B5EF4-FFF2-40B4-BE49-F238E27FC236}">
                <a16:creationId xmlns:a16="http://schemas.microsoft.com/office/drawing/2014/main" id="{495D4D42-CDC5-179C-BA22-E100610C5950}"/>
              </a:ext>
            </a:extLst>
          </p:cNvPr>
          <p:cNvSpPr>
            <a:spLocks noGrp="1"/>
          </p:cNvSpPr>
          <p:nvPr>
            <p:ph type="ftr" sz="quarter" idx="11"/>
          </p:nvPr>
        </p:nvSpPr>
        <p:spPr/>
        <p:txBody>
          <a:bodyPr/>
          <a:lstStyle/>
          <a:p>
            <a:r>
              <a:rPr lang="fr-FR"/>
              <a:t>NTN Days 2026 - 13/10/2026</a:t>
            </a:r>
            <a:endParaRPr lang="en-US"/>
          </a:p>
        </p:txBody>
      </p:sp>
      <p:sp>
        <p:nvSpPr>
          <p:cNvPr id="9" name="Slide Number Placeholder 8">
            <a:extLst>
              <a:ext uri="{FF2B5EF4-FFF2-40B4-BE49-F238E27FC236}">
                <a16:creationId xmlns:a16="http://schemas.microsoft.com/office/drawing/2014/main" id="{DE88A305-CD02-68D1-AC74-6EF4BDBE5284}"/>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4286477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D35AD-630B-0DC6-0E7A-D04E818B24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A990DE-1017-9640-2B1F-E25DE2A4EB23}"/>
              </a:ext>
            </a:extLst>
          </p:cNvPr>
          <p:cNvSpPr>
            <a:spLocks noGrp="1"/>
          </p:cNvSpPr>
          <p:nvPr>
            <p:ph type="dt" sz="half" idx="10"/>
          </p:nvPr>
        </p:nvSpPr>
        <p:spPr/>
        <p:txBody>
          <a:bodyPr/>
          <a:lstStyle/>
          <a:p>
            <a:fld id="{AEB4A85B-1161-49A9-AE5F-54864C56D061}" type="datetime1">
              <a:rPr lang="en-US" smtClean="0"/>
              <a:t>10/12/2026</a:t>
            </a:fld>
            <a:endParaRPr lang="en-US"/>
          </a:p>
        </p:txBody>
      </p:sp>
      <p:sp>
        <p:nvSpPr>
          <p:cNvPr id="4" name="Footer Placeholder 3">
            <a:extLst>
              <a:ext uri="{FF2B5EF4-FFF2-40B4-BE49-F238E27FC236}">
                <a16:creationId xmlns:a16="http://schemas.microsoft.com/office/drawing/2014/main" id="{12808005-C97F-7098-7EFC-CD1E5665119D}"/>
              </a:ext>
            </a:extLst>
          </p:cNvPr>
          <p:cNvSpPr>
            <a:spLocks noGrp="1"/>
          </p:cNvSpPr>
          <p:nvPr>
            <p:ph type="ftr" sz="quarter" idx="11"/>
          </p:nvPr>
        </p:nvSpPr>
        <p:spPr/>
        <p:txBody>
          <a:bodyPr/>
          <a:lstStyle/>
          <a:p>
            <a:r>
              <a:rPr lang="fr-FR"/>
              <a:t>NTN Days 2026 - 13/10/2026</a:t>
            </a:r>
            <a:endParaRPr lang="en-US"/>
          </a:p>
        </p:txBody>
      </p:sp>
      <p:sp>
        <p:nvSpPr>
          <p:cNvPr id="5" name="Slide Number Placeholder 4">
            <a:extLst>
              <a:ext uri="{FF2B5EF4-FFF2-40B4-BE49-F238E27FC236}">
                <a16:creationId xmlns:a16="http://schemas.microsoft.com/office/drawing/2014/main" id="{AF412192-F2A7-1839-C059-7452B8A5B3B0}"/>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3154609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483446-13D7-D23C-D9B9-E4C5C20C4181}"/>
              </a:ext>
            </a:extLst>
          </p:cNvPr>
          <p:cNvSpPr>
            <a:spLocks noGrp="1"/>
          </p:cNvSpPr>
          <p:nvPr>
            <p:ph type="dt" sz="half" idx="10"/>
          </p:nvPr>
        </p:nvSpPr>
        <p:spPr/>
        <p:txBody>
          <a:bodyPr/>
          <a:lstStyle/>
          <a:p>
            <a:fld id="{E813768E-01A5-4EF6-9E81-3DC988A3FDB1}" type="datetime1">
              <a:rPr lang="en-US" smtClean="0"/>
              <a:t>10/12/2026</a:t>
            </a:fld>
            <a:endParaRPr lang="en-US"/>
          </a:p>
        </p:txBody>
      </p:sp>
      <p:sp>
        <p:nvSpPr>
          <p:cNvPr id="3" name="Footer Placeholder 2">
            <a:extLst>
              <a:ext uri="{FF2B5EF4-FFF2-40B4-BE49-F238E27FC236}">
                <a16:creationId xmlns:a16="http://schemas.microsoft.com/office/drawing/2014/main" id="{08FC111B-EE35-4550-D73E-101431BBA1AE}"/>
              </a:ext>
            </a:extLst>
          </p:cNvPr>
          <p:cNvSpPr>
            <a:spLocks noGrp="1"/>
          </p:cNvSpPr>
          <p:nvPr>
            <p:ph type="ftr" sz="quarter" idx="11"/>
          </p:nvPr>
        </p:nvSpPr>
        <p:spPr/>
        <p:txBody>
          <a:bodyPr/>
          <a:lstStyle/>
          <a:p>
            <a:r>
              <a:rPr lang="fr-FR"/>
              <a:t>NTN Days 2026 - 13/10/2026</a:t>
            </a:r>
            <a:endParaRPr lang="en-US"/>
          </a:p>
        </p:txBody>
      </p:sp>
      <p:sp>
        <p:nvSpPr>
          <p:cNvPr id="4" name="Slide Number Placeholder 3">
            <a:extLst>
              <a:ext uri="{FF2B5EF4-FFF2-40B4-BE49-F238E27FC236}">
                <a16:creationId xmlns:a16="http://schemas.microsoft.com/office/drawing/2014/main" id="{193C3481-04F3-CC64-3BE1-A758E855A55E}"/>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56032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BF2DB-32D8-A5F3-4AAC-BE20CC92C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7860CC-55AC-962D-F1E4-FB302059E2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E1D88F-411C-4F85-F580-F6A6B72AB8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7ADFD5-1DB7-6610-0AA4-A33D7C5FAE81}"/>
              </a:ext>
            </a:extLst>
          </p:cNvPr>
          <p:cNvSpPr>
            <a:spLocks noGrp="1"/>
          </p:cNvSpPr>
          <p:nvPr>
            <p:ph type="dt" sz="half" idx="10"/>
          </p:nvPr>
        </p:nvSpPr>
        <p:spPr/>
        <p:txBody>
          <a:bodyPr/>
          <a:lstStyle/>
          <a:p>
            <a:fld id="{BF20B641-3F24-41AA-A9B7-5E834FBDF967}" type="datetime1">
              <a:rPr lang="en-US" smtClean="0"/>
              <a:t>10/12/2026</a:t>
            </a:fld>
            <a:endParaRPr lang="en-US"/>
          </a:p>
        </p:txBody>
      </p:sp>
      <p:sp>
        <p:nvSpPr>
          <p:cNvPr id="6" name="Footer Placeholder 5">
            <a:extLst>
              <a:ext uri="{FF2B5EF4-FFF2-40B4-BE49-F238E27FC236}">
                <a16:creationId xmlns:a16="http://schemas.microsoft.com/office/drawing/2014/main" id="{335911D2-E173-CD65-56E4-6E8D08E5798F}"/>
              </a:ext>
            </a:extLst>
          </p:cNvPr>
          <p:cNvSpPr>
            <a:spLocks noGrp="1"/>
          </p:cNvSpPr>
          <p:nvPr>
            <p:ph type="ftr" sz="quarter" idx="11"/>
          </p:nvPr>
        </p:nvSpPr>
        <p:spPr/>
        <p:txBody>
          <a:bodyPr/>
          <a:lstStyle/>
          <a:p>
            <a:r>
              <a:rPr lang="fr-FR"/>
              <a:t>NTN Days 2026 - 13/10/2026</a:t>
            </a:r>
            <a:endParaRPr lang="en-US"/>
          </a:p>
        </p:txBody>
      </p:sp>
      <p:sp>
        <p:nvSpPr>
          <p:cNvPr id="7" name="Slide Number Placeholder 6">
            <a:extLst>
              <a:ext uri="{FF2B5EF4-FFF2-40B4-BE49-F238E27FC236}">
                <a16:creationId xmlns:a16="http://schemas.microsoft.com/office/drawing/2014/main" id="{AED23F07-F543-B2E3-98B1-F4BEF28D52CA}"/>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2047207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9A8E9-1BE5-BC3B-3ED7-DADAB6C96B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F59832-DBC6-E318-DE7E-8089D7EDD4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4B7307-4C50-75D6-F33C-89F11B075C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191A04-A389-2F78-B93B-37B836708FF8}"/>
              </a:ext>
            </a:extLst>
          </p:cNvPr>
          <p:cNvSpPr>
            <a:spLocks noGrp="1"/>
          </p:cNvSpPr>
          <p:nvPr>
            <p:ph type="dt" sz="half" idx="10"/>
          </p:nvPr>
        </p:nvSpPr>
        <p:spPr/>
        <p:txBody>
          <a:bodyPr/>
          <a:lstStyle/>
          <a:p>
            <a:fld id="{D4C1F470-EA90-44E8-847A-BA652A918F5C}" type="datetime1">
              <a:rPr lang="en-US" smtClean="0"/>
              <a:t>10/12/2026</a:t>
            </a:fld>
            <a:endParaRPr lang="en-US"/>
          </a:p>
        </p:txBody>
      </p:sp>
      <p:sp>
        <p:nvSpPr>
          <p:cNvPr id="6" name="Footer Placeholder 5">
            <a:extLst>
              <a:ext uri="{FF2B5EF4-FFF2-40B4-BE49-F238E27FC236}">
                <a16:creationId xmlns:a16="http://schemas.microsoft.com/office/drawing/2014/main" id="{96F3D64D-827F-408F-A1AC-49295B24EE62}"/>
              </a:ext>
            </a:extLst>
          </p:cNvPr>
          <p:cNvSpPr>
            <a:spLocks noGrp="1"/>
          </p:cNvSpPr>
          <p:nvPr>
            <p:ph type="ftr" sz="quarter" idx="11"/>
          </p:nvPr>
        </p:nvSpPr>
        <p:spPr/>
        <p:txBody>
          <a:bodyPr/>
          <a:lstStyle/>
          <a:p>
            <a:r>
              <a:rPr lang="fr-FR"/>
              <a:t>NTN Days 2026 - 13/10/2026</a:t>
            </a:r>
            <a:endParaRPr lang="en-US"/>
          </a:p>
        </p:txBody>
      </p:sp>
      <p:sp>
        <p:nvSpPr>
          <p:cNvPr id="7" name="Slide Number Placeholder 6">
            <a:extLst>
              <a:ext uri="{FF2B5EF4-FFF2-40B4-BE49-F238E27FC236}">
                <a16:creationId xmlns:a16="http://schemas.microsoft.com/office/drawing/2014/main" id="{FE07806A-38DC-96C9-CF12-C5A3A591D2AA}"/>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1533375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4C06A-0F29-F1DE-2F13-FF4C69B781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37480C-344F-D4AA-C6E5-8F81743AA2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03A72-6A2D-4E3B-288B-DD8BFE0C273B}"/>
              </a:ext>
            </a:extLst>
          </p:cNvPr>
          <p:cNvSpPr>
            <a:spLocks noGrp="1"/>
          </p:cNvSpPr>
          <p:nvPr>
            <p:ph type="dt" sz="half" idx="10"/>
          </p:nvPr>
        </p:nvSpPr>
        <p:spPr/>
        <p:txBody>
          <a:bodyPr/>
          <a:lstStyle/>
          <a:p>
            <a:fld id="{EF7439F7-9734-4288-8CF1-C492BAB72D45}" type="datetime1">
              <a:rPr lang="en-US" smtClean="0"/>
              <a:t>10/12/2026</a:t>
            </a:fld>
            <a:endParaRPr lang="en-US"/>
          </a:p>
        </p:txBody>
      </p:sp>
      <p:sp>
        <p:nvSpPr>
          <p:cNvPr id="5" name="Footer Placeholder 4">
            <a:extLst>
              <a:ext uri="{FF2B5EF4-FFF2-40B4-BE49-F238E27FC236}">
                <a16:creationId xmlns:a16="http://schemas.microsoft.com/office/drawing/2014/main" id="{52DA418F-DF71-4E90-FE0A-989B9F20D326}"/>
              </a:ext>
            </a:extLst>
          </p:cNvPr>
          <p:cNvSpPr>
            <a:spLocks noGrp="1"/>
          </p:cNvSpPr>
          <p:nvPr>
            <p:ph type="ftr" sz="quarter" idx="11"/>
          </p:nvPr>
        </p:nvSpPr>
        <p:spPr/>
        <p:txBody>
          <a:bodyPr/>
          <a:lstStyle/>
          <a:p>
            <a:r>
              <a:rPr lang="fr-FR"/>
              <a:t>NTN Days 2026 - 13/10/2026</a:t>
            </a:r>
            <a:endParaRPr lang="en-US"/>
          </a:p>
        </p:txBody>
      </p:sp>
      <p:sp>
        <p:nvSpPr>
          <p:cNvPr id="6" name="Slide Number Placeholder 5">
            <a:extLst>
              <a:ext uri="{FF2B5EF4-FFF2-40B4-BE49-F238E27FC236}">
                <a16:creationId xmlns:a16="http://schemas.microsoft.com/office/drawing/2014/main" id="{19FE51DD-01EB-A327-A0C7-B94CC9FB0977}"/>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457233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67BC10-D71A-CD4E-F09E-54EF6B3713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8380ED-3C87-0FFF-1212-5766E24D40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1D2AEF-F744-035E-1E1B-7D9CA8A0FD12}"/>
              </a:ext>
            </a:extLst>
          </p:cNvPr>
          <p:cNvSpPr>
            <a:spLocks noGrp="1"/>
          </p:cNvSpPr>
          <p:nvPr>
            <p:ph type="dt" sz="half" idx="10"/>
          </p:nvPr>
        </p:nvSpPr>
        <p:spPr/>
        <p:txBody>
          <a:bodyPr/>
          <a:lstStyle/>
          <a:p>
            <a:fld id="{6108D63B-7890-478E-84F4-431DF7CE286B}" type="datetime1">
              <a:rPr lang="en-US" smtClean="0"/>
              <a:t>10/12/2026</a:t>
            </a:fld>
            <a:endParaRPr lang="en-US"/>
          </a:p>
        </p:txBody>
      </p:sp>
      <p:sp>
        <p:nvSpPr>
          <p:cNvPr id="5" name="Footer Placeholder 4">
            <a:extLst>
              <a:ext uri="{FF2B5EF4-FFF2-40B4-BE49-F238E27FC236}">
                <a16:creationId xmlns:a16="http://schemas.microsoft.com/office/drawing/2014/main" id="{D1B3E7F2-107E-6EBF-2626-DD1BB84BAC27}"/>
              </a:ext>
            </a:extLst>
          </p:cNvPr>
          <p:cNvSpPr>
            <a:spLocks noGrp="1"/>
          </p:cNvSpPr>
          <p:nvPr>
            <p:ph type="ftr" sz="quarter" idx="11"/>
          </p:nvPr>
        </p:nvSpPr>
        <p:spPr/>
        <p:txBody>
          <a:bodyPr/>
          <a:lstStyle/>
          <a:p>
            <a:r>
              <a:rPr lang="fr-FR"/>
              <a:t>NTN Days 2026 - 13/10/2026</a:t>
            </a:r>
            <a:endParaRPr lang="en-US"/>
          </a:p>
        </p:txBody>
      </p:sp>
      <p:sp>
        <p:nvSpPr>
          <p:cNvPr id="6" name="Slide Number Placeholder 5">
            <a:extLst>
              <a:ext uri="{FF2B5EF4-FFF2-40B4-BE49-F238E27FC236}">
                <a16:creationId xmlns:a16="http://schemas.microsoft.com/office/drawing/2014/main" id="{602171A4-9646-1D22-D6AF-1884565887AD}"/>
              </a:ext>
            </a:extLst>
          </p:cNvPr>
          <p:cNvSpPr>
            <a:spLocks noGrp="1"/>
          </p:cNvSpPr>
          <p:nvPr>
            <p:ph type="sldNum" sz="quarter" idx="12"/>
          </p:nvPr>
        </p:nvSpPr>
        <p:spPr/>
        <p:txBody>
          <a:bodyPr/>
          <a:lstStyle/>
          <a:p>
            <a:fld id="{2435CAA8-A57F-4BB3-B57F-962D9E660ABB}" type="slidenum">
              <a:rPr lang="en-US" smtClean="0"/>
              <a:t>‹#›</a:t>
            </a:fld>
            <a:endParaRPr lang="en-US"/>
          </a:p>
        </p:txBody>
      </p:sp>
    </p:spTree>
    <p:extLst>
      <p:ext uri="{BB962C8B-B14F-4D97-AF65-F5344CB8AC3E}">
        <p14:creationId xmlns:p14="http://schemas.microsoft.com/office/powerpoint/2010/main" val="1395706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1 column">
    <p:spTree>
      <p:nvGrpSpPr>
        <p:cNvPr id="1" name=""/>
        <p:cNvGrpSpPr/>
        <p:nvPr/>
      </p:nvGrpSpPr>
      <p:grpSpPr>
        <a:xfrm>
          <a:off x="0" y="0"/>
          <a:ext cx="0" cy="0"/>
          <a:chOff x="0" y="0"/>
          <a:chExt cx="0" cy="0"/>
        </a:xfrm>
      </p:grpSpPr>
      <p:sp>
        <p:nvSpPr>
          <p:cNvPr id="5" name="Title_SM"/>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lvl1pPr>
          </a:lstStyle>
          <a:p>
            <a:pPr lvl="0"/>
            <a:r>
              <a:rPr lang="en-US"/>
              <a:t>Slide title, Ericsson Hilda Light 40pt, Ericsson Black, max 2-lines</a:t>
            </a:r>
          </a:p>
        </p:txBody>
      </p:sp>
      <p:sp>
        <p:nvSpPr>
          <p:cNvPr id="3" name="Content Placeholder 2">
            <a:extLst>
              <a:ext uri="{FF2B5EF4-FFF2-40B4-BE49-F238E27FC236}">
                <a16:creationId xmlns:a16="http://schemas.microsoft.com/office/drawing/2014/main" id="{810CFEFC-6AC8-4817-A0D3-6029D48BD293}"/>
              </a:ext>
            </a:extLst>
          </p:cNvPr>
          <p:cNvSpPr>
            <a:spLocks noGrp="1"/>
          </p:cNvSpPr>
          <p:nvPr>
            <p:ph sz="quarter" idx="10" hasCustomPrompt="1"/>
          </p:nvPr>
        </p:nvSpPr>
        <p:spPr>
          <a:xfrm>
            <a:off x="479425" y="1844675"/>
            <a:ext cx="11233150" cy="4392612"/>
          </a:xfrm>
        </p:spPr>
        <p:txBody>
          <a:bodyPr/>
          <a:lstStyle>
            <a:lvl1pPr>
              <a:defRPr/>
            </a:lvl1pPr>
            <a:lvl2pPr>
              <a:defRPr/>
            </a:lvl2pPr>
            <a:lvl3pPr>
              <a:defRPr/>
            </a:lvl3pPr>
            <a:lvl4pPr>
              <a:defRPr/>
            </a:lvl4pPr>
            <a:lvl5pPr>
              <a:defRPr/>
            </a:lvl5pPr>
          </a:lstStyle>
          <a:p>
            <a:pPr lvl="0"/>
            <a:r>
              <a:rPr lang="en-US"/>
              <a:t>For heading, use Ericsson Hilda in bold. For copy and bullets, use Ericsson Hilda.</a:t>
            </a:r>
          </a:p>
          <a:p>
            <a:pPr lvl="0"/>
            <a:r>
              <a:rPr lang="en-US"/>
              <a:t>First level</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31255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1 column">
    <p:spTree>
      <p:nvGrpSpPr>
        <p:cNvPr id="1" name=""/>
        <p:cNvGrpSpPr/>
        <p:nvPr/>
      </p:nvGrpSpPr>
      <p:grpSpPr>
        <a:xfrm>
          <a:off x="0" y="0"/>
          <a:ext cx="0" cy="0"/>
          <a:chOff x="0" y="0"/>
          <a:chExt cx="0" cy="0"/>
        </a:xfrm>
      </p:grpSpPr>
      <p:sp>
        <p:nvSpPr>
          <p:cNvPr id="5" name="Title_SM"/>
          <p:cNvSpPr>
            <a:spLocks noGrp="1" noChangeArrowheads="1"/>
          </p:cNvSpPr>
          <p:nvPr>
            <p:ph type="title" hasCustomPrompt="1"/>
          </p:nvPr>
        </p:nvSpPr>
        <p:spPr bwMode="auto">
          <a:xfrm>
            <a:off x="479425" y="476250"/>
            <a:ext cx="10521950"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lvl1pPr>
          </a:lstStyle>
          <a:p>
            <a:pPr lvl="0"/>
            <a:r>
              <a:rPr lang="en-US"/>
              <a:t>Use this layout for document slides when you need space for a long heading and big content area</a:t>
            </a:r>
          </a:p>
        </p:txBody>
      </p:sp>
      <p:sp>
        <p:nvSpPr>
          <p:cNvPr id="3" name="Content Placeholder 2">
            <a:extLst>
              <a:ext uri="{FF2B5EF4-FFF2-40B4-BE49-F238E27FC236}">
                <a16:creationId xmlns:a16="http://schemas.microsoft.com/office/drawing/2014/main" id="{810CFEFC-6AC8-4817-A0D3-6029D48BD293}"/>
              </a:ext>
            </a:extLst>
          </p:cNvPr>
          <p:cNvSpPr>
            <a:spLocks noGrp="1"/>
          </p:cNvSpPr>
          <p:nvPr>
            <p:ph sz="quarter" idx="10" hasCustomPrompt="1"/>
          </p:nvPr>
        </p:nvSpPr>
        <p:spPr>
          <a:xfrm>
            <a:off x="479425" y="1844675"/>
            <a:ext cx="11233150" cy="4392612"/>
          </a:xfrm>
          <a:prstGeom prst="rect">
            <a:avLst/>
          </a:prstGeom>
        </p:spPr>
        <p:txBody>
          <a:bodyPr/>
          <a:lstStyle>
            <a:lvl1pPr>
              <a:defRPr/>
            </a:lvl1pPr>
            <a:lvl2pPr>
              <a:defRPr/>
            </a:lvl2pPr>
            <a:lvl3pPr>
              <a:defRPr/>
            </a:lvl3pPr>
            <a:lvl4pPr>
              <a:defRPr/>
            </a:lvl4pPr>
            <a:lvl5pPr>
              <a:defRPr/>
            </a:lvl5pPr>
          </a:lstStyle>
          <a:p>
            <a:pPr lvl="0"/>
            <a:r>
              <a:rPr lang="en-US"/>
              <a:t>For heading, use Ericsson Hilda in bold. For copy and bullets, use Ericsson Hilda.</a:t>
            </a:r>
          </a:p>
          <a:p>
            <a:pPr lvl="0"/>
            <a:r>
              <a:rPr lang="en-US"/>
              <a:t>First level</a:t>
            </a:r>
          </a:p>
          <a:p>
            <a:pPr lvl="1"/>
            <a:r>
              <a:rPr lang="en-US"/>
              <a:t>Second level</a:t>
            </a:r>
          </a:p>
          <a:p>
            <a:pPr lvl="2"/>
            <a:r>
              <a:rPr lang="en-US"/>
              <a:t>Third level</a:t>
            </a:r>
          </a:p>
          <a:p>
            <a:pPr lvl="3"/>
            <a:r>
              <a:rPr lang="en-US"/>
              <a:t>Fourth level</a:t>
            </a:r>
          </a:p>
        </p:txBody>
      </p:sp>
      <p:sp>
        <p:nvSpPr>
          <p:cNvPr id="8"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C2AD0284-E6BA-49D8-AB3F-D94DBB1D54F0}"/>
              </a:ext>
            </a:extLst>
          </p:cNvPr>
          <p:cNvSpPr txBox="1"/>
          <p:nvPr userDrawn="1"/>
        </p:nvSpPr>
        <p:spPr>
          <a:xfrm>
            <a:off x="396000" y="6524625"/>
            <a:ext cx="3031279" cy="123111"/>
          </a:xfrm>
          <a:prstGeom prst="rect">
            <a:avLst/>
          </a:prstGeom>
          <a:noFill/>
        </p:spPr>
        <p:txBody>
          <a:bodyPr vert="horz" wrap="none" lIns="0" tIns="0" rIns="0" bIns="0" rtlCol="0">
            <a:spAutoFit/>
          </a:bodyPr>
          <a:lstStyle/>
          <a:p>
            <a:pPr marL="0" indent="0" algn="l">
              <a:buFontTx/>
              <a:buNone/>
            </a:pPr>
            <a:r>
              <a:rPr lang="en-US" sz="800" b="0" i="0" u="none">
                <a:solidFill>
                  <a:srgbClr val="1A1816"/>
                </a:solidFill>
                <a:latin typeface="+mn-lt"/>
              </a:rPr>
              <a:t>  |  Jihane Lghoury  |  2024-09-10  |  Ericsson Confidential  |  Page </a:t>
            </a:r>
            <a:fld id="{68A4E8B7-CC6A-4930-8BD9-F1A54DFB2BF7}" type="slidenum">
              <a:rPr lang="en-US" sz="800" b="0" i="0" u="none" smtClean="0">
                <a:solidFill>
                  <a:srgbClr val="1A1816"/>
                </a:solidFill>
                <a:latin typeface="+mn-lt"/>
              </a:rPr>
              <a:t>‹#›</a:t>
            </a:fld>
            <a:endParaRPr lang="en-US" sz="800" b="0" i="0" u="none">
              <a:solidFill>
                <a:srgbClr val="1A1816"/>
              </a:solidFill>
              <a:latin typeface="+mn-lt"/>
            </a:endParaRPr>
          </a:p>
        </p:txBody>
      </p:sp>
      <p:sp>
        <p:nvSpPr>
          <p:cNvPr id="11" name="FirstDividerHider">
            <a:extLst>
              <a:ext uri="{FF2B5EF4-FFF2-40B4-BE49-F238E27FC236}">
                <a16:creationId xmlns:a16="http://schemas.microsoft.com/office/drawing/2014/main" id="{87C4DFC4-62BA-4C52-B36B-44A75684A81F}"/>
              </a:ext>
            </a:extLst>
          </p:cNvPr>
          <p:cNvSpPr/>
          <p:nvPr userDrawn="1"/>
        </p:nvSpPr>
        <p:spPr bwMode="auto">
          <a:xfrm>
            <a:off x="396000" y="6408751"/>
            <a:ext cx="79513" cy="262393"/>
          </a:xfrm>
          <a:prstGeom prst="rect">
            <a:avLst/>
          </a:prstGeom>
          <a:solidFill>
            <a:schemeClr val="bg1"/>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357188" marR="0" indent="-357188" algn="l" defTabSz="914400" rtl="0" eaLnBrk="1" fontAlgn="base" latinLnBrk="0" hangingPunct="1">
              <a:lnSpc>
                <a:spcPct val="100000"/>
              </a:lnSpc>
              <a:spcBef>
                <a:spcPts val="300"/>
              </a:spcBef>
              <a:spcAft>
                <a:spcPct val="0"/>
              </a:spcAft>
              <a:buClrTx/>
              <a:buSzTx/>
              <a:buFont typeface="Ericsson Hilda" panose="00000500000000000000" pitchFamily="2" charset="0"/>
              <a:buChar char="—"/>
              <a:tabLst/>
            </a:pPr>
            <a:endParaRPr kumimoji="0" lang="en-US" sz="2000" b="0" i="0" u="none" strike="noStrike" cap="none" normalizeH="0" baseline="0" err="1">
              <a:ln>
                <a:noFill/>
              </a:ln>
              <a:solidFill>
                <a:schemeClr val="bg1"/>
              </a:solidFill>
              <a:effectLst/>
              <a:latin typeface="+mn-lt"/>
            </a:endParaRPr>
          </a:p>
        </p:txBody>
      </p:sp>
    </p:spTree>
    <p:extLst>
      <p:ext uri="{BB962C8B-B14F-4D97-AF65-F5344CB8AC3E}">
        <p14:creationId xmlns:p14="http://schemas.microsoft.com/office/powerpoint/2010/main" val="635323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5C55C1-7CA1-8915-BE95-3F55B1CFA4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649165-0D32-DB78-9B7F-39C3C202FC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38C47F-0A72-D181-4463-80F74B2373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2D1159-5768-4AB6-9E82-183202FBF915}" type="datetime1">
              <a:rPr lang="en-US" smtClean="0"/>
              <a:t>10/12/2026</a:t>
            </a:fld>
            <a:endParaRPr lang="en-US"/>
          </a:p>
        </p:txBody>
      </p:sp>
      <p:sp>
        <p:nvSpPr>
          <p:cNvPr id="5" name="Footer Placeholder 4">
            <a:extLst>
              <a:ext uri="{FF2B5EF4-FFF2-40B4-BE49-F238E27FC236}">
                <a16:creationId xmlns:a16="http://schemas.microsoft.com/office/drawing/2014/main" id="{58434D9A-57E7-6BB3-F1EB-039C87B297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NTN Days 2026 - 13/10/2026</a:t>
            </a:r>
            <a:endParaRPr lang="en-US"/>
          </a:p>
        </p:txBody>
      </p:sp>
      <p:sp>
        <p:nvSpPr>
          <p:cNvPr id="6" name="Slide Number Placeholder 5">
            <a:extLst>
              <a:ext uri="{FF2B5EF4-FFF2-40B4-BE49-F238E27FC236}">
                <a16:creationId xmlns:a16="http://schemas.microsoft.com/office/drawing/2014/main" id="{9D8A7740-27FE-C5EE-C939-305179D19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35CAA8-A57F-4BB3-B57F-962D9E660ABB}" type="slidenum">
              <a:rPr lang="en-US" smtClean="0"/>
              <a:t>‹#›</a:t>
            </a:fld>
            <a:endParaRPr lang="en-US"/>
          </a:p>
        </p:txBody>
      </p:sp>
    </p:spTree>
    <p:extLst>
      <p:ext uri="{BB962C8B-B14F-4D97-AF65-F5344CB8AC3E}">
        <p14:creationId xmlns:p14="http://schemas.microsoft.com/office/powerpoint/2010/main" val="2239195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08" r:id="rId12"/>
    <p:sldLayoutId id="2147483709"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5.png"/><Relationship Id="rId3" Type="http://schemas.openxmlformats.org/officeDocument/2006/relationships/image" Target="../media/image80.png"/><Relationship Id="rId7" Type="http://schemas.openxmlformats.org/officeDocument/2006/relationships/image" Target="../media/image100.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6.xml"/><Relationship Id="rId16"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3.png"/><Relationship Id="rId5" Type="http://schemas.openxmlformats.org/officeDocument/2006/relationships/image" Target="../media/image43.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42.png"/><Relationship Id="rId9" Type="http://schemas.openxmlformats.org/officeDocument/2006/relationships/image" Target="../media/image11.svg"/><Relationship Id="rId1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jpg"/><Relationship Id="rId4" Type="http://schemas.openxmlformats.org/officeDocument/2006/relationships/image" Target="../media/image29.jp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450.png"/><Relationship Id="rId1" Type="http://schemas.openxmlformats.org/officeDocument/2006/relationships/slideLayout" Target="../slideLayouts/slideLayout12.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FD149-DE6E-19C7-7114-A14B924A6780}"/>
              </a:ext>
            </a:extLst>
          </p:cNvPr>
          <p:cNvSpPr>
            <a:spLocks noGrp="1"/>
          </p:cNvSpPr>
          <p:nvPr>
            <p:ph type="ctrTitle"/>
          </p:nvPr>
        </p:nvSpPr>
        <p:spPr>
          <a:xfrm>
            <a:off x="1393371" y="1692275"/>
            <a:ext cx="9144000" cy="2387600"/>
          </a:xfrm>
        </p:spPr>
        <p:txBody>
          <a:bodyPr>
            <a:normAutofit fontScale="90000"/>
          </a:bodyPr>
          <a:lstStyle/>
          <a:p>
            <a:r>
              <a:rPr lang="en-US" dirty="0">
                <a:latin typeface="Ericsson Hilda" panose="00000500000000000000" pitchFamily="2" charset="0"/>
              </a:rPr>
              <a:t>Interference-Aware Beam Hopping Scheduling for LEO Satellite Networks using Soft-Conflict Graph Coloring</a:t>
            </a:r>
          </a:p>
        </p:txBody>
      </p:sp>
      <p:sp>
        <p:nvSpPr>
          <p:cNvPr id="3" name="Subtitle 2">
            <a:extLst>
              <a:ext uri="{FF2B5EF4-FFF2-40B4-BE49-F238E27FC236}">
                <a16:creationId xmlns:a16="http://schemas.microsoft.com/office/drawing/2014/main" id="{BA178AE2-99C8-BC22-D240-FF93214717D5}"/>
              </a:ext>
            </a:extLst>
          </p:cNvPr>
          <p:cNvSpPr>
            <a:spLocks noGrp="1"/>
          </p:cNvSpPr>
          <p:nvPr>
            <p:ph type="subTitle" idx="1"/>
          </p:nvPr>
        </p:nvSpPr>
        <p:spPr>
          <a:xfrm>
            <a:off x="1524000" y="4079875"/>
            <a:ext cx="9144000" cy="1655762"/>
          </a:xfrm>
        </p:spPr>
        <p:txBody>
          <a:bodyPr/>
          <a:lstStyle/>
          <a:p>
            <a:r>
              <a:rPr lang="en-US" dirty="0">
                <a:latin typeface="Ericsson Hilda" panose="00000500000000000000" pitchFamily="2" charset="0"/>
              </a:rPr>
              <a:t>Jihane Lghoury, Guilherme Iecker Ricardo, Sebastian Euler, </a:t>
            </a:r>
          </a:p>
          <a:p>
            <a:r>
              <a:rPr lang="en-US" dirty="0">
                <a:latin typeface="Ericsson Hilda" panose="00000500000000000000" pitchFamily="2" charset="0"/>
              </a:rPr>
              <a:t>Xiaotian Fu, Ioannis Xirouchakis, Riadh Dhaou </a:t>
            </a:r>
          </a:p>
        </p:txBody>
      </p:sp>
      <p:sp>
        <p:nvSpPr>
          <p:cNvPr id="4" name="Footer Placeholder 3">
            <a:extLst>
              <a:ext uri="{FF2B5EF4-FFF2-40B4-BE49-F238E27FC236}">
                <a16:creationId xmlns:a16="http://schemas.microsoft.com/office/drawing/2014/main" id="{634FAFEF-2D49-2952-A6DC-7C5BED409536}"/>
              </a:ext>
            </a:extLst>
          </p:cNvPr>
          <p:cNvSpPr>
            <a:spLocks noGrp="1"/>
          </p:cNvSpPr>
          <p:nvPr>
            <p:ph type="ftr" sz="quarter" idx="11"/>
          </p:nvPr>
        </p:nvSpPr>
        <p:spPr/>
        <p:txBody>
          <a:bodyPr/>
          <a:lstStyle/>
          <a:p>
            <a:r>
              <a:rPr lang="fr-FR"/>
              <a:t>NTN Days 2026 - 13/10/2026</a:t>
            </a:r>
            <a:endParaRPr lang="en-US"/>
          </a:p>
        </p:txBody>
      </p:sp>
      <p:pic>
        <p:nvPicPr>
          <p:cNvPr id="2050" name="Picture 2">
            <a:extLst>
              <a:ext uri="{FF2B5EF4-FFF2-40B4-BE49-F238E27FC236}">
                <a16:creationId xmlns:a16="http://schemas.microsoft.com/office/drawing/2014/main" id="{9F42B449-55D3-53CF-8862-6DED1A6E5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9531" y="5227673"/>
            <a:ext cx="1809069" cy="65638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Ericsson logo">
            <a:extLst>
              <a:ext uri="{FF2B5EF4-FFF2-40B4-BE49-F238E27FC236}">
                <a16:creationId xmlns:a16="http://schemas.microsoft.com/office/drawing/2014/main" id="{198BD638-EA6D-C67F-93F8-C6850420F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8515" y="4915647"/>
            <a:ext cx="2563529" cy="1440703"/>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B99CC38-CA45-87D4-2B47-AB257D44CE35}"/>
              </a:ext>
            </a:extLst>
          </p:cNvPr>
          <p:cNvSpPr>
            <a:spLocks noGrp="1"/>
          </p:cNvSpPr>
          <p:nvPr>
            <p:ph type="sldNum" sz="quarter" idx="12"/>
          </p:nvPr>
        </p:nvSpPr>
        <p:spPr/>
        <p:txBody>
          <a:bodyPr/>
          <a:lstStyle/>
          <a:p>
            <a:fld id="{2435CAA8-A57F-4BB3-B57F-962D9E660ABB}" type="slidenum">
              <a:rPr lang="en-US" smtClean="0"/>
              <a:t>1</a:t>
            </a:fld>
            <a:endParaRPr lang="en-US"/>
          </a:p>
        </p:txBody>
      </p:sp>
    </p:spTree>
    <p:extLst>
      <p:ext uri="{BB962C8B-B14F-4D97-AF65-F5344CB8AC3E}">
        <p14:creationId xmlns:p14="http://schemas.microsoft.com/office/powerpoint/2010/main" val="1101382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D46391-8C50-3E24-DBD9-ECED0ECF1A0E}"/>
              </a:ext>
            </a:extLst>
          </p:cNvPr>
          <p:cNvSpPr>
            <a:spLocks noGrp="1"/>
          </p:cNvSpPr>
          <p:nvPr>
            <p:ph type="title"/>
          </p:nvPr>
        </p:nvSpPr>
        <p:spPr>
          <a:xfrm>
            <a:off x="612648" y="548640"/>
            <a:ext cx="10945037" cy="1133856"/>
          </a:xfrm>
        </p:spPr>
        <p:txBody>
          <a:bodyPr anchor="t">
            <a:normAutofit/>
          </a:bodyPr>
          <a:lstStyle/>
          <a:p>
            <a:r>
              <a:rPr lang="en-US"/>
              <a:t>Agenda</a:t>
            </a:r>
          </a:p>
        </p:txBody>
      </p:sp>
      <p:graphicFrame>
        <p:nvGraphicFramePr>
          <p:cNvPr id="5" name="Content Placeholder 4">
            <a:extLst>
              <a:ext uri="{FF2B5EF4-FFF2-40B4-BE49-F238E27FC236}">
                <a16:creationId xmlns:a16="http://schemas.microsoft.com/office/drawing/2014/main" id="{5ED3B9A9-C3C1-F85E-82C5-8C879325701F}"/>
              </a:ext>
            </a:extLst>
          </p:cNvPr>
          <p:cNvGraphicFramePr>
            <a:graphicFrameLocks noGrp="1"/>
          </p:cNvGraphicFramePr>
          <p:nvPr>
            <p:ph idx="1"/>
            <p:extLst>
              <p:ext uri="{D42A27DB-BD31-4B8C-83A1-F6EECF244321}">
                <p14:modId xmlns:p14="http://schemas.microsoft.com/office/powerpoint/2010/main" val="4120013052"/>
              </p:ext>
              <p:ext uri="{E7BDC344-281C-4309-B0C6-D0EE65EED2A8}">
                <p202:designPr xmlns:p202="http://schemas.microsoft.com/office/powerpoint/2020/02/main">
                  <p202:designTagLst>
                    <p202:designTag name="ARCH:1:CLS" val="StackedSequentialRowTable"/>
                  </p202:designTagLst>
                </p202:designPr>
              </p:ext>
            </p:extLst>
          </p:nvPr>
        </p:nvGraphicFramePr>
        <p:xfrm>
          <a:off x="775934" y="1542658"/>
          <a:ext cx="10945036" cy="3589070"/>
        </p:xfrm>
        <a:graphic>
          <a:graphicData uri="http://schemas.openxmlformats.org/drawingml/2006/table">
            <a:tbl>
              <a:tblPr bandRow="1">
                <a:tableStyleId>{5C22544A-7EE6-4342-B048-85BDC9FD1C3A}</a:tableStyleId>
              </a:tblPr>
              <a:tblGrid>
                <a:gridCol w="1564513">
                  <a:extLst>
                    <a:ext uri="{9D8B030D-6E8A-4147-A177-3AD203B41FA5}">
                      <a16:colId xmlns:a16="http://schemas.microsoft.com/office/drawing/2014/main" val="320336225"/>
                    </a:ext>
                  </a:extLst>
                </a:gridCol>
                <a:gridCol w="9380523">
                  <a:extLst>
                    <a:ext uri="{9D8B030D-6E8A-4147-A177-3AD203B41FA5}">
                      <a16:colId xmlns:a16="http://schemas.microsoft.com/office/drawing/2014/main" val="3481625013"/>
                    </a:ext>
                  </a:extLst>
                </a:gridCol>
              </a:tblGrid>
              <a:tr h="717814">
                <a:tc>
                  <a:txBody>
                    <a:bodyPr/>
                    <a:lstStyle/>
                    <a:p>
                      <a:pPr>
                        <a:buNone/>
                      </a:pPr>
                      <a:r>
                        <a:rPr lang="en-US" sz="1600" dirty="0">
                          <a:latin typeface="Ericsson Hilda" panose="00000500000000000000" pitchFamily="2" charset="0"/>
                        </a:rPr>
                        <a:t>01</a:t>
                      </a:r>
                    </a:p>
                  </a:txBody>
                  <a:tcPr marL="163140" marR="163140" marT="81570" marB="81570" anchor="ctr">
                    <a:lnL>
                      <a:noFill/>
                    </a:lnL>
                    <a:lnR>
                      <a:noFill/>
                    </a:lnR>
                    <a:lnT>
                      <a:noFill/>
                    </a:lnT>
                    <a:lnB>
                      <a:noFill/>
                    </a:lnB>
                    <a:noFill/>
                  </a:tcPr>
                </a:tc>
                <a:tc>
                  <a:txBody>
                    <a:bodyPr/>
                    <a:lstStyle/>
                    <a:p>
                      <a:pPr>
                        <a:buNone/>
                      </a:pPr>
                      <a:r>
                        <a:rPr lang="en-US" sz="1600" dirty="0">
                          <a:latin typeface="Ericsson Hilda" panose="00000500000000000000" pitchFamily="2" charset="0"/>
                        </a:rPr>
                        <a:t>Context</a:t>
                      </a:r>
                    </a:p>
                  </a:txBody>
                  <a:tcPr marL="163140" marR="163140" marT="81570" marB="81570" anchor="ctr">
                    <a:lnL>
                      <a:noFill/>
                    </a:lnL>
                    <a:lnR>
                      <a:noFill/>
                    </a:lnR>
                    <a:lnT>
                      <a:noFill/>
                    </a:lnT>
                    <a:lnB>
                      <a:noFill/>
                    </a:lnB>
                    <a:noFill/>
                  </a:tcPr>
                </a:tc>
                <a:extLst>
                  <a:ext uri="{0D108BD9-81ED-4DB2-BD59-A6C34878D82A}">
                    <a16:rowId xmlns:a16="http://schemas.microsoft.com/office/drawing/2014/main" val="3191608339"/>
                  </a:ext>
                </a:extLst>
              </a:tr>
              <a:tr h="717814">
                <a:tc>
                  <a:txBody>
                    <a:bodyPr/>
                    <a:lstStyle/>
                    <a:p>
                      <a:pPr>
                        <a:buNone/>
                      </a:pPr>
                      <a:r>
                        <a:rPr lang="en-US" sz="1600" dirty="0">
                          <a:latin typeface="Ericsson Hilda" panose="00000500000000000000" pitchFamily="2" charset="0"/>
                        </a:rPr>
                        <a:t>02</a:t>
                      </a:r>
                    </a:p>
                  </a:txBody>
                  <a:tcPr marL="163140" marR="163140" marT="81570" marB="81570" anchor="ctr">
                    <a:lnL>
                      <a:noFill/>
                    </a:lnL>
                    <a:lnR>
                      <a:noFill/>
                    </a:lnR>
                    <a:lnT>
                      <a:noFill/>
                    </a:lnT>
                    <a:lnB>
                      <a:noFill/>
                    </a:lnB>
                    <a:noFill/>
                  </a:tcPr>
                </a:tc>
                <a:tc>
                  <a:txBody>
                    <a:bodyPr/>
                    <a:lstStyle/>
                    <a:p>
                      <a:pPr>
                        <a:buNone/>
                      </a:pPr>
                      <a:r>
                        <a:rPr lang="en-US" sz="1600" dirty="0">
                          <a:latin typeface="Ericsson Hilda" panose="00000500000000000000" pitchFamily="2" charset="0"/>
                        </a:rPr>
                        <a:t>System Model</a:t>
                      </a:r>
                    </a:p>
                  </a:txBody>
                  <a:tcPr marL="163140" marR="163140" marT="81570" marB="81570" anchor="ctr">
                    <a:lnL>
                      <a:noFill/>
                    </a:lnL>
                    <a:lnR>
                      <a:noFill/>
                    </a:lnR>
                    <a:lnT>
                      <a:noFill/>
                    </a:lnT>
                    <a:lnB>
                      <a:noFill/>
                    </a:lnB>
                    <a:noFill/>
                  </a:tcPr>
                </a:tc>
                <a:extLst>
                  <a:ext uri="{0D108BD9-81ED-4DB2-BD59-A6C34878D82A}">
                    <a16:rowId xmlns:a16="http://schemas.microsoft.com/office/drawing/2014/main" val="228023739"/>
                  </a:ext>
                </a:extLst>
              </a:tr>
              <a:tr h="717814">
                <a:tc>
                  <a:txBody>
                    <a:bodyPr/>
                    <a:lstStyle/>
                    <a:p>
                      <a:pPr>
                        <a:buNone/>
                      </a:pPr>
                      <a:r>
                        <a:rPr lang="en-US" sz="1600">
                          <a:latin typeface="Ericsson Hilda" panose="00000500000000000000" pitchFamily="2" charset="0"/>
                        </a:rPr>
                        <a:t>03</a:t>
                      </a:r>
                    </a:p>
                  </a:txBody>
                  <a:tcPr marL="163140" marR="163140" marT="81570" marB="81570" anchor="ctr">
                    <a:lnL>
                      <a:noFill/>
                    </a:lnL>
                    <a:lnR>
                      <a:noFill/>
                    </a:lnR>
                    <a:lnT>
                      <a:noFill/>
                    </a:lnT>
                    <a:lnB>
                      <a:noFill/>
                    </a:lnB>
                    <a:noFill/>
                  </a:tcPr>
                </a:tc>
                <a:tc>
                  <a:txBody>
                    <a:bodyPr/>
                    <a:lstStyle/>
                    <a:p>
                      <a:pPr>
                        <a:buNone/>
                      </a:pPr>
                      <a:r>
                        <a:rPr lang="en-US" sz="1600" dirty="0">
                          <a:latin typeface="Ericsson Hilda" panose="00000500000000000000" pitchFamily="2" charset="0"/>
                        </a:rPr>
                        <a:t>Graph Coloring- based beam scheduling optimization problem</a:t>
                      </a:r>
                    </a:p>
                  </a:txBody>
                  <a:tcPr marL="163140" marR="163140" marT="81570" marB="81570" anchor="ctr">
                    <a:lnL>
                      <a:noFill/>
                    </a:lnL>
                    <a:lnR>
                      <a:noFill/>
                    </a:lnR>
                    <a:lnT>
                      <a:noFill/>
                    </a:lnT>
                    <a:lnB>
                      <a:noFill/>
                    </a:lnB>
                    <a:noFill/>
                  </a:tcPr>
                </a:tc>
                <a:extLst>
                  <a:ext uri="{0D108BD9-81ED-4DB2-BD59-A6C34878D82A}">
                    <a16:rowId xmlns:a16="http://schemas.microsoft.com/office/drawing/2014/main" val="2020143917"/>
                  </a:ext>
                </a:extLst>
              </a:tr>
              <a:tr h="717814">
                <a:tc>
                  <a:txBody>
                    <a:bodyPr/>
                    <a:lstStyle/>
                    <a:p>
                      <a:pPr>
                        <a:buNone/>
                      </a:pPr>
                      <a:r>
                        <a:rPr lang="en-US" sz="1600">
                          <a:latin typeface="Ericsson Hilda" panose="00000500000000000000" pitchFamily="2" charset="0"/>
                        </a:rPr>
                        <a:t>04</a:t>
                      </a:r>
                    </a:p>
                  </a:txBody>
                  <a:tcPr marL="163140" marR="163140" marT="81570" marB="81570" anchor="ctr">
                    <a:lnL>
                      <a:noFill/>
                    </a:lnL>
                    <a:lnR>
                      <a:noFill/>
                    </a:lnR>
                    <a:lnT>
                      <a:noFill/>
                    </a:lnT>
                    <a:lnB>
                      <a:noFill/>
                    </a:lnB>
                    <a:noFill/>
                  </a:tcPr>
                </a:tc>
                <a:tc>
                  <a:txBody>
                    <a:bodyPr/>
                    <a:lstStyle/>
                    <a:p>
                      <a:pPr>
                        <a:buNone/>
                      </a:pPr>
                      <a:r>
                        <a:rPr lang="en-US" sz="1600" dirty="0">
                          <a:latin typeface="Ericsson Hilda" panose="00000500000000000000" pitchFamily="2" charset="0"/>
                        </a:rPr>
                        <a:t>Experimental Setup</a:t>
                      </a:r>
                    </a:p>
                  </a:txBody>
                  <a:tcPr marL="163140" marR="163140" marT="81570" marB="81570" anchor="ctr">
                    <a:lnL>
                      <a:noFill/>
                    </a:lnL>
                    <a:lnR>
                      <a:noFill/>
                    </a:lnR>
                    <a:lnT>
                      <a:noFill/>
                    </a:lnT>
                    <a:lnB>
                      <a:noFill/>
                    </a:lnB>
                    <a:noFill/>
                  </a:tcPr>
                </a:tc>
                <a:extLst>
                  <a:ext uri="{0D108BD9-81ED-4DB2-BD59-A6C34878D82A}">
                    <a16:rowId xmlns:a16="http://schemas.microsoft.com/office/drawing/2014/main" val="1615941699"/>
                  </a:ext>
                </a:extLst>
              </a:tr>
              <a:tr h="717814">
                <a:tc>
                  <a:txBody>
                    <a:bodyPr/>
                    <a:lstStyle/>
                    <a:p>
                      <a:pPr>
                        <a:buNone/>
                      </a:pPr>
                      <a:r>
                        <a:rPr lang="en-US" sz="1600" dirty="0">
                          <a:latin typeface="Ericsson Hilda" panose="00000500000000000000" pitchFamily="2" charset="0"/>
                        </a:rPr>
                        <a:t>05</a:t>
                      </a:r>
                    </a:p>
                  </a:txBody>
                  <a:tcPr marL="163140" marR="163140" marT="81570" marB="81570" anchor="ctr">
                    <a:lnL>
                      <a:noFill/>
                    </a:lnL>
                    <a:lnR>
                      <a:noFill/>
                    </a:lnR>
                    <a:lnT>
                      <a:noFill/>
                    </a:lnT>
                    <a:lnB>
                      <a:noFill/>
                    </a:lnB>
                    <a:noFill/>
                  </a:tcPr>
                </a:tc>
                <a:tc>
                  <a:txBody>
                    <a:bodyPr/>
                    <a:lstStyle/>
                    <a:p>
                      <a:pPr>
                        <a:buNone/>
                      </a:pPr>
                      <a:r>
                        <a:rPr lang="en-US" sz="1600" dirty="0">
                          <a:latin typeface="Ericsson Hilda" panose="00000500000000000000" pitchFamily="2" charset="0"/>
                        </a:rPr>
                        <a:t>Numerical Results </a:t>
                      </a:r>
                    </a:p>
                  </a:txBody>
                  <a:tcPr marL="163140" marR="163140" marT="81570" marB="81570" anchor="ctr">
                    <a:lnL>
                      <a:noFill/>
                    </a:lnL>
                    <a:lnR>
                      <a:noFill/>
                    </a:lnR>
                    <a:lnT>
                      <a:noFill/>
                    </a:lnT>
                    <a:lnB>
                      <a:noFill/>
                    </a:lnB>
                    <a:noFill/>
                  </a:tcPr>
                </a:tc>
                <a:extLst>
                  <a:ext uri="{0D108BD9-81ED-4DB2-BD59-A6C34878D82A}">
                    <a16:rowId xmlns:a16="http://schemas.microsoft.com/office/drawing/2014/main" val="2274185739"/>
                  </a:ext>
                </a:extLst>
              </a:tr>
            </a:tbl>
          </a:graphicData>
        </a:graphic>
      </p:graphicFrame>
      <p:sp>
        <p:nvSpPr>
          <p:cNvPr id="3" name="Footer Placeholder 2">
            <a:extLst>
              <a:ext uri="{FF2B5EF4-FFF2-40B4-BE49-F238E27FC236}">
                <a16:creationId xmlns:a16="http://schemas.microsoft.com/office/drawing/2014/main" id="{B0DECC42-57DC-273F-B66A-D7B9E523B11E}"/>
              </a:ext>
            </a:extLst>
          </p:cNvPr>
          <p:cNvSpPr>
            <a:spLocks noGrp="1"/>
          </p:cNvSpPr>
          <p:nvPr>
            <p:ph type="ftr" sz="quarter" idx="11"/>
          </p:nvPr>
        </p:nvSpPr>
        <p:spPr/>
        <p:txBody>
          <a:bodyPr/>
          <a:lstStyle/>
          <a:p>
            <a:r>
              <a:rPr lang="fr-FR"/>
              <a:t>NTN Days 2026 - 13/10/2026</a:t>
            </a:r>
            <a:endParaRPr lang="en-US"/>
          </a:p>
        </p:txBody>
      </p:sp>
      <p:sp>
        <p:nvSpPr>
          <p:cNvPr id="4" name="Slide Number Placeholder 3">
            <a:extLst>
              <a:ext uri="{FF2B5EF4-FFF2-40B4-BE49-F238E27FC236}">
                <a16:creationId xmlns:a16="http://schemas.microsoft.com/office/drawing/2014/main" id="{B31BA1E9-C7CA-8999-C3FE-D47DB6225E1B}"/>
              </a:ext>
            </a:extLst>
          </p:cNvPr>
          <p:cNvSpPr>
            <a:spLocks noGrp="1"/>
          </p:cNvSpPr>
          <p:nvPr>
            <p:ph type="sldNum" sz="quarter" idx="12"/>
          </p:nvPr>
        </p:nvSpPr>
        <p:spPr/>
        <p:txBody>
          <a:bodyPr/>
          <a:lstStyle/>
          <a:p>
            <a:fld id="{2435CAA8-A57F-4BB3-B57F-962D9E660ABB}" type="slidenum">
              <a:rPr lang="en-US" smtClean="0"/>
              <a:t>2</a:t>
            </a:fld>
            <a:endParaRPr lang="en-US"/>
          </a:p>
        </p:txBody>
      </p:sp>
    </p:spTree>
    <p:extLst>
      <p:ext uri="{BB962C8B-B14F-4D97-AF65-F5344CB8AC3E}">
        <p14:creationId xmlns:p14="http://schemas.microsoft.com/office/powerpoint/2010/main" val="4130049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A86DE776-D43D-65E3-4E8C-33038E5BE7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1339749" y="1419041"/>
            <a:ext cx="10433304" cy="51054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58849DC-B417-7ECC-C418-CBF99BDEB4A3}"/>
              </a:ext>
            </a:extLst>
          </p:cNvPr>
          <p:cNvSpPr>
            <a:spLocks noGrp="1"/>
          </p:cNvSpPr>
          <p:nvPr>
            <p:ph type="title"/>
          </p:nvPr>
        </p:nvSpPr>
        <p:spPr>
          <a:xfrm>
            <a:off x="171985" y="629221"/>
            <a:ext cx="10521950" cy="1081088"/>
          </a:xfrm>
        </p:spPr>
        <p:txBody>
          <a:bodyPr/>
          <a:lstStyle/>
          <a:p>
            <a:r>
              <a:rPr lang="en-US" sz="3200" dirty="0">
                <a:latin typeface="Ericsson Hilda" panose="00000500000000000000" pitchFamily="2" charset="0"/>
              </a:rPr>
              <a:t>Non-terrestrial Networks (NTN):</a:t>
            </a:r>
          </a:p>
        </p:txBody>
      </p:sp>
      <p:sp>
        <p:nvSpPr>
          <p:cNvPr id="8" name="TextBox 7">
            <a:extLst>
              <a:ext uri="{FF2B5EF4-FFF2-40B4-BE49-F238E27FC236}">
                <a16:creationId xmlns:a16="http://schemas.microsoft.com/office/drawing/2014/main" id="{6750C326-5EDB-B14E-AE3F-600565A9828A}"/>
              </a:ext>
            </a:extLst>
          </p:cNvPr>
          <p:cNvSpPr txBox="1"/>
          <p:nvPr/>
        </p:nvSpPr>
        <p:spPr>
          <a:xfrm flipH="1">
            <a:off x="1606348" y="5367701"/>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endParaRPr kumimoji="0" lang="en-US" sz="16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10" name="TextBox 9">
            <a:extLst>
              <a:ext uri="{FF2B5EF4-FFF2-40B4-BE49-F238E27FC236}">
                <a16:creationId xmlns:a16="http://schemas.microsoft.com/office/drawing/2014/main" id="{1CEB62E2-B28D-34BC-E894-6342526D1983}"/>
              </a:ext>
            </a:extLst>
          </p:cNvPr>
          <p:cNvSpPr txBox="1"/>
          <p:nvPr/>
        </p:nvSpPr>
        <p:spPr>
          <a:xfrm flipH="1">
            <a:off x="1606349" y="4096612"/>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600" kern="1000" spc="-30">
                <a:solidFill>
                  <a:srgbClr val="181818"/>
                </a:solidFill>
                <a:latin typeface="Ericsson Hilda"/>
                <a:ea typeface="+mn-ea"/>
                <a:cs typeface="+mn-cs"/>
              </a:rPr>
              <a:t>25</a:t>
            </a:r>
            <a:r>
              <a:rPr kumimoji="0" lang="en-US" sz="1600" b="0" i="0" u="none" strike="noStrike" kern="1000" cap="none" spc="-30" normalizeH="0" baseline="0" noProof="0">
                <a:ln>
                  <a:noFill/>
                </a:ln>
                <a:solidFill>
                  <a:srgbClr val="181818"/>
                </a:solidFill>
                <a:effectLst/>
                <a:uLnTx/>
                <a:uFillTx/>
                <a:latin typeface="Ericsson Hilda"/>
                <a:ea typeface="+mn-ea"/>
                <a:cs typeface="+mn-cs"/>
              </a:rPr>
              <a:t> km</a:t>
            </a:r>
          </a:p>
        </p:txBody>
      </p:sp>
      <p:sp>
        <p:nvSpPr>
          <p:cNvPr id="11" name="TextBox 10">
            <a:extLst>
              <a:ext uri="{FF2B5EF4-FFF2-40B4-BE49-F238E27FC236}">
                <a16:creationId xmlns:a16="http://schemas.microsoft.com/office/drawing/2014/main" id="{D433BB9D-2447-E290-1A5B-49451D753DCD}"/>
              </a:ext>
            </a:extLst>
          </p:cNvPr>
          <p:cNvSpPr txBox="1"/>
          <p:nvPr/>
        </p:nvSpPr>
        <p:spPr>
          <a:xfrm flipH="1">
            <a:off x="1487007" y="3382497"/>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600" b="0" i="0" u="none" strike="noStrike" kern="1000" cap="none" spc="-30" normalizeH="0" baseline="0" noProof="0">
                <a:ln>
                  <a:noFill/>
                </a:ln>
                <a:solidFill>
                  <a:srgbClr val="181818"/>
                </a:solidFill>
                <a:effectLst/>
                <a:uLnTx/>
                <a:uFillTx/>
                <a:latin typeface="Ericsson Hilda"/>
                <a:ea typeface="+mn-ea"/>
                <a:cs typeface="+mn-cs"/>
              </a:rPr>
              <a:t>600 km</a:t>
            </a:r>
          </a:p>
        </p:txBody>
      </p:sp>
      <p:sp>
        <p:nvSpPr>
          <p:cNvPr id="12" name="TextBox 11">
            <a:extLst>
              <a:ext uri="{FF2B5EF4-FFF2-40B4-BE49-F238E27FC236}">
                <a16:creationId xmlns:a16="http://schemas.microsoft.com/office/drawing/2014/main" id="{87415BA7-4087-92CC-6070-8F13C7B2D5D2}"/>
              </a:ext>
            </a:extLst>
          </p:cNvPr>
          <p:cNvSpPr txBox="1"/>
          <p:nvPr/>
        </p:nvSpPr>
        <p:spPr>
          <a:xfrm flipH="1">
            <a:off x="1410634" y="2784522"/>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600" b="0" i="0" u="none" strike="noStrike" kern="1000" cap="none" spc="-30" normalizeH="0" baseline="0" noProof="0">
                <a:ln>
                  <a:noFill/>
                </a:ln>
                <a:solidFill>
                  <a:srgbClr val="181818"/>
                </a:solidFill>
                <a:effectLst/>
                <a:uLnTx/>
                <a:uFillTx/>
                <a:latin typeface="Ericsson Hilda"/>
                <a:ea typeface="+mn-ea"/>
                <a:cs typeface="+mn-cs"/>
              </a:rPr>
              <a:t>2000 km</a:t>
            </a:r>
          </a:p>
        </p:txBody>
      </p:sp>
      <p:sp>
        <p:nvSpPr>
          <p:cNvPr id="13" name="TextBox 12">
            <a:extLst>
              <a:ext uri="{FF2B5EF4-FFF2-40B4-BE49-F238E27FC236}">
                <a16:creationId xmlns:a16="http://schemas.microsoft.com/office/drawing/2014/main" id="{2AFB8CCB-ACAC-1514-DDC0-EBB99ED1B14B}"/>
              </a:ext>
            </a:extLst>
          </p:cNvPr>
          <p:cNvSpPr txBox="1"/>
          <p:nvPr/>
        </p:nvSpPr>
        <p:spPr>
          <a:xfrm flipH="1">
            <a:off x="1339750" y="1985120"/>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600" b="0" i="0" u="none" strike="noStrike" kern="1000" cap="none" spc="-30" normalizeH="0" baseline="0" noProof="0">
                <a:ln>
                  <a:noFill/>
                </a:ln>
                <a:solidFill>
                  <a:srgbClr val="181818"/>
                </a:solidFill>
                <a:effectLst/>
                <a:uLnTx/>
                <a:uFillTx/>
                <a:latin typeface="Ericsson Hilda"/>
                <a:ea typeface="+mn-ea"/>
                <a:cs typeface="+mn-cs"/>
              </a:rPr>
              <a:t>36000 km</a:t>
            </a:r>
          </a:p>
        </p:txBody>
      </p:sp>
      <p:sp>
        <p:nvSpPr>
          <p:cNvPr id="14" name="TextBox 13">
            <a:extLst>
              <a:ext uri="{FF2B5EF4-FFF2-40B4-BE49-F238E27FC236}">
                <a16:creationId xmlns:a16="http://schemas.microsoft.com/office/drawing/2014/main" id="{E8A9B99F-D4E7-EA2E-C6B3-B5C131E7FA4E}"/>
              </a:ext>
            </a:extLst>
          </p:cNvPr>
          <p:cNvSpPr txBox="1"/>
          <p:nvPr/>
        </p:nvSpPr>
        <p:spPr>
          <a:xfrm flipH="1">
            <a:off x="2926931" y="5137526"/>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BS</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16" name="TextBox 15">
            <a:extLst>
              <a:ext uri="{FF2B5EF4-FFF2-40B4-BE49-F238E27FC236}">
                <a16:creationId xmlns:a16="http://schemas.microsoft.com/office/drawing/2014/main" id="{667386E0-13E7-44E4-0522-EFCE511805A9}"/>
              </a:ext>
            </a:extLst>
          </p:cNvPr>
          <p:cNvSpPr txBox="1"/>
          <p:nvPr/>
        </p:nvSpPr>
        <p:spPr>
          <a:xfrm flipH="1">
            <a:off x="4501720" y="3619082"/>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HAPS</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17" name="TextBox 16">
            <a:extLst>
              <a:ext uri="{FF2B5EF4-FFF2-40B4-BE49-F238E27FC236}">
                <a16:creationId xmlns:a16="http://schemas.microsoft.com/office/drawing/2014/main" id="{65D28470-502E-B50B-6FE8-7D14556212B3}"/>
              </a:ext>
            </a:extLst>
          </p:cNvPr>
          <p:cNvSpPr txBox="1"/>
          <p:nvPr/>
        </p:nvSpPr>
        <p:spPr>
          <a:xfrm flipH="1">
            <a:off x="5839385" y="3029007"/>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LEO</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18" name="TextBox 17">
            <a:extLst>
              <a:ext uri="{FF2B5EF4-FFF2-40B4-BE49-F238E27FC236}">
                <a16:creationId xmlns:a16="http://schemas.microsoft.com/office/drawing/2014/main" id="{318A16FA-3C12-338F-A4D8-5E43EAA4E206}"/>
              </a:ext>
            </a:extLst>
          </p:cNvPr>
          <p:cNvSpPr txBox="1"/>
          <p:nvPr/>
        </p:nvSpPr>
        <p:spPr>
          <a:xfrm flipH="1">
            <a:off x="6934572" y="2324345"/>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MEO</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20" name="TextBox 19">
            <a:extLst>
              <a:ext uri="{FF2B5EF4-FFF2-40B4-BE49-F238E27FC236}">
                <a16:creationId xmlns:a16="http://schemas.microsoft.com/office/drawing/2014/main" id="{EA5A4C2C-895C-FA31-CE9A-8D3064951DCB}"/>
              </a:ext>
            </a:extLst>
          </p:cNvPr>
          <p:cNvSpPr txBox="1"/>
          <p:nvPr/>
        </p:nvSpPr>
        <p:spPr>
          <a:xfrm flipH="1">
            <a:off x="8414401" y="1604403"/>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GEO</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21" name="Left Brace 20">
            <a:extLst>
              <a:ext uri="{FF2B5EF4-FFF2-40B4-BE49-F238E27FC236}">
                <a16:creationId xmlns:a16="http://schemas.microsoft.com/office/drawing/2014/main" id="{242A3507-5C6C-39E5-91B9-4553C152F769}"/>
              </a:ext>
            </a:extLst>
          </p:cNvPr>
          <p:cNvSpPr/>
          <p:nvPr/>
        </p:nvSpPr>
        <p:spPr bwMode="auto">
          <a:xfrm rot="5400000">
            <a:off x="7252883" y="-656375"/>
            <a:ext cx="255494" cy="3895340"/>
          </a:xfrm>
          <a:prstGeom prst="leftBrace">
            <a:avLst/>
          </a:prstGeom>
          <a:ln>
            <a:headEnd type="none" w="med" len="med"/>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F702CD4B-53F5-CAB4-D676-D6BA7A75FA95}"/>
              </a:ext>
            </a:extLst>
          </p:cNvPr>
          <p:cNvSpPr txBox="1"/>
          <p:nvPr/>
        </p:nvSpPr>
        <p:spPr>
          <a:xfrm>
            <a:off x="6993751" y="855807"/>
            <a:ext cx="914400" cy="914400"/>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600" b="0" i="0" u="none" strike="noStrike" kern="1000" cap="none" spc="-30" normalizeH="0" baseline="0" noProof="0">
                <a:ln>
                  <a:noFill/>
                </a:ln>
                <a:solidFill>
                  <a:srgbClr val="181818"/>
                </a:solidFill>
                <a:effectLst/>
                <a:uLnTx/>
                <a:uFillTx/>
                <a:latin typeface="Ericsson Hilda"/>
                <a:ea typeface="+mn-ea"/>
                <a:cs typeface="+mn-cs"/>
              </a:rPr>
              <a:t>Satellites </a:t>
            </a:r>
          </a:p>
        </p:txBody>
      </p:sp>
      <p:sp>
        <p:nvSpPr>
          <p:cNvPr id="23" name="TextBox 22">
            <a:extLst>
              <a:ext uri="{FF2B5EF4-FFF2-40B4-BE49-F238E27FC236}">
                <a16:creationId xmlns:a16="http://schemas.microsoft.com/office/drawing/2014/main" id="{3DD943CC-5572-EE5E-35F1-E16CBFCDBFBA}"/>
              </a:ext>
            </a:extLst>
          </p:cNvPr>
          <p:cNvSpPr txBox="1"/>
          <p:nvPr/>
        </p:nvSpPr>
        <p:spPr>
          <a:xfrm>
            <a:off x="1791445" y="1196226"/>
            <a:ext cx="914400" cy="914400"/>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400" b="0" i="0" u="none" strike="noStrike" kern="1000" cap="none" spc="-30" normalizeH="0" baseline="0" noProof="0">
                <a:ln>
                  <a:noFill/>
                </a:ln>
                <a:solidFill>
                  <a:srgbClr val="181818"/>
                </a:solidFill>
                <a:effectLst/>
                <a:uLnTx/>
                <a:uFillTx/>
                <a:latin typeface="Ericsson Hilda"/>
                <a:ea typeface="+mn-ea"/>
                <a:cs typeface="+mn-cs"/>
              </a:rPr>
              <a:t>Altitude</a:t>
            </a:r>
          </a:p>
        </p:txBody>
      </p:sp>
      <p:sp>
        <p:nvSpPr>
          <p:cNvPr id="3" name="Rectangle 2">
            <a:extLst>
              <a:ext uri="{FF2B5EF4-FFF2-40B4-BE49-F238E27FC236}">
                <a16:creationId xmlns:a16="http://schemas.microsoft.com/office/drawing/2014/main" id="{1F7D6D43-D5C8-B74D-196C-7ED812C61C8B}"/>
              </a:ext>
            </a:extLst>
          </p:cNvPr>
          <p:cNvSpPr/>
          <p:nvPr/>
        </p:nvSpPr>
        <p:spPr bwMode="auto">
          <a:xfrm>
            <a:off x="412955" y="6532583"/>
            <a:ext cx="3146322" cy="356269"/>
          </a:xfrm>
          <a:prstGeom prst="rect">
            <a:avLst/>
          </a:prstGeom>
          <a:solidFill>
            <a:schemeClr val="bg1"/>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err="1">
              <a:solidFill>
                <a:schemeClr val="bg1"/>
              </a:solidFill>
            </a:endParaRPr>
          </a:p>
        </p:txBody>
      </p:sp>
      <p:sp>
        <p:nvSpPr>
          <p:cNvPr id="4" name="TextBox 3">
            <a:extLst>
              <a:ext uri="{FF2B5EF4-FFF2-40B4-BE49-F238E27FC236}">
                <a16:creationId xmlns:a16="http://schemas.microsoft.com/office/drawing/2014/main" id="{4F15E06E-B0B1-772E-08B4-EA25B506E68E}"/>
              </a:ext>
            </a:extLst>
          </p:cNvPr>
          <p:cNvSpPr txBox="1"/>
          <p:nvPr/>
        </p:nvSpPr>
        <p:spPr>
          <a:xfrm>
            <a:off x="262074" y="10303"/>
            <a:ext cx="1844159" cy="646331"/>
          </a:xfrm>
          <a:prstGeom prst="rect">
            <a:avLst/>
          </a:prstGeom>
          <a:noFill/>
        </p:spPr>
        <p:txBody>
          <a:bodyPr wrap="none" rtlCol="0">
            <a:spAutoFit/>
          </a:bodyPr>
          <a:lstStyle/>
          <a:p>
            <a:r>
              <a:rPr lang="en-US" sz="3600" dirty="0">
                <a:latin typeface="Ericsson Hilda" panose="00000500000000000000" pitchFamily="2" charset="0"/>
              </a:rPr>
              <a:t>Context </a:t>
            </a:r>
          </a:p>
        </p:txBody>
      </p:sp>
    </p:spTree>
    <p:extLst>
      <p:ext uri="{BB962C8B-B14F-4D97-AF65-F5344CB8AC3E}">
        <p14:creationId xmlns:p14="http://schemas.microsoft.com/office/powerpoint/2010/main" val="2842959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a:extLst>
              <a:ext uri="{FF2B5EF4-FFF2-40B4-BE49-F238E27FC236}">
                <a16:creationId xmlns:a16="http://schemas.microsoft.com/office/drawing/2014/main" id="{646EEB06-CDFD-94CC-B4F8-A09933374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9750" y="1417596"/>
            <a:ext cx="10433150" cy="510541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58849DC-B417-7ECC-C418-CBF99BDEB4A3}"/>
              </a:ext>
            </a:extLst>
          </p:cNvPr>
          <p:cNvSpPr>
            <a:spLocks noGrp="1"/>
          </p:cNvSpPr>
          <p:nvPr>
            <p:ph type="title"/>
          </p:nvPr>
        </p:nvSpPr>
        <p:spPr>
          <a:xfrm>
            <a:off x="230654" y="126766"/>
            <a:ext cx="10521950" cy="1081088"/>
          </a:xfrm>
        </p:spPr>
        <p:txBody>
          <a:bodyPr/>
          <a:lstStyle/>
          <a:p>
            <a:r>
              <a:rPr lang="en-US"/>
              <a:t>Non-terrestrial Networks (NTN):</a:t>
            </a:r>
          </a:p>
        </p:txBody>
      </p:sp>
      <p:sp>
        <p:nvSpPr>
          <p:cNvPr id="8" name="TextBox 7">
            <a:extLst>
              <a:ext uri="{FF2B5EF4-FFF2-40B4-BE49-F238E27FC236}">
                <a16:creationId xmlns:a16="http://schemas.microsoft.com/office/drawing/2014/main" id="{6750C326-5EDB-B14E-AE3F-600565A9828A}"/>
              </a:ext>
            </a:extLst>
          </p:cNvPr>
          <p:cNvSpPr txBox="1"/>
          <p:nvPr/>
        </p:nvSpPr>
        <p:spPr>
          <a:xfrm flipH="1">
            <a:off x="1606348" y="5367701"/>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endParaRPr kumimoji="0" lang="en-US" sz="16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10" name="TextBox 9">
            <a:extLst>
              <a:ext uri="{FF2B5EF4-FFF2-40B4-BE49-F238E27FC236}">
                <a16:creationId xmlns:a16="http://schemas.microsoft.com/office/drawing/2014/main" id="{1CEB62E2-B28D-34BC-E894-6342526D1983}"/>
              </a:ext>
            </a:extLst>
          </p:cNvPr>
          <p:cNvSpPr txBox="1"/>
          <p:nvPr/>
        </p:nvSpPr>
        <p:spPr>
          <a:xfrm flipH="1">
            <a:off x="1606349" y="4096612"/>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600" kern="1000" spc="-30">
                <a:solidFill>
                  <a:srgbClr val="181818"/>
                </a:solidFill>
                <a:latin typeface="Ericsson Hilda"/>
                <a:ea typeface="+mn-ea"/>
                <a:cs typeface="+mn-cs"/>
              </a:rPr>
              <a:t>25</a:t>
            </a:r>
            <a:r>
              <a:rPr kumimoji="0" lang="en-US" sz="1600" b="0" i="0" u="none" strike="noStrike" kern="1000" cap="none" spc="-30" normalizeH="0" baseline="0" noProof="0">
                <a:ln>
                  <a:noFill/>
                </a:ln>
                <a:solidFill>
                  <a:srgbClr val="181818"/>
                </a:solidFill>
                <a:effectLst/>
                <a:uLnTx/>
                <a:uFillTx/>
                <a:latin typeface="Ericsson Hilda"/>
                <a:ea typeface="+mn-ea"/>
                <a:cs typeface="+mn-cs"/>
              </a:rPr>
              <a:t> km</a:t>
            </a:r>
          </a:p>
        </p:txBody>
      </p:sp>
      <p:sp>
        <p:nvSpPr>
          <p:cNvPr id="11" name="TextBox 10">
            <a:extLst>
              <a:ext uri="{FF2B5EF4-FFF2-40B4-BE49-F238E27FC236}">
                <a16:creationId xmlns:a16="http://schemas.microsoft.com/office/drawing/2014/main" id="{D433BB9D-2447-E290-1A5B-49451D753DCD}"/>
              </a:ext>
            </a:extLst>
          </p:cNvPr>
          <p:cNvSpPr txBox="1"/>
          <p:nvPr/>
        </p:nvSpPr>
        <p:spPr>
          <a:xfrm flipH="1">
            <a:off x="1487007" y="3382497"/>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600" b="0" i="0" u="none" strike="noStrike" kern="1000" cap="none" spc="-30" normalizeH="0" baseline="0" noProof="0">
                <a:ln>
                  <a:noFill/>
                </a:ln>
                <a:solidFill>
                  <a:srgbClr val="181818"/>
                </a:solidFill>
                <a:effectLst/>
                <a:uLnTx/>
                <a:uFillTx/>
                <a:latin typeface="Ericsson Hilda"/>
                <a:ea typeface="+mn-ea"/>
                <a:cs typeface="+mn-cs"/>
              </a:rPr>
              <a:t>600 km</a:t>
            </a:r>
          </a:p>
        </p:txBody>
      </p:sp>
      <p:sp>
        <p:nvSpPr>
          <p:cNvPr id="12" name="TextBox 11">
            <a:extLst>
              <a:ext uri="{FF2B5EF4-FFF2-40B4-BE49-F238E27FC236}">
                <a16:creationId xmlns:a16="http://schemas.microsoft.com/office/drawing/2014/main" id="{87415BA7-4087-92CC-6070-8F13C7B2D5D2}"/>
              </a:ext>
            </a:extLst>
          </p:cNvPr>
          <p:cNvSpPr txBox="1"/>
          <p:nvPr/>
        </p:nvSpPr>
        <p:spPr>
          <a:xfrm flipH="1">
            <a:off x="1410634" y="2784522"/>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600" b="0" i="0" u="none" strike="noStrike" kern="1000" cap="none" spc="-30" normalizeH="0" baseline="0" noProof="0">
                <a:ln>
                  <a:noFill/>
                </a:ln>
                <a:solidFill>
                  <a:srgbClr val="181818"/>
                </a:solidFill>
                <a:effectLst/>
                <a:uLnTx/>
                <a:uFillTx/>
                <a:latin typeface="Ericsson Hilda"/>
                <a:ea typeface="+mn-ea"/>
                <a:cs typeface="+mn-cs"/>
              </a:rPr>
              <a:t>2000 km</a:t>
            </a:r>
          </a:p>
        </p:txBody>
      </p:sp>
      <p:sp>
        <p:nvSpPr>
          <p:cNvPr id="13" name="TextBox 12">
            <a:extLst>
              <a:ext uri="{FF2B5EF4-FFF2-40B4-BE49-F238E27FC236}">
                <a16:creationId xmlns:a16="http://schemas.microsoft.com/office/drawing/2014/main" id="{2AFB8CCB-ACAC-1514-DDC0-EBB99ED1B14B}"/>
              </a:ext>
            </a:extLst>
          </p:cNvPr>
          <p:cNvSpPr txBox="1"/>
          <p:nvPr/>
        </p:nvSpPr>
        <p:spPr>
          <a:xfrm flipH="1">
            <a:off x="1339750" y="1985120"/>
            <a:ext cx="766483" cy="430306"/>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600" b="0" i="0" u="none" strike="noStrike" kern="1000" cap="none" spc="-30" normalizeH="0" baseline="0" noProof="0">
                <a:ln>
                  <a:noFill/>
                </a:ln>
                <a:solidFill>
                  <a:srgbClr val="181818"/>
                </a:solidFill>
                <a:effectLst/>
                <a:uLnTx/>
                <a:uFillTx/>
                <a:latin typeface="Ericsson Hilda"/>
                <a:ea typeface="+mn-ea"/>
                <a:cs typeface="+mn-cs"/>
              </a:rPr>
              <a:t>36000 km</a:t>
            </a:r>
          </a:p>
        </p:txBody>
      </p:sp>
      <p:sp>
        <p:nvSpPr>
          <p:cNvPr id="14" name="TextBox 13">
            <a:extLst>
              <a:ext uri="{FF2B5EF4-FFF2-40B4-BE49-F238E27FC236}">
                <a16:creationId xmlns:a16="http://schemas.microsoft.com/office/drawing/2014/main" id="{E8A9B99F-D4E7-EA2E-C6B3-B5C131E7FA4E}"/>
              </a:ext>
            </a:extLst>
          </p:cNvPr>
          <p:cNvSpPr txBox="1"/>
          <p:nvPr/>
        </p:nvSpPr>
        <p:spPr>
          <a:xfrm flipH="1">
            <a:off x="2926931" y="5137526"/>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BS</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16" name="TextBox 15">
            <a:extLst>
              <a:ext uri="{FF2B5EF4-FFF2-40B4-BE49-F238E27FC236}">
                <a16:creationId xmlns:a16="http://schemas.microsoft.com/office/drawing/2014/main" id="{667386E0-13E7-44E4-0522-EFCE511805A9}"/>
              </a:ext>
            </a:extLst>
          </p:cNvPr>
          <p:cNvSpPr txBox="1"/>
          <p:nvPr/>
        </p:nvSpPr>
        <p:spPr>
          <a:xfrm flipH="1">
            <a:off x="4501720" y="3619082"/>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HAPS</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17" name="TextBox 16">
            <a:extLst>
              <a:ext uri="{FF2B5EF4-FFF2-40B4-BE49-F238E27FC236}">
                <a16:creationId xmlns:a16="http://schemas.microsoft.com/office/drawing/2014/main" id="{65D28470-502E-B50B-6FE8-7D14556212B3}"/>
              </a:ext>
            </a:extLst>
          </p:cNvPr>
          <p:cNvSpPr txBox="1"/>
          <p:nvPr/>
        </p:nvSpPr>
        <p:spPr>
          <a:xfrm flipH="1">
            <a:off x="5839385" y="3029007"/>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LEO</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18" name="TextBox 17">
            <a:extLst>
              <a:ext uri="{FF2B5EF4-FFF2-40B4-BE49-F238E27FC236}">
                <a16:creationId xmlns:a16="http://schemas.microsoft.com/office/drawing/2014/main" id="{318A16FA-3C12-338F-A4D8-5E43EAA4E206}"/>
              </a:ext>
            </a:extLst>
          </p:cNvPr>
          <p:cNvSpPr txBox="1"/>
          <p:nvPr/>
        </p:nvSpPr>
        <p:spPr>
          <a:xfrm flipH="1">
            <a:off x="6934572" y="2324345"/>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MEO</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20" name="TextBox 19">
            <a:extLst>
              <a:ext uri="{FF2B5EF4-FFF2-40B4-BE49-F238E27FC236}">
                <a16:creationId xmlns:a16="http://schemas.microsoft.com/office/drawing/2014/main" id="{EA5A4C2C-895C-FA31-CE9A-8D3064951DCB}"/>
              </a:ext>
            </a:extLst>
          </p:cNvPr>
          <p:cNvSpPr txBox="1"/>
          <p:nvPr/>
        </p:nvSpPr>
        <p:spPr>
          <a:xfrm flipH="1">
            <a:off x="8414401" y="1604403"/>
            <a:ext cx="513230" cy="251011"/>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200" kern="1000" spc="-30">
                <a:solidFill>
                  <a:srgbClr val="181818"/>
                </a:solidFill>
                <a:latin typeface="Ericsson Hilda"/>
                <a:ea typeface="+mn-ea"/>
                <a:cs typeface="+mn-cs"/>
              </a:rPr>
              <a:t>GEO</a:t>
            </a:r>
            <a:endParaRPr kumimoji="0" lang="en-US" sz="1200" b="0" i="0" u="none" strike="noStrike" kern="1000" cap="none" spc="-30" normalizeH="0" baseline="0" noProof="0">
              <a:ln>
                <a:noFill/>
              </a:ln>
              <a:solidFill>
                <a:srgbClr val="181818"/>
              </a:solidFill>
              <a:effectLst/>
              <a:uLnTx/>
              <a:uFillTx/>
              <a:latin typeface="Ericsson Hilda"/>
              <a:ea typeface="+mn-ea"/>
              <a:cs typeface="+mn-cs"/>
            </a:endParaRPr>
          </a:p>
        </p:txBody>
      </p:sp>
      <p:sp>
        <p:nvSpPr>
          <p:cNvPr id="21" name="Left Brace 20">
            <a:extLst>
              <a:ext uri="{FF2B5EF4-FFF2-40B4-BE49-F238E27FC236}">
                <a16:creationId xmlns:a16="http://schemas.microsoft.com/office/drawing/2014/main" id="{242A3507-5C6C-39E5-91B9-4553C152F769}"/>
              </a:ext>
            </a:extLst>
          </p:cNvPr>
          <p:cNvSpPr/>
          <p:nvPr/>
        </p:nvSpPr>
        <p:spPr bwMode="auto">
          <a:xfrm rot="5400000">
            <a:off x="7252883" y="-656375"/>
            <a:ext cx="255494" cy="3895340"/>
          </a:xfrm>
          <a:prstGeom prst="leftBrace">
            <a:avLst/>
          </a:prstGeom>
          <a:ln>
            <a:headEnd type="none" w="med" len="med"/>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F702CD4B-53F5-CAB4-D676-D6BA7A75FA95}"/>
              </a:ext>
            </a:extLst>
          </p:cNvPr>
          <p:cNvSpPr txBox="1"/>
          <p:nvPr/>
        </p:nvSpPr>
        <p:spPr>
          <a:xfrm>
            <a:off x="6993751" y="855807"/>
            <a:ext cx="914400" cy="914400"/>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600" b="0" i="0" u="none" strike="noStrike" kern="1000" cap="none" spc="-30" normalizeH="0" baseline="0" noProof="0">
                <a:ln>
                  <a:noFill/>
                </a:ln>
                <a:solidFill>
                  <a:srgbClr val="181818"/>
                </a:solidFill>
                <a:effectLst/>
                <a:uLnTx/>
                <a:uFillTx/>
                <a:latin typeface="Ericsson Hilda"/>
                <a:ea typeface="+mn-ea"/>
                <a:cs typeface="+mn-cs"/>
              </a:rPr>
              <a:t>Satellites </a:t>
            </a:r>
          </a:p>
        </p:txBody>
      </p:sp>
      <p:sp>
        <p:nvSpPr>
          <p:cNvPr id="23" name="TextBox 22">
            <a:extLst>
              <a:ext uri="{FF2B5EF4-FFF2-40B4-BE49-F238E27FC236}">
                <a16:creationId xmlns:a16="http://schemas.microsoft.com/office/drawing/2014/main" id="{3DD943CC-5572-EE5E-35F1-E16CBFCDBFBA}"/>
              </a:ext>
            </a:extLst>
          </p:cNvPr>
          <p:cNvSpPr txBox="1"/>
          <p:nvPr/>
        </p:nvSpPr>
        <p:spPr>
          <a:xfrm>
            <a:off x="1791445" y="1196226"/>
            <a:ext cx="914400" cy="914400"/>
          </a:xfrm>
          <a:prstGeom prst="rect">
            <a:avLst/>
          </a:prstGeom>
        </p:spPr>
        <p:txBody>
          <a:bodyPr vert="horz" wrap="non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1400" b="0" i="0" u="none" strike="noStrike" kern="1000" cap="none" spc="-30" normalizeH="0" baseline="0" noProof="0">
                <a:ln>
                  <a:noFill/>
                </a:ln>
                <a:solidFill>
                  <a:srgbClr val="181818"/>
                </a:solidFill>
                <a:effectLst/>
                <a:uLnTx/>
                <a:uFillTx/>
                <a:latin typeface="Ericsson Hilda"/>
                <a:ea typeface="+mn-ea"/>
                <a:cs typeface="+mn-cs"/>
              </a:rPr>
              <a:t>Altitude</a:t>
            </a:r>
          </a:p>
        </p:txBody>
      </p:sp>
      <p:sp>
        <p:nvSpPr>
          <p:cNvPr id="3" name="Rectangle 2">
            <a:extLst>
              <a:ext uri="{FF2B5EF4-FFF2-40B4-BE49-F238E27FC236}">
                <a16:creationId xmlns:a16="http://schemas.microsoft.com/office/drawing/2014/main" id="{71BC3BFE-1A3B-26DB-FA62-58C331EFC815}"/>
              </a:ext>
            </a:extLst>
          </p:cNvPr>
          <p:cNvSpPr/>
          <p:nvPr/>
        </p:nvSpPr>
        <p:spPr bwMode="auto">
          <a:xfrm>
            <a:off x="412955" y="6512916"/>
            <a:ext cx="3146322" cy="356269"/>
          </a:xfrm>
          <a:prstGeom prst="rect">
            <a:avLst/>
          </a:prstGeom>
          <a:solidFill>
            <a:schemeClr val="bg1"/>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err="1">
              <a:solidFill>
                <a:schemeClr val="bg1"/>
              </a:solidFill>
            </a:endParaRPr>
          </a:p>
        </p:txBody>
      </p:sp>
    </p:spTree>
    <p:extLst>
      <p:ext uri="{BB962C8B-B14F-4D97-AF65-F5344CB8AC3E}">
        <p14:creationId xmlns:p14="http://schemas.microsoft.com/office/powerpoint/2010/main" val="2403316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4D893-4A6E-880A-B06D-B9C9C15C8802}"/>
              </a:ext>
            </a:extLst>
          </p:cNvPr>
          <p:cNvSpPr>
            <a:spLocks noGrp="1"/>
          </p:cNvSpPr>
          <p:nvPr>
            <p:ph type="title"/>
          </p:nvPr>
        </p:nvSpPr>
        <p:spPr>
          <a:xfrm>
            <a:off x="227145" y="-145257"/>
            <a:ext cx="10515600" cy="1325563"/>
          </a:xfrm>
        </p:spPr>
        <p:txBody>
          <a:bodyPr/>
          <a:lstStyle/>
          <a:p>
            <a:r>
              <a:rPr lang="en-US" dirty="0">
                <a:latin typeface="Ericsson Hilda" panose="00000500000000000000" pitchFamily="2" charset="0"/>
              </a:rPr>
              <a:t>Context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53CD8D6-D7BB-3384-4AB7-E0CFC489D9A7}"/>
                  </a:ext>
                </a:extLst>
              </p:cNvPr>
              <p:cNvSpPr>
                <a:spLocks noGrp="1"/>
              </p:cNvSpPr>
              <p:nvPr>
                <p:ph idx="1"/>
              </p:nvPr>
            </p:nvSpPr>
            <p:spPr>
              <a:xfrm>
                <a:off x="402771" y="1186543"/>
                <a:ext cx="7788729" cy="4471307"/>
              </a:xfrm>
            </p:spPr>
            <p:txBody>
              <a:bodyPr>
                <a:normAutofit/>
              </a:bodyPr>
              <a:lstStyle/>
              <a:p>
                <a:r>
                  <a:rPr lang="en-US" sz="1800" dirty="0">
                    <a:solidFill>
                      <a:schemeClr val="tx1"/>
                    </a:solidFill>
                    <a:latin typeface="Ericsson Hilda" panose="00000500000000000000" pitchFamily="2" charset="0"/>
                  </a:rPr>
                  <a:t>LEO satellite constellations deploy a large number of satellites to ensure global coverage.</a:t>
                </a:r>
              </a:p>
              <a:p>
                <a:r>
                  <a:rPr lang="en-US" sz="1800" dirty="0">
                    <a:solidFill>
                      <a:schemeClr val="tx1"/>
                    </a:solidFill>
                    <a:latin typeface="Ericsson Hilda" panose="00000500000000000000" pitchFamily="2" charset="0"/>
                  </a:rPr>
                  <a:t>LEO multibeam satellites illuminate many ground cells at the same time.</a:t>
                </a:r>
              </a:p>
              <a:p>
                <a:pPr marL="0" indent="0">
                  <a:buNone/>
                </a:pPr>
                <a14:m>
                  <m:oMath xmlns:m="http://schemas.openxmlformats.org/officeDocument/2006/math">
                    <m:r>
                      <a:rPr lang="en-US" sz="1800" i="1" smtClean="0">
                        <a:solidFill>
                          <a:schemeClr val="tx1"/>
                        </a:solidFill>
                        <a:latin typeface="Cambria Math" panose="02040503050406030204" pitchFamily="18" charset="0"/>
                        <a:ea typeface="Cambria Math" panose="02040503050406030204" pitchFamily="18" charset="0"/>
                      </a:rPr>
                      <m:t>→</m:t>
                    </m:r>
                  </m:oMath>
                </a14:m>
                <a:r>
                  <a:rPr lang="en-US" sz="1800" dirty="0">
                    <a:solidFill>
                      <a:schemeClr val="tx1"/>
                    </a:solidFill>
                    <a:latin typeface="Ericsson Hilda" panose="00000500000000000000" pitchFamily="2" charset="0"/>
                  </a:rPr>
                  <a:t> Simultaneous beams create intra- and inter-satellite interference.</a:t>
                </a:r>
              </a:p>
              <a:p>
                <a:pPr marL="0" indent="0">
                  <a:buNone/>
                </a:pPr>
                <a:endParaRPr lang="en-US" sz="1800" dirty="0">
                  <a:solidFill>
                    <a:srgbClr val="232D37"/>
                  </a:solidFill>
                  <a:latin typeface="Ericsson Hilda" panose="00000500000000000000" pitchFamily="2" charset="0"/>
                </a:endParaRPr>
              </a:p>
              <a:p>
                <a:endParaRPr lang="en-US" sz="1800" dirty="0">
                  <a:solidFill>
                    <a:srgbClr val="232D37"/>
                  </a:solidFill>
                  <a:latin typeface="Ericsson Hilda" panose="00000500000000000000" pitchFamily="2" charset="0"/>
                </a:endParaRPr>
              </a:p>
              <a:p>
                <a:endParaRPr lang="en-US" sz="1800" dirty="0">
                  <a:latin typeface="Ericsson Hilda" panose="00000500000000000000" pitchFamily="2" charset="0"/>
                </a:endParaRPr>
              </a:p>
            </p:txBody>
          </p:sp>
        </mc:Choice>
        <mc:Fallback>
          <p:sp>
            <p:nvSpPr>
              <p:cNvPr id="3" name="Content Placeholder 2">
                <a:extLst>
                  <a:ext uri="{FF2B5EF4-FFF2-40B4-BE49-F238E27FC236}">
                    <a16:creationId xmlns:a16="http://schemas.microsoft.com/office/drawing/2014/main" id="{653CD8D6-D7BB-3384-4AB7-E0CFC489D9A7}"/>
                  </a:ext>
                </a:extLst>
              </p:cNvPr>
              <p:cNvSpPr>
                <a:spLocks noGrp="1" noRot="1" noChangeAspect="1" noMove="1" noResize="1" noEditPoints="1" noAdjustHandles="1" noChangeArrowheads="1" noChangeShapeType="1" noTextEdit="1"/>
              </p:cNvSpPr>
              <p:nvPr>
                <p:ph idx="1"/>
              </p:nvPr>
            </p:nvSpPr>
            <p:spPr>
              <a:xfrm>
                <a:off x="402771" y="1186543"/>
                <a:ext cx="7788729" cy="4471307"/>
              </a:xfrm>
              <a:blipFill>
                <a:blip r:embed="rId3"/>
                <a:stretch>
                  <a:fillRect l="-469" t="-136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F55F350-5E7C-C230-B9EF-6144DE174093}"/>
              </a:ext>
            </a:extLst>
          </p:cNvPr>
          <p:cNvSpPr>
            <a:spLocks noGrp="1"/>
          </p:cNvSpPr>
          <p:nvPr>
            <p:ph type="ftr" sz="quarter" idx="11"/>
          </p:nvPr>
        </p:nvSpPr>
        <p:spPr/>
        <p:txBody>
          <a:bodyPr/>
          <a:lstStyle/>
          <a:p>
            <a:r>
              <a:rPr lang="fr-FR"/>
              <a:t>NTN Days 2026 - 13/10/2026</a:t>
            </a:r>
            <a:endParaRPr lang="en-US"/>
          </a:p>
        </p:txBody>
      </p:sp>
      <p:pic>
        <p:nvPicPr>
          <p:cNvPr id="5" name="Picture 4">
            <a:extLst>
              <a:ext uri="{FF2B5EF4-FFF2-40B4-BE49-F238E27FC236}">
                <a16:creationId xmlns:a16="http://schemas.microsoft.com/office/drawing/2014/main" id="{35DB308B-D8C1-E22E-4FC1-6BE59DBF00C6}"/>
              </a:ext>
            </a:extLst>
          </p:cNvPr>
          <p:cNvPicPr>
            <a:picLocks noChangeAspect="1"/>
          </p:cNvPicPr>
          <p:nvPr/>
        </p:nvPicPr>
        <p:blipFill rotWithShape="1">
          <a:blip r:embed="rId4"/>
          <a:srcRect l="26812" t="4640" r="24702" b="8425"/>
          <a:stretch/>
        </p:blipFill>
        <p:spPr>
          <a:xfrm>
            <a:off x="1813834" y="2736222"/>
            <a:ext cx="3903215" cy="3411743"/>
          </a:xfrm>
          <a:prstGeom prst="rect">
            <a:avLst/>
          </a:prstGeom>
        </p:spPr>
      </p:pic>
      <p:pic>
        <p:nvPicPr>
          <p:cNvPr id="7" name="Picture 6">
            <a:extLst>
              <a:ext uri="{FF2B5EF4-FFF2-40B4-BE49-F238E27FC236}">
                <a16:creationId xmlns:a16="http://schemas.microsoft.com/office/drawing/2014/main" id="{B2B31F69-9DFA-6DDA-3DB4-B13A6BDA230D}"/>
              </a:ext>
            </a:extLst>
          </p:cNvPr>
          <p:cNvPicPr>
            <a:picLocks noChangeAspect="1"/>
          </p:cNvPicPr>
          <p:nvPr/>
        </p:nvPicPr>
        <p:blipFill>
          <a:blip r:embed="rId5"/>
          <a:srcRect t="437"/>
          <a:stretch>
            <a:fillRect/>
          </a:stretch>
        </p:blipFill>
        <p:spPr>
          <a:xfrm>
            <a:off x="7395499" y="2250168"/>
            <a:ext cx="4143248" cy="4471307"/>
          </a:xfrm>
          <a:prstGeom prst="rect">
            <a:avLst/>
          </a:prstGeom>
        </p:spPr>
      </p:pic>
      <p:sp>
        <p:nvSpPr>
          <p:cNvPr id="6" name="TextBox 5">
            <a:extLst>
              <a:ext uri="{FF2B5EF4-FFF2-40B4-BE49-F238E27FC236}">
                <a16:creationId xmlns:a16="http://schemas.microsoft.com/office/drawing/2014/main" id="{66D10906-07B3-12C1-9340-CFB5AE934F26}"/>
              </a:ext>
            </a:extLst>
          </p:cNvPr>
          <p:cNvSpPr txBox="1"/>
          <p:nvPr/>
        </p:nvSpPr>
        <p:spPr>
          <a:xfrm>
            <a:off x="10852947" y="2393322"/>
            <a:ext cx="609600" cy="468086"/>
          </a:xfrm>
          <a:prstGeom prst="rect">
            <a:avLst/>
          </a:prstGeom>
          <a:solidFill>
            <a:schemeClr val="bg1"/>
          </a:solidFill>
        </p:spPr>
        <p:txBody>
          <a:bodyPr wrap="square" rtlCol="0">
            <a:spAutoFit/>
          </a:bodyPr>
          <a:lstStyle/>
          <a:p>
            <a:endParaRPr lang="en-US" dirty="0"/>
          </a:p>
        </p:txBody>
      </p:sp>
      <p:sp>
        <p:nvSpPr>
          <p:cNvPr id="8" name="Slide Number Placeholder 7">
            <a:extLst>
              <a:ext uri="{FF2B5EF4-FFF2-40B4-BE49-F238E27FC236}">
                <a16:creationId xmlns:a16="http://schemas.microsoft.com/office/drawing/2014/main" id="{58848BB1-38D0-7347-4C3B-EEE5D2CAF92A}"/>
              </a:ext>
            </a:extLst>
          </p:cNvPr>
          <p:cNvSpPr>
            <a:spLocks noGrp="1"/>
          </p:cNvSpPr>
          <p:nvPr>
            <p:ph type="sldNum" sz="quarter" idx="12"/>
          </p:nvPr>
        </p:nvSpPr>
        <p:spPr/>
        <p:txBody>
          <a:bodyPr/>
          <a:lstStyle/>
          <a:p>
            <a:fld id="{2435CAA8-A57F-4BB3-B57F-962D9E660ABB}" type="slidenum">
              <a:rPr lang="en-US" smtClean="0"/>
              <a:t>5</a:t>
            </a:fld>
            <a:endParaRPr lang="en-US"/>
          </a:p>
        </p:txBody>
      </p:sp>
    </p:spTree>
    <p:extLst>
      <p:ext uri="{BB962C8B-B14F-4D97-AF65-F5344CB8AC3E}">
        <p14:creationId xmlns:p14="http://schemas.microsoft.com/office/powerpoint/2010/main" val="1394092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BB62C-2C71-BB4A-EE41-AEDE3BDFFD34}"/>
            </a:ext>
          </a:extLst>
        </p:cNvPr>
        <p:cNvGrpSpPr/>
        <p:nvPr/>
      </p:nvGrpSpPr>
      <p:grpSpPr>
        <a:xfrm>
          <a:off x="0" y="0"/>
          <a:ext cx="0" cy="0"/>
          <a:chOff x="0" y="0"/>
          <a:chExt cx="0" cy="0"/>
        </a:xfrm>
      </p:grpSpPr>
      <p:pic>
        <p:nvPicPr>
          <p:cNvPr id="111" name="Picture 110">
            <a:extLst>
              <a:ext uri="{FF2B5EF4-FFF2-40B4-BE49-F238E27FC236}">
                <a16:creationId xmlns:a16="http://schemas.microsoft.com/office/drawing/2014/main" id="{730DB34D-5F3E-FC91-E1F4-3A751865583C}"/>
              </a:ext>
            </a:extLst>
          </p:cNvPr>
          <p:cNvPicPr>
            <a:picLocks noChangeAspect="1"/>
          </p:cNvPicPr>
          <p:nvPr/>
        </p:nvPicPr>
        <p:blipFill>
          <a:blip r:embed="rId3"/>
          <a:stretch>
            <a:fillRect/>
          </a:stretch>
        </p:blipFill>
        <p:spPr>
          <a:xfrm>
            <a:off x="5043496" y="5273081"/>
            <a:ext cx="6296008" cy="1603436"/>
          </a:xfrm>
          <a:prstGeom prst="rect">
            <a:avLst/>
          </a:prstGeom>
        </p:spPr>
      </p:pic>
      <p:sp>
        <p:nvSpPr>
          <p:cNvPr id="2" name="Title 1">
            <a:extLst>
              <a:ext uri="{FF2B5EF4-FFF2-40B4-BE49-F238E27FC236}">
                <a16:creationId xmlns:a16="http://schemas.microsoft.com/office/drawing/2014/main" id="{50A1E837-2CC3-B9DD-C160-5BEB3758A208}"/>
              </a:ext>
            </a:extLst>
          </p:cNvPr>
          <p:cNvSpPr>
            <a:spLocks noGrp="1"/>
          </p:cNvSpPr>
          <p:nvPr>
            <p:ph type="title"/>
          </p:nvPr>
        </p:nvSpPr>
        <p:spPr>
          <a:xfrm>
            <a:off x="227145" y="-145257"/>
            <a:ext cx="10515600" cy="1325563"/>
          </a:xfrm>
        </p:spPr>
        <p:txBody>
          <a:bodyPr/>
          <a:lstStyle/>
          <a:p>
            <a:r>
              <a:rPr lang="en-US" dirty="0">
                <a:latin typeface="Ericsson Hilda" panose="00000500000000000000" pitchFamily="2" charset="0"/>
              </a:rPr>
              <a:t>Context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A70165-6ADB-B242-4327-050435D3900B}"/>
                  </a:ext>
                </a:extLst>
              </p:cNvPr>
              <p:cNvSpPr>
                <a:spLocks noGrp="1"/>
              </p:cNvSpPr>
              <p:nvPr>
                <p:ph idx="1"/>
              </p:nvPr>
            </p:nvSpPr>
            <p:spPr>
              <a:xfrm>
                <a:off x="402771" y="1186543"/>
                <a:ext cx="7788729" cy="4471307"/>
              </a:xfrm>
            </p:spPr>
            <p:txBody>
              <a:bodyPr>
                <a:normAutofit/>
              </a:bodyPr>
              <a:lstStyle/>
              <a:p>
                <a:r>
                  <a:rPr lang="en-US" sz="1800" dirty="0">
                    <a:solidFill>
                      <a:schemeClr val="tx1">
                        <a:lumMod val="85000"/>
                        <a:lumOff val="15000"/>
                      </a:schemeClr>
                    </a:solidFill>
                    <a:latin typeface="Ericsson Hilda" panose="00000500000000000000" pitchFamily="2" charset="0"/>
                  </a:rPr>
                  <a:t>Beam hopping : a satellite activates only a subset of beams during a given time slot and then switches ("hops") to another subset in the next time slot.</a:t>
                </a:r>
              </a:p>
              <a:p>
                <a:r>
                  <a:rPr lang="en-US" sz="1800" dirty="0">
                    <a:solidFill>
                      <a:schemeClr val="tx1">
                        <a:lumMod val="85000"/>
                        <a:lumOff val="15000"/>
                      </a:schemeClr>
                    </a:solidFill>
                    <a:latin typeface="Ericsson Hilda" panose="00000500000000000000" pitchFamily="2" charset="0"/>
                  </a:rPr>
                  <a:t>Conventional Beam Hopping strategies  :</a:t>
                </a:r>
              </a:p>
              <a:p>
                <a:pPr marL="800100" lvl="1" indent="-342900">
                  <a:buAutoNum type="arabicParenR"/>
                </a:pPr>
                <a:r>
                  <a:rPr lang="en-US" sz="1800" dirty="0">
                    <a:solidFill>
                      <a:schemeClr val="tx1">
                        <a:lumMod val="85000"/>
                        <a:lumOff val="15000"/>
                      </a:schemeClr>
                    </a:solidFill>
                    <a:latin typeface="Ericsson Hilda" panose="00000500000000000000" pitchFamily="2" charset="0"/>
                  </a:rPr>
                  <a:t>often based on fixed geometrical patterns =&gt; not well suited to NTN environments : interference is more complex due to 3D geometry, satellite motion, and antenna radiation patterns, resulting in heterogeneous and asymmetric interference relationships.</a:t>
                </a:r>
              </a:p>
              <a:p>
                <a:pPr marL="457200" lvl="1" indent="0">
                  <a:buNone/>
                </a:pPr>
                <a:endParaRPr lang="en-US" sz="1800" dirty="0">
                  <a:solidFill>
                    <a:schemeClr val="tx1">
                      <a:lumMod val="85000"/>
                      <a:lumOff val="15000"/>
                    </a:schemeClr>
                  </a:solidFill>
                  <a:latin typeface="Ericsson Hilda" panose="00000500000000000000" pitchFamily="2" charset="0"/>
                </a:endParaRPr>
              </a:p>
              <a:p>
                <a:pPr marL="457200" lvl="1" indent="0">
                  <a:buNone/>
                </a:pPr>
                <a:r>
                  <a:rPr lang="en-US" sz="1800" dirty="0">
                    <a:solidFill>
                      <a:schemeClr val="tx1">
                        <a:lumMod val="85000"/>
                        <a:lumOff val="15000"/>
                      </a:schemeClr>
                    </a:solidFill>
                    <a:latin typeface="Ericsson Hilda" panose="00000500000000000000" pitchFamily="2" charset="0"/>
                  </a:rPr>
                  <a:t>2) Beam Hopping improves SINR, but time-sharing can reduce capacity.</a:t>
                </a:r>
              </a:p>
              <a:p>
                <a:pPr marL="457200" lvl="1" indent="0">
                  <a:buNone/>
                </a:pPr>
                <a:endParaRPr lang="en-US" sz="1800" dirty="0">
                  <a:solidFill>
                    <a:schemeClr val="tx1">
                      <a:lumMod val="85000"/>
                      <a:lumOff val="15000"/>
                    </a:schemeClr>
                  </a:solidFill>
                  <a:latin typeface="Ericsson Hilda" panose="00000500000000000000" pitchFamily="2" charset="0"/>
                </a:endParaRPr>
              </a:p>
              <a:p>
                <a:pPr marL="457200" lvl="1" indent="0">
                  <a:buNone/>
                </a:pPr>
                <a14:m>
                  <m:oMath xmlns:m="http://schemas.openxmlformats.org/officeDocument/2006/math">
                    <m:r>
                      <a:rPr lang="en-US" sz="1800" i="1">
                        <a:solidFill>
                          <a:schemeClr val="tx1">
                            <a:lumMod val="85000"/>
                            <a:lumOff val="15000"/>
                          </a:schemeClr>
                        </a:solidFill>
                        <a:latin typeface="Cambria Math" panose="02040503050406030204" pitchFamily="18" charset="0"/>
                        <a:ea typeface="Cambria Math" panose="02040503050406030204" pitchFamily="18" charset="0"/>
                      </a:rPr>
                      <m:t>→</m:t>
                    </m:r>
                  </m:oMath>
                </a14:m>
                <a:r>
                  <a:rPr lang="en-US" sz="1800" dirty="0">
                    <a:solidFill>
                      <a:schemeClr val="tx1">
                        <a:lumMod val="85000"/>
                        <a:lumOff val="15000"/>
                      </a:schemeClr>
                    </a:solidFill>
                    <a:latin typeface="Ericsson Hilda" panose="00000500000000000000" pitchFamily="2" charset="0"/>
                  </a:rPr>
                  <a:t> How can we improve on conventional methods ? </a:t>
                </a:r>
              </a:p>
              <a:p>
                <a:pPr marL="457200" lvl="1" indent="0">
                  <a:buNone/>
                </a:pPr>
                <a:endParaRPr lang="en-US" sz="1800" dirty="0">
                  <a:solidFill>
                    <a:schemeClr val="tx1">
                      <a:lumMod val="85000"/>
                      <a:lumOff val="15000"/>
                    </a:schemeClr>
                  </a:solidFill>
                  <a:latin typeface="Ericsson Hilda" panose="00000500000000000000" pitchFamily="2" charset="0"/>
                </a:endParaRPr>
              </a:p>
              <a:p>
                <a:pPr marL="457200" lvl="1" indent="0">
                  <a:buNone/>
                </a:pPr>
                <a:endParaRPr lang="en-US" sz="1800" dirty="0">
                  <a:solidFill>
                    <a:schemeClr val="tx1">
                      <a:lumMod val="85000"/>
                      <a:lumOff val="15000"/>
                    </a:schemeClr>
                  </a:solidFill>
                  <a:latin typeface="Ericsson Hilda" panose="00000500000000000000" pitchFamily="2" charset="0"/>
                </a:endParaRPr>
              </a:p>
              <a:p>
                <a:pPr marL="457200" lvl="1" indent="0">
                  <a:buNone/>
                </a:pPr>
                <a:endParaRPr lang="en-US" sz="1800" dirty="0">
                  <a:solidFill>
                    <a:srgbClr val="232D37"/>
                  </a:solidFill>
                  <a:latin typeface="Ericsson Hilda" panose="00000500000000000000" pitchFamily="2" charset="0"/>
                </a:endParaRPr>
              </a:p>
              <a:p>
                <a:endParaRPr lang="en-US" sz="1800" dirty="0">
                  <a:solidFill>
                    <a:srgbClr val="232D37"/>
                  </a:solidFill>
                  <a:latin typeface="Ericsson Hilda" panose="00000500000000000000" pitchFamily="2" charset="0"/>
                </a:endParaRPr>
              </a:p>
              <a:p>
                <a:endParaRPr lang="en-US" sz="1800" dirty="0">
                  <a:solidFill>
                    <a:srgbClr val="232D37"/>
                  </a:solidFill>
                  <a:latin typeface="Ericsson Hilda" panose="00000500000000000000" pitchFamily="2" charset="0"/>
                </a:endParaRPr>
              </a:p>
              <a:p>
                <a:endParaRPr lang="en-US" sz="1800" dirty="0">
                  <a:solidFill>
                    <a:srgbClr val="232D37"/>
                  </a:solidFill>
                  <a:latin typeface="Ericsson Hilda" panose="00000500000000000000" pitchFamily="2" charset="0"/>
                </a:endParaRPr>
              </a:p>
              <a:p>
                <a:endParaRPr lang="en-US" sz="1800" dirty="0">
                  <a:latin typeface="Ericsson Hilda" panose="00000500000000000000" pitchFamily="2" charset="0"/>
                </a:endParaRPr>
              </a:p>
            </p:txBody>
          </p:sp>
        </mc:Choice>
        <mc:Fallback>
          <p:sp>
            <p:nvSpPr>
              <p:cNvPr id="3" name="Content Placeholder 2">
                <a:extLst>
                  <a:ext uri="{FF2B5EF4-FFF2-40B4-BE49-F238E27FC236}">
                    <a16:creationId xmlns:a16="http://schemas.microsoft.com/office/drawing/2014/main" id="{F7A70165-6ADB-B242-4327-050435D3900B}"/>
                  </a:ext>
                </a:extLst>
              </p:cNvPr>
              <p:cNvSpPr>
                <a:spLocks noGrp="1" noRot="1" noChangeAspect="1" noMove="1" noResize="1" noEditPoints="1" noAdjustHandles="1" noChangeArrowheads="1" noChangeShapeType="1" noTextEdit="1"/>
              </p:cNvSpPr>
              <p:nvPr>
                <p:ph idx="1"/>
              </p:nvPr>
            </p:nvSpPr>
            <p:spPr>
              <a:xfrm>
                <a:off x="402771" y="1186543"/>
                <a:ext cx="7788729" cy="4471307"/>
              </a:xfrm>
              <a:blipFill>
                <a:blip r:embed="rId4"/>
                <a:stretch>
                  <a:fillRect l="-469" t="-1364"/>
                </a:stretch>
              </a:blipFill>
            </p:spPr>
            <p:txBody>
              <a:bodyPr/>
              <a:lstStyle/>
              <a:p>
                <a:r>
                  <a:rPr lang="en-US">
                    <a:noFill/>
                  </a:rPr>
                  <a:t> </a:t>
                </a:r>
              </a:p>
            </p:txBody>
          </p:sp>
        </mc:Fallback>
      </mc:AlternateContent>
      <p:pic>
        <p:nvPicPr>
          <p:cNvPr id="109" name="Content Placeholder 36">
            <a:extLst>
              <a:ext uri="{FF2B5EF4-FFF2-40B4-BE49-F238E27FC236}">
                <a16:creationId xmlns:a16="http://schemas.microsoft.com/office/drawing/2014/main" id="{2406D011-15F5-CB34-93F0-370DFF08C582}"/>
              </a:ext>
            </a:extLst>
          </p:cNvPr>
          <p:cNvPicPr>
            <a:picLocks noChangeAspect="1"/>
          </p:cNvPicPr>
          <p:nvPr/>
        </p:nvPicPr>
        <p:blipFill>
          <a:blip r:embed="rId5"/>
          <a:stretch>
            <a:fillRect/>
          </a:stretch>
        </p:blipFill>
        <p:spPr>
          <a:xfrm>
            <a:off x="7820845" y="1030387"/>
            <a:ext cx="4282907" cy="4392613"/>
          </a:xfrm>
          <a:prstGeom prst="rect">
            <a:avLst/>
          </a:prstGeom>
        </p:spPr>
      </p:pic>
      <p:sp>
        <p:nvSpPr>
          <p:cNvPr id="4" name="Footer Placeholder 3">
            <a:extLst>
              <a:ext uri="{FF2B5EF4-FFF2-40B4-BE49-F238E27FC236}">
                <a16:creationId xmlns:a16="http://schemas.microsoft.com/office/drawing/2014/main" id="{A413339C-E918-A2AB-CDB1-0BDE4199D547}"/>
              </a:ext>
            </a:extLst>
          </p:cNvPr>
          <p:cNvSpPr>
            <a:spLocks noGrp="1"/>
          </p:cNvSpPr>
          <p:nvPr>
            <p:ph type="ftr" sz="quarter" idx="11"/>
          </p:nvPr>
        </p:nvSpPr>
        <p:spPr/>
        <p:txBody>
          <a:bodyPr/>
          <a:lstStyle/>
          <a:p>
            <a:r>
              <a:rPr lang="fr-FR"/>
              <a:t>NTN Days 2026 - 13/10/2026</a:t>
            </a:r>
            <a:endParaRPr lang="en-US"/>
          </a:p>
        </p:txBody>
      </p:sp>
      <p:sp>
        <p:nvSpPr>
          <p:cNvPr id="5" name="Slide Number Placeholder 4">
            <a:extLst>
              <a:ext uri="{FF2B5EF4-FFF2-40B4-BE49-F238E27FC236}">
                <a16:creationId xmlns:a16="http://schemas.microsoft.com/office/drawing/2014/main" id="{88959116-D04B-E1BF-887A-703704C49443}"/>
              </a:ext>
            </a:extLst>
          </p:cNvPr>
          <p:cNvSpPr>
            <a:spLocks noGrp="1"/>
          </p:cNvSpPr>
          <p:nvPr>
            <p:ph type="sldNum" sz="quarter" idx="12"/>
          </p:nvPr>
        </p:nvSpPr>
        <p:spPr/>
        <p:txBody>
          <a:bodyPr/>
          <a:lstStyle/>
          <a:p>
            <a:fld id="{2435CAA8-A57F-4BB3-B57F-962D9E660ABB}" type="slidenum">
              <a:rPr lang="en-US" smtClean="0"/>
              <a:t>6</a:t>
            </a:fld>
            <a:endParaRPr lang="en-US"/>
          </a:p>
        </p:txBody>
      </p:sp>
    </p:spTree>
    <p:extLst>
      <p:ext uri="{BB962C8B-B14F-4D97-AF65-F5344CB8AC3E}">
        <p14:creationId xmlns:p14="http://schemas.microsoft.com/office/powerpoint/2010/main" val="1801820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C68E-EAD8-38FF-6CEE-44DEF8530E58}"/>
              </a:ext>
            </a:extLst>
          </p:cNvPr>
          <p:cNvSpPr>
            <a:spLocks noGrp="1"/>
          </p:cNvSpPr>
          <p:nvPr>
            <p:ph type="title"/>
          </p:nvPr>
        </p:nvSpPr>
        <p:spPr>
          <a:xfrm>
            <a:off x="609600" y="80962"/>
            <a:ext cx="10515600" cy="1325563"/>
          </a:xfrm>
        </p:spPr>
        <p:txBody>
          <a:bodyPr/>
          <a:lstStyle/>
          <a:p>
            <a:r>
              <a:rPr lang="en-US" dirty="0"/>
              <a:t>Related work </a:t>
            </a:r>
          </a:p>
        </p:txBody>
      </p:sp>
      <p:graphicFrame>
        <p:nvGraphicFramePr>
          <p:cNvPr id="4" name="Content Placeholder 3">
            <a:extLst>
              <a:ext uri="{FF2B5EF4-FFF2-40B4-BE49-F238E27FC236}">
                <a16:creationId xmlns:a16="http://schemas.microsoft.com/office/drawing/2014/main" id="{2939B385-FFC4-DD5A-7A54-77E07A68B867}"/>
              </a:ext>
            </a:extLst>
          </p:cNvPr>
          <p:cNvGraphicFramePr>
            <a:graphicFrameLocks noGrp="1"/>
          </p:cNvGraphicFramePr>
          <p:nvPr>
            <p:ph idx="1"/>
            <p:extLst>
              <p:ext uri="{D42A27DB-BD31-4B8C-83A1-F6EECF244321}">
                <p14:modId xmlns:p14="http://schemas.microsoft.com/office/powerpoint/2010/main" val="152122037"/>
              </p:ext>
            </p:extLst>
          </p:nvPr>
        </p:nvGraphicFramePr>
        <p:xfrm>
          <a:off x="377370" y="1097526"/>
          <a:ext cx="11096172" cy="5090572"/>
        </p:xfrm>
        <a:graphic>
          <a:graphicData uri="http://schemas.openxmlformats.org/drawingml/2006/table">
            <a:tbl>
              <a:tblPr firstRow="1" bandRow="1">
                <a:tableStyleId>{5C22544A-7EE6-4342-B048-85BDC9FD1C3A}</a:tableStyleId>
              </a:tblPr>
              <a:tblGrid>
                <a:gridCol w="5548086">
                  <a:extLst>
                    <a:ext uri="{9D8B030D-6E8A-4147-A177-3AD203B41FA5}">
                      <a16:colId xmlns:a16="http://schemas.microsoft.com/office/drawing/2014/main" val="3032507967"/>
                    </a:ext>
                  </a:extLst>
                </a:gridCol>
                <a:gridCol w="5548086">
                  <a:extLst>
                    <a:ext uri="{9D8B030D-6E8A-4147-A177-3AD203B41FA5}">
                      <a16:colId xmlns:a16="http://schemas.microsoft.com/office/drawing/2014/main" val="2345466853"/>
                    </a:ext>
                  </a:extLst>
                </a:gridCol>
              </a:tblGrid>
              <a:tr h="304635">
                <a:tc>
                  <a:txBody>
                    <a:bodyPr/>
                    <a:lstStyle/>
                    <a:p>
                      <a:r>
                        <a:rPr lang="en-US" sz="1400" dirty="0">
                          <a:latin typeface="Ericsson Hilda" panose="00000500000000000000" pitchFamily="2" charset="0"/>
                        </a:rPr>
                        <a:t>References </a:t>
                      </a:r>
                    </a:p>
                  </a:txBody>
                  <a:tcPr/>
                </a:tc>
                <a:tc>
                  <a:txBody>
                    <a:bodyPr/>
                    <a:lstStyle/>
                    <a:p>
                      <a:r>
                        <a:rPr lang="en-US" sz="1400" dirty="0">
                          <a:latin typeface="Ericsson Hilda" panose="00000500000000000000" pitchFamily="2" charset="0"/>
                        </a:rPr>
                        <a:t>Limitations</a:t>
                      </a:r>
                    </a:p>
                  </a:txBody>
                  <a:tcPr/>
                </a:tc>
                <a:extLst>
                  <a:ext uri="{0D108BD9-81ED-4DB2-BD59-A6C34878D82A}">
                    <a16:rowId xmlns:a16="http://schemas.microsoft.com/office/drawing/2014/main" val="3322521742"/>
                  </a:ext>
                </a:extLst>
              </a:tr>
              <a:tr h="2314986">
                <a:tc>
                  <a:txBody>
                    <a:bodyPr/>
                    <a:lstStyle/>
                    <a:p>
                      <a:r>
                        <a:rPr lang="en-US" sz="1400" b="1" dirty="0">
                          <a:solidFill>
                            <a:schemeClr val="tx2"/>
                          </a:solidFill>
                          <a:latin typeface="Ericsson Hilda" panose="00000500000000000000" pitchFamily="2" charset="0"/>
                        </a:rPr>
                        <a:t>[1] </a:t>
                      </a:r>
                      <a:r>
                        <a:rPr lang="en-US" sz="1400" dirty="0">
                          <a:latin typeface="Ericsson Hilda" panose="00000500000000000000" pitchFamily="2" charset="0"/>
                        </a:rPr>
                        <a:t>: Yaxin Wang et al. “A Flexible Resource Allocation Algorithm in Full Bandwidth Beam Hopping Satellite Systems”. In: 2019 IEEE 3rd Advanced Information Management, Communicates, Electronic and Automation Control Conference (IMCEC). 2019</a:t>
                      </a:r>
                    </a:p>
                    <a:p>
                      <a:br>
                        <a:rPr lang="en-US" sz="1400" dirty="0">
                          <a:latin typeface="Ericsson Hilda" panose="00000500000000000000" pitchFamily="2" charset="0"/>
                        </a:rPr>
                      </a:br>
                      <a:r>
                        <a:rPr lang="en-US" sz="1400" b="1" dirty="0">
                          <a:latin typeface="Ericsson Hilda" panose="00000500000000000000" pitchFamily="2" charset="0"/>
                        </a:rPr>
                        <a:t>[2] </a:t>
                      </a:r>
                      <a:r>
                        <a:rPr lang="en-US" sz="1400" dirty="0">
                          <a:latin typeface="Ericsson Hilda" panose="00000500000000000000" pitchFamily="2" charset="0"/>
                        </a:rPr>
                        <a:t>: Zhiyuan Lin et al. “Multi-Satellite Beam Hopping Based on Load Balancing and Interference Avoidance for NGSO Satellite Communication Systems”. In: IEEE Transactions on Communications 71.1 (2023)</a:t>
                      </a:r>
                      <a:br>
                        <a:rPr lang="en-US" sz="1400" dirty="0">
                          <a:latin typeface="Ericsson Hilda" panose="00000500000000000000" pitchFamily="2" charset="0"/>
                        </a:rPr>
                      </a:br>
                      <a:endParaRPr lang="en-US" sz="1400" dirty="0">
                        <a:latin typeface="Ericsson Hilda" panose="00000500000000000000" pitchFamily="2" charset="0"/>
                      </a:endParaRPr>
                    </a:p>
                  </a:txBody>
                  <a:tcPr/>
                </a:tc>
                <a:tc>
                  <a:txBody>
                    <a:bodyPr/>
                    <a:lstStyle/>
                    <a:p>
                      <a:r>
                        <a:rPr lang="en-US" sz="1400" dirty="0">
                          <a:effectLst/>
                          <a:latin typeface="Ericsson Hilda" panose="00000500000000000000" pitchFamily="2" charset="0"/>
                        </a:rPr>
                        <a:t>Interference is approximated using spatial separation or geometric patterns, which does not capture heterogeneous and asymmetric NTN interference.</a:t>
                      </a:r>
                      <a:endParaRPr lang="en-US" sz="1400" dirty="0">
                        <a:latin typeface="Ericsson Hilda" panose="00000500000000000000" pitchFamily="2" charset="0"/>
                      </a:endParaRPr>
                    </a:p>
                  </a:txBody>
                  <a:tcPr/>
                </a:tc>
                <a:extLst>
                  <a:ext uri="{0D108BD9-81ED-4DB2-BD59-A6C34878D82A}">
                    <a16:rowId xmlns:a16="http://schemas.microsoft.com/office/drawing/2014/main" val="2667775600"/>
                  </a:ext>
                </a:extLst>
              </a:tr>
              <a:tr h="1500925">
                <a:tc>
                  <a:txBody>
                    <a:bodyPr/>
                    <a:lstStyle/>
                    <a:p>
                      <a:r>
                        <a:rPr lang="en-US" sz="1400" b="1" dirty="0">
                          <a:latin typeface="Ericsson Hilda" panose="00000500000000000000" pitchFamily="2" charset="0"/>
                        </a:rPr>
                        <a:t>[3] </a:t>
                      </a:r>
                      <a:r>
                        <a:rPr lang="en-US" sz="1400" dirty="0">
                          <a:latin typeface="Ericsson Hilda" panose="00000500000000000000" pitchFamily="2" charset="0"/>
                        </a:rPr>
                        <a:t>: </a:t>
                      </a:r>
                      <a:r>
                        <a:rPr lang="en-US" sz="1400" dirty="0" err="1">
                          <a:latin typeface="Ericsson Hilda" panose="00000500000000000000" pitchFamily="2" charset="0"/>
                        </a:rPr>
                        <a:t>Ruishuo</a:t>
                      </a:r>
                      <a:r>
                        <a:rPr lang="en-US" sz="1400" dirty="0">
                          <a:latin typeface="Ericsson Hilda" panose="00000500000000000000" pitchFamily="2" charset="0"/>
                        </a:rPr>
                        <a:t> Mu et al. “Dynamic Beam Hopping for LEO Satellites with Differentiated Traffic Demands”. In: WSCP2023. 2023, pp. 621–626. DOI: 10.1109/ WCSP58612.2023.10405252</a:t>
                      </a:r>
                      <a:br>
                        <a:rPr lang="en-US" sz="1400" dirty="0">
                          <a:latin typeface="Ericsson Hilda" panose="00000500000000000000" pitchFamily="2" charset="0"/>
                        </a:rPr>
                      </a:br>
                      <a:r>
                        <a:rPr lang="en-US" sz="1400" b="1" dirty="0">
                          <a:latin typeface="Ericsson Hilda" panose="00000500000000000000" pitchFamily="2" charset="0"/>
                        </a:rPr>
                        <a:t>[4] </a:t>
                      </a:r>
                      <a:r>
                        <a:rPr lang="en-US" sz="1400" dirty="0">
                          <a:latin typeface="Ericsson Hilda" panose="00000500000000000000" pitchFamily="2" charset="0"/>
                        </a:rPr>
                        <a:t>: Huimin Deng et al. “Satellites Beam Hopping Scheduling for Interference Avoidance”. In: IEEE Journal on Selected Areas in Communications 42.12 (2024), </a:t>
                      </a:r>
                    </a:p>
                  </a:txBody>
                  <a:tcPr/>
                </a:tc>
                <a:tc>
                  <a:txBody>
                    <a:bodyPr/>
                    <a:lstStyle/>
                    <a:p>
                      <a:pPr fontAlgn="t">
                        <a:lnSpc>
                          <a:spcPts val="1500"/>
                        </a:lnSpc>
                        <a:buNone/>
                      </a:pPr>
                      <a:r>
                        <a:rPr lang="en-US" sz="1400" b="0" i="0" dirty="0">
                          <a:effectLst/>
                          <a:latin typeface="Ericsson Hilda" panose="00000500000000000000" pitchFamily="2" charset="0"/>
                        </a:rPr>
                        <a:t>Interference is considered in optimization objectives, but does not explicitly structure the scheduling decisions.</a:t>
                      </a:r>
                    </a:p>
                  </a:txBody>
                  <a:tcPr/>
                </a:tc>
                <a:extLst>
                  <a:ext uri="{0D108BD9-81ED-4DB2-BD59-A6C34878D82A}">
                    <a16:rowId xmlns:a16="http://schemas.microsoft.com/office/drawing/2014/main" val="3172675748"/>
                  </a:ext>
                </a:extLst>
              </a:tr>
              <a:tr h="969861">
                <a:tc>
                  <a:txBody>
                    <a:bodyPr/>
                    <a:lstStyle/>
                    <a:p>
                      <a:r>
                        <a:rPr lang="en-US" sz="1400" b="1" dirty="0">
                          <a:latin typeface="Ericsson Hilda" panose="00000500000000000000" pitchFamily="2" charset="0"/>
                        </a:rPr>
                        <a:t>[5] </a:t>
                      </a:r>
                      <a:r>
                        <a:rPr lang="en-US" sz="1400" dirty="0">
                          <a:latin typeface="Ericsson Hilda" panose="00000500000000000000" pitchFamily="2" charset="0"/>
                        </a:rPr>
                        <a:t>: Zijun Liu et al. “Multi-Satellite Coordinated Beam Hopping for Interference Mitigation Under Tilted Beam Effects: A Graph-Theoretic Approach”. In: IEEE Wire less Communications Letters 15 (2026), pp. 2313–2317. DOI: 10.1109/LWC.2026.3676112.</a:t>
                      </a:r>
                    </a:p>
                  </a:txBody>
                  <a:tcPr/>
                </a:tc>
                <a:tc>
                  <a:txBody>
                    <a:bodyPr/>
                    <a:lstStyle/>
                    <a:p>
                      <a:r>
                        <a:rPr lang="en-US" sz="1400" dirty="0">
                          <a:latin typeface="Ericsson Hilda" panose="00000500000000000000" pitchFamily="2" charset="0"/>
                        </a:rPr>
                        <a:t>Beam Scheduling based on dynamic satellite–cell assignment and graph coloring.</a:t>
                      </a:r>
                    </a:p>
                  </a:txBody>
                  <a:tcPr/>
                </a:tc>
                <a:extLst>
                  <a:ext uri="{0D108BD9-81ED-4DB2-BD59-A6C34878D82A}">
                    <a16:rowId xmlns:a16="http://schemas.microsoft.com/office/drawing/2014/main" val="1388088569"/>
                  </a:ext>
                </a:extLst>
              </a:tr>
            </a:tbl>
          </a:graphicData>
        </a:graphic>
      </p:graphicFrame>
      <p:sp>
        <p:nvSpPr>
          <p:cNvPr id="3" name="Footer Placeholder 2">
            <a:extLst>
              <a:ext uri="{FF2B5EF4-FFF2-40B4-BE49-F238E27FC236}">
                <a16:creationId xmlns:a16="http://schemas.microsoft.com/office/drawing/2014/main" id="{F88490F8-235B-B267-98B9-CBDD3E3DF057}"/>
              </a:ext>
            </a:extLst>
          </p:cNvPr>
          <p:cNvSpPr>
            <a:spLocks noGrp="1"/>
          </p:cNvSpPr>
          <p:nvPr>
            <p:ph type="ftr" sz="quarter" idx="11"/>
          </p:nvPr>
        </p:nvSpPr>
        <p:spPr/>
        <p:txBody>
          <a:bodyPr/>
          <a:lstStyle/>
          <a:p>
            <a:r>
              <a:rPr lang="fr-FR"/>
              <a:t>NTN Days 2026 - 13/10/2026</a:t>
            </a:r>
            <a:endParaRPr lang="en-US"/>
          </a:p>
        </p:txBody>
      </p:sp>
      <p:sp>
        <p:nvSpPr>
          <p:cNvPr id="5" name="Slide Number Placeholder 4">
            <a:extLst>
              <a:ext uri="{FF2B5EF4-FFF2-40B4-BE49-F238E27FC236}">
                <a16:creationId xmlns:a16="http://schemas.microsoft.com/office/drawing/2014/main" id="{BB65868F-353B-ED4D-9AC9-1E4413C62A5C}"/>
              </a:ext>
            </a:extLst>
          </p:cNvPr>
          <p:cNvSpPr>
            <a:spLocks noGrp="1"/>
          </p:cNvSpPr>
          <p:nvPr>
            <p:ph type="sldNum" sz="quarter" idx="12"/>
          </p:nvPr>
        </p:nvSpPr>
        <p:spPr/>
        <p:txBody>
          <a:bodyPr/>
          <a:lstStyle/>
          <a:p>
            <a:fld id="{2435CAA8-A57F-4BB3-B57F-962D9E660ABB}" type="slidenum">
              <a:rPr lang="en-US" smtClean="0"/>
              <a:t>7</a:t>
            </a:fld>
            <a:endParaRPr lang="en-US"/>
          </a:p>
        </p:txBody>
      </p:sp>
    </p:spTree>
    <p:extLst>
      <p:ext uri="{BB962C8B-B14F-4D97-AF65-F5344CB8AC3E}">
        <p14:creationId xmlns:p14="http://schemas.microsoft.com/office/powerpoint/2010/main" val="3649868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0E05-7AF8-F086-A8F2-D358A46343C8}"/>
              </a:ext>
            </a:extLst>
          </p:cNvPr>
          <p:cNvSpPr>
            <a:spLocks noGrp="1"/>
          </p:cNvSpPr>
          <p:nvPr>
            <p:ph type="title"/>
          </p:nvPr>
        </p:nvSpPr>
        <p:spPr>
          <a:xfrm>
            <a:off x="471153" y="64052"/>
            <a:ext cx="10515600" cy="1325563"/>
          </a:xfrm>
        </p:spPr>
        <p:txBody>
          <a:bodyPr/>
          <a:lstStyle/>
          <a:p>
            <a:r>
              <a:rPr lang="en-US" dirty="0"/>
              <a:t>System model </a:t>
            </a:r>
          </a:p>
        </p:txBody>
      </p:sp>
      <p:sp>
        <p:nvSpPr>
          <p:cNvPr id="4" name="Oval 3">
            <a:extLst>
              <a:ext uri="{FF2B5EF4-FFF2-40B4-BE49-F238E27FC236}">
                <a16:creationId xmlns:a16="http://schemas.microsoft.com/office/drawing/2014/main" id="{ADE02A52-06E7-9941-7DA6-DE1D090B4DA0}"/>
              </a:ext>
            </a:extLst>
          </p:cNvPr>
          <p:cNvSpPr/>
          <p:nvPr/>
        </p:nvSpPr>
        <p:spPr>
          <a:xfrm>
            <a:off x="8007072" y="3375784"/>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Oval 4">
            <a:extLst>
              <a:ext uri="{FF2B5EF4-FFF2-40B4-BE49-F238E27FC236}">
                <a16:creationId xmlns:a16="http://schemas.microsoft.com/office/drawing/2014/main" id="{92CE560F-AC0B-1ACC-A829-B2A74E44E8E7}"/>
              </a:ext>
            </a:extLst>
          </p:cNvPr>
          <p:cNvSpPr/>
          <p:nvPr/>
        </p:nvSpPr>
        <p:spPr>
          <a:xfrm>
            <a:off x="9253364" y="3372285"/>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3B65EA38-BC7D-5B66-D6BB-71133154D463}"/>
              </a:ext>
            </a:extLst>
          </p:cNvPr>
          <p:cNvSpPr/>
          <p:nvPr/>
        </p:nvSpPr>
        <p:spPr>
          <a:xfrm>
            <a:off x="6899385" y="3429000"/>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Oval 8">
            <a:extLst>
              <a:ext uri="{FF2B5EF4-FFF2-40B4-BE49-F238E27FC236}">
                <a16:creationId xmlns:a16="http://schemas.microsoft.com/office/drawing/2014/main" id="{818A9160-19D3-2B22-6840-341E5216C1D7}"/>
              </a:ext>
            </a:extLst>
          </p:cNvPr>
          <p:cNvSpPr/>
          <p:nvPr/>
        </p:nvSpPr>
        <p:spPr>
          <a:xfrm>
            <a:off x="7370380" y="2944941"/>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50692815-B86D-0B26-0682-3463609AB14B}"/>
              </a:ext>
            </a:extLst>
          </p:cNvPr>
          <p:cNvSpPr/>
          <p:nvPr/>
        </p:nvSpPr>
        <p:spPr>
          <a:xfrm>
            <a:off x="7466775" y="3835622"/>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8B551AA5-AB47-FEB6-7D65-9BC022787161}"/>
              </a:ext>
            </a:extLst>
          </p:cNvPr>
          <p:cNvSpPr/>
          <p:nvPr/>
        </p:nvSpPr>
        <p:spPr>
          <a:xfrm>
            <a:off x="10333959" y="3350942"/>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EBAF5365-E9A5-4B2C-96D3-2F61005C9B13}"/>
              </a:ext>
            </a:extLst>
          </p:cNvPr>
          <p:cNvSpPr/>
          <p:nvPr/>
        </p:nvSpPr>
        <p:spPr>
          <a:xfrm>
            <a:off x="9735197" y="2944941"/>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76EB26AF-89F6-BCA3-FE66-879B4C4AE01B}"/>
              </a:ext>
            </a:extLst>
          </p:cNvPr>
          <p:cNvSpPr/>
          <p:nvPr/>
        </p:nvSpPr>
        <p:spPr>
          <a:xfrm>
            <a:off x="8627510" y="2944941"/>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912B6434-632F-33EE-A734-0483DE0D7BD9}"/>
              </a:ext>
            </a:extLst>
          </p:cNvPr>
          <p:cNvSpPr/>
          <p:nvPr/>
        </p:nvSpPr>
        <p:spPr>
          <a:xfrm>
            <a:off x="8627510" y="3799629"/>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4C80FA5E-C338-D4BC-8459-11D4290436A7}"/>
              </a:ext>
            </a:extLst>
          </p:cNvPr>
          <p:cNvSpPr/>
          <p:nvPr/>
        </p:nvSpPr>
        <p:spPr>
          <a:xfrm>
            <a:off x="9825034" y="3778286"/>
            <a:ext cx="1219200" cy="5407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C1F8F193-BEF7-E37C-4B79-EC737CA3B296}"/>
              </a:ext>
            </a:extLst>
          </p:cNvPr>
          <p:cNvSpPr/>
          <p:nvPr/>
        </p:nvSpPr>
        <p:spPr bwMode="auto">
          <a:xfrm rot="451066">
            <a:off x="7900109" y="1226703"/>
            <a:ext cx="422837" cy="2008315"/>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18" name="Oval 17">
            <a:extLst>
              <a:ext uri="{FF2B5EF4-FFF2-40B4-BE49-F238E27FC236}">
                <a16:creationId xmlns:a16="http://schemas.microsoft.com/office/drawing/2014/main" id="{647FBD9C-02C6-C246-FF1F-9AC37C596162}"/>
              </a:ext>
            </a:extLst>
          </p:cNvPr>
          <p:cNvSpPr/>
          <p:nvPr/>
        </p:nvSpPr>
        <p:spPr bwMode="auto">
          <a:xfrm rot="774990">
            <a:off x="7676030" y="1278176"/>
            <a:ext cx="422837" cy="2500992"/>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19" name="Oval 18">
            <a:extLst>
              <a:ext uri="{FF2B5EF4-FFF2-40B4-BE49-F238E27FC236}">
                <a16:creationId xmlns:a16="http://schemas.microsoft.com/office/drawing/2014/main" id="{F855D8AC-2944-5F5B-629B-7953C78F0DDD}"/>
              </a:ext>
            </a:extLst>
          </p:cNvPr>
          <p:cNvSpPr/>
          <p:nvPr/>
        </p:nvSpPr>
        <p:spPr bwMode="auto">
          <a:xfrm>
            <a:off x="7989937" y="1207673"/>
            <a:ext cx="422837" cy="2958958"/>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20" name="Oval 19">
            <a:extLst>
              <a:ext uri="{FF2B5EF4-FFF2-40B4-BE49-F238E27FC236}">
                <a16:creationId xmlns:a16="http://schemas.microsoft.com/office/drawing/2014/main" id="{B7DC1942-BD39-84C6-86D1-151F200580AC}"/>
              </a:ext>
            </a:extLst>
          </p:cNvPr>
          <p:cNvSpPr/>
          <p:nvPr/>
        </p:nvSpPr>
        <p:spPr bwMode="auto">
          <a:xfrm rot="20794366">
            <a:off x="8268180" y="1276816"/>
            <a:ext cx="422837" cy="2533670"/>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21" name="Oval 20">
            <a:extLst>
              <a:ext uri="{FF2B5EF4-FFF2-40B4-BE49-F238E27FC236}">
                <a16:creationId xmlns:a16="http://schemas.microsoft.com/office/drawing/2014/main" id="{37D63326-2868-3F8B-B10B-3B5A76DB8296}"/>
              </a:ext>
            </a:extLst>
          </p:cNvPr>
          <p:cNvSpPr/>
          <p:nvPr/>
        </p:nvSpPr>
        <p:spPr bwMode="auto">
          <a:xfrm rot="20437211">
            <a:off x="8481470" y="1193355"/>
            <a:ext cx="422837" cy="2981693"/>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22" name="Arc 21">
            <a:extLst>
              <a:ext uri="{FF2B5EF4-FFF2-40B4-BE49-F238E27FC236}">
                <a16:creationId xmlns:a16="http://schemas.microsoft.com/office/drawing/2014/main" id="{FFA72B12-54ED-84BD-0463-5097C67F3428}"/>
              </a:ext>
            </a:extLst>
          </p:cNvPr>
          <p:cNvSpPr/>
          <p:nvPr/>
        </p:nvSpPr>
        <p:spPr>
          <a:xfrm>
            <a:off x="6899385" y="1065019"/>
            <a:ext cx="4376057" cy="2294419"/>
          </a:xfrm>
          <a:prstGeom prst="arc">
            <a:avLst>
              <a:gd name="adj1" fmla="val 11508260"/>
              <a:gd name="adj2" fmla="val 20879373"/>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23" name="Graphic 96">
            <a:extLst>
              <a:ext uri="{FF2B5EF4-FFF2-40B4-BE49-F238E27FC236}">
                <a16:creationId xmlns:a16="http://schemas.microsoft.com/office/drawing/2014/main" id="{DCD162E5-AB1F-2A12-13FB-EE3CD1ECA9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7927358" y="779840"/>
            <a:ext cx="706189" cy="724142"/>
          </a:xfrm>
          <a:prstGeom prst="rect">
            <a:avLst/>
          </a:prstGeom>
        </p:spPr>
      </p:pic>
      <p:sp>
        <p:nvSpPr>
          <p:cNvPr id="25" name="Oval 24">
            <a:extLst>
              <a:ext uri="{FF2B5EF4-FFF2-40B4-BE49-F238E27FC236}">
                <a16:creationId xmlns:a16="http://schemas.microsoft.com/office/drawing/2014/main" id="{C3AE7B3D-FF6A-1A88-166D-3DC62019D358}"/>
              </a:ext>
            </a:extLst>
          </p:cNvPr>
          <p:cNvSpPr/>
          <p:nvPr/>
        </p:nvSpPr>
        <p:spPr bwMode="auto">
          <a:xfrm rot="1513280">
            <a:off x="9526426" y="1260825"/>
            <a:ext cx="422837" cy="2165358"/>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26" name="Oval 25">
            <a:extLst>
              <a:ext uri="{FF2B5EF4-FFF2-40B4-BE49-F238E27FC236}">
                <a16:creationId xmlns:a16="http://schemas.microsoft.com/office/drawing/2014/main" id="{3A4A5513-7C25-34EB-F3C1-267075B0DD4A}"/>
              </a:ext>
            </a:extLst>
          </p:cNvPr>
          <p:cNvSpPr/>
          <p:nvPr/>
        </p:nvSpPr>
        <p:spPr bwMode="auto">
          <a:xfrm rot="583603">
            <a:off x="9746483" y="1195078"/>
            <a:ext cx="422837" cy="2561865"/>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27" name="Oval 26">
            <a:extLst>
              <a:ext uri="{FF2B5EF4-FFF2-40B4-BE49-F238E27FC236}">
                <a16:creationId xmlns:a16="http://schemas.microsoft.com/office/drawing/2014/main" id="{DD275F25-F847-D010-ED3B-AF8CB85BD307}"/>
              </a:ext>
            </a:extLst>
          </p:cNvPr>
          <p:cNvSpPr/>
          <p:nvPr/>
        </p:nvSpPr>
        <p:spPr bwMode="auto">
          <a:xfrm rot="21358668">
            <a:off x="10133002" y="1260581"/>
            <a:ext cx="422837" cy="2033905"/>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28" name="Oval 27">
            <a:extLst>
              <a:ext uri="{FF2B5EF4-FFF2-40B4-BE49-F238E27FC236}">
                <a16:creationId xmlns:a16="http://schemas.microsoft.com/office/drawing/2014/main" id="{2F064997-A321-45B4-BB11-5D2EAF982A09}"/>
              </a:ext>
            </a:extLst>
          </p:cNvPr>
          <p:cNvSpPr/>
          <p:nvPr/>
        </p:nvSpPr>
        <p:spPr bwMode="auto">
          <a:xfrm rot="20437211">
            <a:off x="10337927" y="1181626"/>
            <a:ext cx="422837" cy="2581549"/>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29" name="Oval 28">
            <a:extLst>
              <a:ext uri="{FF2B5EF4-FFF2-40B4-BE49-F238E27FC236}">
                <a16:creationId xmlns:a16="http://schemas.microsoft.com/office/drawing/2014/main" id="{28EA11A3-B4FA-277B-D8BE-5F78B8BCB401}"/>
              </a:ext>
            </a:extLst>
          </p:cNvPr>
          <p:cNvSpPr/>
          <p:nvPr/>
        </p:nvSpPr>
        <p:spPr bwMode="auto">
          <a:xfrm rot="21358668">
            <a:off x="10151254" y="1218885"/>
            <a:ext cx="422837" cy="2936201"/>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pic>
        <p:nvPicPr>
          <p:cNvPr id="6" name="Graphic 96">
            <a:extLst>
              <a:ext uri="{FF2B5EF4-FFF2-40B4-BE49-F238E27FC236}">
                <a16:creationId xmlns:a16="http://schemas.microsoft.com/office/drawing/2014/main" id="{AED1CD13-80DB-1E60-F3B4-6226B34B5B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p:blipFill>
        <p:spPr>
          <a:xfrm>
            <a:off x="9837209" y="841514"/>
            <a:ext cx="706189" cy="724142"/>
          </a:xfrm>
          <a:prstGeom prst="rect">
            <a:avLst/>
          </a:prstGeom>
        </p:spPr>
      </p:pic>
      <p:sp>
        <p:nvSpPr>
          <p:cNvPr id="32" name="TextBox 31">
            <a:extLst>
              <a:ext uri="{FF2B5EF4-FFF2-40B4-BE49-F238E27FC236}">
                <a16:creationId xmlns:a16="http://schemas.microsoft.com/office/drawing/2014/main" id="{1E3AF3D6-4013-93F0-E77D-DADD755BCFFC}"/>
              </a:ext>
            </a:extLst>
          </p:cNvPr>
          <p:cNvSpPr txBox="1"/>
          <p:nvPr/>
        </p:nvSpPr>
        <p:spPr>
          <a:xfrm>
            <a:off x="7833395" y="432685"/>
            <a:ext cx="6939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Sat A</a:t>
            </a:r>
          </a:p>
        </p:txBody>
      </p:sp>
      <p:sp>
        <p:nvSpPr>
          <p:cNvPr id="34" name="TextBox 33">
            <a:extLst>
              <a:ext uri="{FF2B5EF4-FFF2-40B4-BE49-F238E27FC236}">
                <a16:creationId xmlns:a16="http://schemas.microsoft.com/office/drawing/2014/main" id="{78B250BC-E49D-D49C-E429-4D460B1862F7}"/>
              </a:ext>
            </a:extLst>
          </p:cNvPr>
          <p:cNvSpPr txBox="1"/>
          <p:nvPr/>
        </p:nvSpPr>
        <p:spPr>
          <a:xfrm>
            <a:off x="9837209" y="540691"/>
            <a:ext cx="60941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Sat B</a:t>
            </a:r>
          </a:p>
        </p:txBody>
      </p:sp>
      <mc:AlternateContent xmlns:mc="http://schemas.openxmlformats.org/markup-compatibility/2006" xmlns:a14="http://schemas.microsoft.com/office/drawing/2010/main">
        <mc:Choice Requires="a14">
          <p:sp>
            <p:nvSpPr>
              <p:cNvPr id="24" name="Content Placeholder 2">
                <a:extLst>
                  <a:ext uri="{FF2B5EF4-FFF2-40B4-BE49-F238E27FC236}">
                    <a16:creationId xmlns:a16="http://schemas.microsoft.com/office/drawing/2014/main" id="{0140F737-703C-7EBA-D34D-89308C081D9E}"/>
                  </a:ext>
                </a:extLst>
              </p:cNvPr>
              <p:cNvSpPr txBox="1">
                <a:spLocks/>
              </p:cNvSpPr>
              <p:nvPr/>
            </p:nvSpPr>
            <p:spPr>
              <a:xfrm>
                <a:off x="393087" y="1278056"/>
                <a:ext cx="6180234" cy="51325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hangingPunct="0">
                  <a:spcBef>
                    <a:spcPct val="0"/>
                  </a:spcBef>
                </a:pPr>
                <a:r>
                  <a:rPr lang="en-US" altLang="en-US" sz="1600" dirty="0">
                    <a:latin typeface="Ericsson Hilda" panose="00000500000000000000" pitchFamily="2" charset="0"/>
                  </a:rPr>
                  <a:t>Multi-beam satellites with onboard base stations.</a:t>
                </a:r>
              </a:p>
              <a:p>
                <a:pPr marL="0" indent="0" eaLnBrk="0" hangingPunct="0">
                  <a:spcBef>
                    <a:spcPct val="0"/>
                  </a:spcBef>
                  <a:buNone/>
                </a:pPr>
                <a:endParaRPr lang="en-US" altLang="en-US" sz="1600" dirty="0">
                  <a:latin typeface="Ericsson Hilda" panose="00000500000000000000" pitchFamily="2" charset="0"/>
                </a:endParaRPr>
              </a:p>
              <a:p>
                <a:pPr eaLnBrk="0" hangingPunct="0">
                  <a:spcBef>
                    <a:spcPct val="0"/>
                  </a:spcBef>
                </a:pPr>
                <a:r>
                  <a:rPr lang="en-US" altLang="en-US" sz="1600" dirty="0">
                    <a:latin typeface="Ericsson Hilda" panose="00000500000000000000" pitchFamily="2" charset="0"/>
                  </a:rPr>
                  <a:t>UEs are distributed across a service area, which is partitioned into a set </a:t>
                </a:r>
                <a14:m>
                  <m:oMath xmlns:m="http://schemas.openxmlformats.org/officeDocument/2006/math">
                    <m:r>
                      <a:rPr lang="fr-FR" altLang="en-US" sz="1600" b="0" i="1" smtClean="0">
                        <a:latin typeface="Cambria Math" panose="02040503050406030204" pitchFamily="18" charset="0"/>
                        <a:ea typeface="Cambria Math" panose="02040503050406030204" pitchFamily="18" charset="0"/>
                      </a:rPr>
                      <m:t>∁</m:t>
                    </m:r>
                    <m:r>
                      <a:rPr lang="fr-FR" altLang="en-US" sz="1600" b="0" i="1" smtClean="0">
                        <a:latin typeface="Cambria Math" panose="02040503050406030204" pitchFamily="18" charset="0"/>
                      </a:rPr>
                      <m:t>={1,…,</m:t>
                    </m:r>
                    <m:r>
                      <a:rPr lang="fr-FR" altLang="en-US" sz="1600" b="0" i="1" smtClean="0">
                        <a:latin typeface="Cambria Math" panose="02040503050406030204" pitchFamily="18" charset="0"/>
                      </a:rPr>
                      <m:t>𝐶</m:t>
                    </m:r>
                    <m:r>
                      <a:rPr lang="fr-FR" altLang="en-US" sz="1600" b="0" i="1" smtClean="0">
                        <a:latin typeface="Cambria Math" panose="02040503050406030204" pitchFamily="18" charset="0"/>
                      </a:rPr>
                      <m:t>}</m:t>
                    </m:r>
                  </m:oMath>
                </a14:m>
                <a:r>
                  <a:rPr lang="en-US" altLang="en-US" sz="1600" dirty="0">
                    <a:latin typeface="Ericsson Hilda" panose="00000500000000000000" pitchFamily="2" charset="0"/>
                  </a:rPr>
                  <a:t> of fixed cells of equal size.</a:t>
                </a:r>
              </a:p>
              <a:p>
                <a:pPr marL="0" indent="0" eaLnBrk="0" hangingPunct="0">
                  <a:spcBef>
                    <a:spcPct val="0"/>
                  </a:spcBef>
                  <a:buNone/>
                </a:pPr>
                <a:endParaRPr lang="en-US" altLang="en-US" sz="1600" dirty="0">
                  <a:latin typeface="Ericsson Hilda" panose="00000500000000000000" pitchFamily="2" charset="0"/>
                </a:endParaRPr>
              </a:p>
              <a:p>
                <a:pPr eaLnBrk="0" hangingPunct="0">
                  <a:spcBef>
                    <a:spcPct val="0"/>
                  </a:spcBef>
                </a:pPr>
                <a:r>
                  <a:rPr lang="en-US" altLang="en-US" sz="1600" dirty="0">
                    <a:latin typeface="Ericsson Hilda" panose="00000500000000000000" pitchFamily="2" charset="0"/>
                  </a:rPr>
                  <a:t>Each beam is dynamically steered toward one cell.</a:t>
                </a:r>
              </a:p>
              <a:p>
                <a:pPr marL="0" indent="0" eaLnBrk="0" hangingPunct="0">
                  <a:spcBef>
                    <a:spcPct val="0"/>
                  </a:spcBef>
                  <a:buNone/>
                </a:pPr>
                <a:endParaRPr lang="en-US" altLang="en-US" sz="1600" dirty="0">
                  <a:latin typeface="Ericsson Hilda" panose="00000500000000000000" pitchFamily="2" charset="0"/>
                </a:endParaRPr>
              </a:p>
              <a:p>
                <a:pPr eaLnBrk="0" hangingPunct="0">
                  <a:spcBef>
                    <a:spcPct val="0"/>
                  </a:spcBef>
                </a:pPr>
                <a:r>
                  <a:rPr lang="en-US" altLang="en-US" sz="1600" dirty="0">
                    <a:latin typeface="Ericsson Hilda" panose="00000500000000000000" pitchFamily="2" charset="0"/>
                  </a:rPr>
                  <a:t>No frequency reuse: all beams use the same frequency resources.</a:t>
                </a:r>
              </a:p>
              <a:p>
                <a:pPr eaLnBrk="0" hangingPunct="0">
                  <a:spcBef>
                    <a:spcPct val="0"/>
                  </a:spcBef>
                </a:pPr>
                <a:endParaRPr lang="en-US" altLang="en-US" sz="1600" dirty="0">
                  <a:latin typeface="Ericsson Hilda" panose="00000500000000000000" pitchFamily="2" charset="0"/>
                </a:endParaRPr>
              </a:p>
              <a:p>
                <a:pPr eaLnBrk="0" hangingPunct="0">
                  <a:spcBef>
                    <a:spcPct val="0"/>
                  </a:spcBef>
                </a:pPr>
                <a:r>
                  <a:rPr lang="en-US" altLang="en-US" sz="1600" dirty="0">
                    <a:latin typeface="Ericsson Hilda" panose="00000500000000000000" pitchFamily="2" charset="0"/>
                  </a:rPr>
                  <a:t>All satellites operate on the same bandwidth</a:t>
                </a:r>
                <a:br>
                  <a:rPr lang="en-US" altLang="en-US" sz="1600" dirty="0">
                    <a:latin typeface="Ericsson Hilda" panose="00000500000000000000" pitchFamily="2" charset="0"/>
                  </a:rPr>
                </a:br>
                <a:endParaRPr lang="en-US" altLang="en-US" sz="1600" dirty="0">
                  <a:latin typeface="Ericsson Hilda" panose="00000500000000000000" pitchFamily="2" charset="0"/>
                </a:endParaRPr>
              </a:p>
              <a:p>
                <a:pPr eaLnBrk="0" hangingPunct="0">
                  <a:spcBef>
                    <a:spcPct val="0"/>
                  </a:spcBef>
                </a:pPr>
                <a:r>
                  <a:rPr lang="en-US" altLang="en-US" sz="1600" dirty="0">
                    <a:latin typeface="Ericsson Hilda" panose="00000500000000000000" pitchFamily="2" charset="0"/>
                  </a:rPr>
                  <a:t>The bandwidth is time-shared among all cells, requiring scheduling.</a:t>
                </a:r>
                <a:endParaRPr lang="en-US" sz="1600" dirty="0">
                  <a:latin typeface="Ericsson Hilda" panose="00000500000000000000" pitchFamily="2" charset="0"/>
                </a:endParaRPr>
              </a:p>
            </p:txBody>
          </p:sp>
        </mc:Choice>
        <mc:Fallback xmlns="">
          <p:sp>
            <p:nvSpPr>
              <p:cNvPr id="24" name="Content Placeholder 2">
                <a:extLst>
                  <a:ext uri="{FF2B5EF4-FFF2-40B4-BE49-F238E27FC236}">
                    <a16:creationId xmlns:a16="http://schemas.microsoft.com/office/drawing/2014/main" id="{0140F737-703C-7EBA-D34D-89308C081D9E}"/>
                  </a:ext>
                </a:extLst>
              </p:cNvPr>
              <p:cNvSpPr txBox="1">
                <a:spLocks noRot="1" noChangeAspect="1" noMove="1" noResize="1" noEditPoints="1" noAdjustHandles="1" noChangeArrowheads="1" noChangeShapeType="1" noTextEdit="1"/>
              </p:cNvSpPr>
              <p:nvPr/>
            </p:nvSpPr>
            <p:spPr>
              <a:xfrm>
                <a:off x="393087" y="1278056"/>
                <a:ext cx="6180234" cy="5132576"/>
              </a:xfrm>
              <a:prstGeom prst="rect">
                <a:avLst/>
              </a:prstGeom>
              <a:blipFill>
                <a:blip r:embed="rId3"/>
                <a:stretch>
                  <a:fillRect l="-394" t="-831" r="-296"/>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670150C5-A0F5-D119-0B0A-45D9757181BC}"/>
              </a:ext>
            </a:extLst>
          </p:cNvPr>
          <p:cNvSpPr>
            <a:spLocks noGrp="1"/>
          </p:cNvSpPr>
          <p:nvPr>
            <p:ph type="ftr" sz="quarter" idx="11"/>
          </p:nvPr>
        </p:nvSpPr>
        <p:spPr/>
        <p:txBody>
          <a:bodyPr/>
          <a:lstStyle/>
          <a:p>
            <a:r>
              <a:rPr lang="fr-FR"/>
              <a:t>NTN Days 2026 - 13/10/2026</a:t>
            </a:r>
            <a:endParaRPr lang="en-US"/>
          </a:p>
        </p:txBody>
      </p:sp>
      <p:sp>
        <p:nvSpPr>
          <p:cNvPr id="7" name="Slide Number Placeholder 6">
            <a:extLst>
              <a:ext uri="{FF2B5EF4-FFF2-40B4-BE49-F238E27FC236}">
                <a16:creationId xmlns:a16="http://schemas.microsoft.com/office/drawing/2014/main" id="{1370CA97-0205-11BA-4019-2B3D7BC998F8}"/>
              </a:ext>
            </a:extLst>
          </p:cNvPr>
          <p:cNvSpPr>
            <a:spLocks noGrp="1"/>
          </p:cNvSpPr>
          <p:nvPr>
            <p:ph type="sldNum" sz="quarter" idx="12"/>
          </p:nvPr>
        </p:nvSpPr>
        <p:spPr/>
        <p:txBody>
          <a:bodyPr/>
          <a:lstStyle/>
          <a:p>
            <a:fld id="{2435CAA8-A57F-4BB3-B57F-962D9E660ABB}" type="slidenum">
              <a:rPr lang="en-US" smtClean="0"/>
              <a:t>8</a:t>
            </a:fld>
            <a:endParaRPr lang="en-US"/>
          </a:p>
        </p:txBody>
      </p:sp>
    </p:spTree>
    <p:extLst>
      <p:ext uri="{BB962C8B-B14F-4D97-AF65-F5344CB8AC3E}">
        <p14:creationId xmlns:p14="http://schemas.microsoft.com/office/powerpoint/2010/main" val="487781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4694A-9BAA-58F2-D4CF-E9268284D874}"/>
            </a:ext>
          </a:extLst>
        </p:cNvPr>
        <p:cNvGrpSpPr/>
        <p:nvPr/>
      </p:nvGrpSpPr>
      <p:grpSpPr>
        <a:xfrm>
          <a:off x="0" y="0"/>
          <a:ext cx="0" cy="0"/>
          <a:chOff x="0" y="0"/>
          <a:chExt cx="0" cy="0"/>
        </a:xfrm>
      </p:grpSpPr>
      <p:sp>
        <p:nvSpPr>
          <p:cNvPr id="15" name="Oval 14">
            <a:extLst>
              <a:ext uri="{FF2B5EF4-FFF2-40B4-BE49-F238E27FC236}">
                <a16:creationId xmlns:a16="http://schemas.microsoft.com/office/drawing/2014/main" id="{20DB0F33-B6DA-93A2-8F8D-A4A7CA24B012}"/>
              </a:ext>
            </a:extLst>
          </p:cNvPr>
          <p:cNvSpPr/>
          <p:nvPr/>
        </p:nvSpPr>
        <p:spPr>
          <a:xfrm>
            <a:off x="8275412" y="5821943"/>
            <a:ext cx="1219200" cy="54077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Oval 15">
            <a:extLst>
              <a:ext uri="{FF2B5EF4-FFF2-40B4-BE49-F238E27FC236}">
                <a16:creationId xmlns:a16="http://schemas.microsoft.com/office/drawing/2014/main" id="{C0FD8DAB-33FA-BD47-2975-101273B82254}"/>
              </a:ext>
            </a:extLst>
          </p:cNvPr>
          <p:cNvSpPr/>
          <p:nvPr/>
        </p:nvSpPr>
        <p:spPr>
          <a:xfrm>
            <a:off x="9472936" y="5800600"/>
            <a:ext cx="1219200" cy="54077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Oval 20">
            <a:extLst>
              <a:ext uri="{FF2B5EF4-FFF2-40B4-BE49-F238E27FC236}">
                <a16:creationId xmlns:a16="http://schemas.microsoft.com/office/drawing/2014/main" id="{06A79BCA-9673-4991-903C-3995B1728C23}"/>
              </a:ext>
            </a:extLst>
          </p:cNvPr>
          <p:cNvSpPr/>
          <p:nvPr/>
        </p:nvSpPr>
        <p:spPr bwMode="auto">
          <a:xfrm rot="20506326">
            <a:off x="8152070" y="3202262"/>
            <a:ext cx="422837" cy="3057526"/>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27" name="Oval 26">
            <a:extLst>
              <a:ext uri="{FF2B5EF4-FFF2-40B4-BE49-F238E27FC236}">
                <a16:creationId xmlns:a16="http://schemas.microsoft.com/office/drawing/2014/main" id="{38DD1BAB-4AE6-8890-AC28-4AC6811ECCF4}"/>
              </a:ext>
            </a:extLst>
          </p:cNvPr>
          <p:cNvSpPr/>
          <p:nvPr/>
        </p:nvSpPr>
        <p:spPr bwMode="auto">
          <a:xfrm rot="19365490">
            <a:off x="8277513" y="3116989"/>
            <a:ext cx="422837" cy="1834536"/>
          </a:xfrm>
          <a:prstGeom prst="ellipse">
            <a:avLst/>
          </a:prstGeom>
          <a:solidFill>
            <a:schemeClr val="accent2">
              <a:lumMod val="60000"/>
              <a:lumOff val="40000"/>
              <a:alpha val="70000"/>
            </a:scheme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p:sp>
        <p:nvSpPr>
          <p:cNvPr id="29" name="Oval 28">
            <a:extLst>
              <a:ext uri="{FF2B5EF4-FFF2-40B4-BE49-F238E27FC236}">
                <a16:creationId xmlns:a16="http://schemas.microsoft.com/office/drawing/2014/main" id="{45EC7110-1B72-44EB-8903-463A131A5E14}"/>
              </a:ext>
            </a:extLst>
          </p:cNvPr>
          <p:cNvSpPr/>
          <p:nvPr/>
        </p:nvSpPr>
        <p:spPr bwMode="auto">
          <a:xfrm rot="21358668">
            <a:off x="9766159" y="3175439"/>
            <a:ext cx="422837" cy="2936201"/>
          </a:xfrm>
          <a:prstGeom prst="ellipse">
            <a:avLst/>
          </a:prstGeom>
          <a:solidFill>
            <a:srgbClr val="FAD22D">
              <a:alpha val="70000"/>
            </a:srgbClr>
          </a:solidFill>
          <a:ln w="12700" cap="flat" cmpd="sng" algn="ctr">
            <a:noFill/>
            <a:prstDash val="solid"/>
            <a:round/>
            <a:headEnd type="none" w="med" len="med"/>
            <a:tailEnd type="none" w="med" len="med"/>
          </a:ln>
          <a:effectLst/>
        </p:spPr>
        <p:txBody>
          <a:bodyPr rot="0" spcFirstLastPara="0" vert="horz" wrap="square" lIns="72000" tIns="36000" rIns="73152" bIns="36576"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0" indent="-180000" algn="l" defTabSz="914400" rtl="0" eaLnBrk="1" fontAlgn="auto" latinLnBrk="0" hangingPunct="1">
              <a:lnSpc>
                <a:spcPct val="100000"/>
              </a:lnSpc>
              <a:spcBef>
                <a:spcPts val="800"/>
              </a:spcBef>
              <a:spcAft>
                <a:spcPts val="0"/>
              </a:spcAft>
              <a:buClrTx/>
              <a:buSzTx/>
              <a:buFont typeface="Ericsson Hilda" panose="00000500000000000000" pitchFamily="2" charset="0"/>
              <a:buChar char="●"/>
              <a:tabLst/>
              <a:defRPr/>
            </a:pPr>
            <a:endParaRPr kumimoji="0" lang="en-US" sz="1800" b="0" i="0" u="none" strike="noStrike" kern="1200" cap="none" spc="0" normalizeH="0" baseline="0" noProof="0" err="1">
              <a:ln>
                <a:noFill/>
              </a:ln>
              <a:solidFill>
                <a:srgbClr val="FFFFFF"/>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EC9215C-EB08-457C-5B55-1DB4B9BCFFB3}"/>
                  </a:ext>
                </a:extLst>
              </p:cNvPr>
              <p:cNvSpPr txBox="1"/>
              <p:nvPr/>
            </p:nvSpPr>
            <p:spPr>
              <a:xfrm>
                <a:off x="7481297" y="2563422"/>
                <a:ext cx="1107996" cy="3916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𝑆</m:t>
                        </m:r>
                      </m:e>
                      <m:sub>
                        <m:r>
                          <a:rPr kumimoji="0" lang="fr-FR"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𝑗</m:t>
                        </m:r>
                      </m:sub>
                    </m:sSub>
                  </m:oMath>
                </a14:m>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mc:Choice>
        <mc:Fallback xmlns="">
          <p:sp>
            <p:nvSpPr>
              <p:cNvPr id="32" name="TextBox 31">
                <a:extLst>
                  <a:ext uri="{FF2B5EF4-FFF2-40B4-BE49-F238E27FC236}">
                    <a16:creationId xmlns:a16="http://schemas.microsoft.com/office/drawing/2014/main" id="{2EC9215C-EB08-457C-5B55-1DB4B9BCFFB3}"/>
                  </a:ext>
                </a:extLst>
              </p:cNvPr>
              <p:cNvSpPr txBox="1">
                <a:spLocks noRot="1" noChangeAspect="1" noMove="1" noResize="1" noEditPoints="1" noAdjustHandles="1" noChangeArrowheads="1" noChangeShapeType="1" noTextEdit="1"/>
              </p:cNvSpPr>
              <p:nvPr/>
            </p:nvSpPr>
            <p:spPr>
              <a:xfrm>
                <a:off x="7481297" y="2563422"/>
                <a:ext cx="1107996" cy="391646"/>
              </a:xfrm>
              <a:prstGeom prst="rect">
                <a:avLst/>
              </a:prstGeom>
              <a:blipFill>
                <a:blip r:embed="rId3"/>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1981611-EF1B-3E0E-8CF1-50FD9FC7739A}"/>
                  </a:ext>
                </a:extLst>
              </p:cNvPr>
              <p:cNvSpPr txBox="1"/>
              <p:nvPr/>
            </p:nvSpPr>
            <p:spPr>
              <a:xfrm>
                <a:off x="9838205" y="6403031"/>
                <a:ext cx="8531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Cell </a:t>
                </a:r>
                <a14:m>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mc:Choice>
        <mc:Fallback xmlns="">
          <p:sp>
            <p:nvSpPr>
              <p:cNvPr id="35" name="TextBox 34">
                <a:extLst>
                  <a:ext uri="{FF2B5EF4-FFF2-40B4-BE49-F238E27FC236}">
                    <a16:creationId xmlns:a16="http://schemas.microsoft.com/office/drawing/2014/main" id="{71981611-EF1B-3E0E-8CF1-50FD9FC7739A}"/>
                  </a:ext>
                </a:extLst>
              </p:cNvPr>
              <p:cNvSpPr txBox="1">
                <a:spLocks noRot="1" noChangeAspect="1" noMove="1" noResize="1" noEditPoints="1" noAdjustHandles="1" noChangeArrowheads="1" noChangeShapeType="1" noTextEdit="1"/>
              </p:cNvSpPr>
              <p:nvPr/>
            </p:nvSpPr>
            <p:spPr>
              <a:xfrm>
                <a:off x="9838205" y="6403031"/>
                <a:ext cx="853182" cy="369332"/>
              </a:xfrm>
              <a:prstGeom prst="rect">
                <a:avLst/>
              </a:prstGeom>
              <a:blipFill>
                <a:blip r:embed="rId4"/>
                <a:stretch>
                  <a:fillRect l="-6429"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1AE10A87-ADE6-17E5-0506-E6EB24D405A6}"/>
                  </a:ext>
                </a:extLst>
              </p:cNvPr>
              <p:cNvSpPr txBox="1"/>
              <p:nvPr/>
            </p:nvSpPr>
            <p:spPr>
              <a:xfrm>
                <a:off x="8466246" y="6384060"/>
                <a:ext cx="805413" cy="3916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Cell </a:t>
                </a:r>
                <a14:m>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oMath>
                </a14:m>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37" name="TextBox 36">
                <a:extLst>
                  <a:ext uri="{FF2B5EF4-FFF2-40B4-BE49-F238E27FC236}">
                    <a16:creationId xmlns:a16="http://schemas.microsoft.com/office/drawing/2014/main" id="{1AE10A87-ADE6-17E5-0506-E6EB24D405A6}"/>
                  </a:ext>
                </a:extLst>
              </p:cNvPr>
              <p:cNvSpPr txBox="1">
                <a:spLocks noRot="1" noChangeAspect="1" noMove="1" noResize="1" noEditPoints="1" noAdjustHandles="1" noChangeArrowheads="1" noChangeShapeType="1" noTextEdit="1"/>
              </p:cNvSpPr>
              <p:nvPr/>
            </p:nvSpPr>
            <p:spPr>
              <a:xfrm>
                <a:off x="8466246" y="6384060"/>
                <a:ext cx="805413" cy="391646"/>
              </a:xfrm>
              <a:prstGeom prst="rect">
                <a:avLst/>
              </a:prstGeom>
              <a:blipFill>
                <a:blip r:embed="rId5"/>
                <a:stretch>
                  <a:fillRect l="-6818" t="-4615"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AF326E9-D338-BE86-180D-000EC7C449C8}"/>
                  </a:ext>
                </a:extLst>
              </p:cNvPr>
              <p:cNvSpPr txBox="1"/>
              <p:nvPr/>
            </p:nvSpPr>
            <p:spPr>
              <a:xfrm>
                <a:off x="10691387" y="5066821"/>
                <a:ext cx="10054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Beam </a:t>
                </a:r>
                <a14:m>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39" name="TextBox 38">
                <a:extLst>
                  <a:ext uri="{FF2B5EF4-FFF2-40B4-BE49-F238E27FC236}">
                    <a16:creationId xmlns:a16="http://schemas.microsoft.com/office/drawing/2014/main" id="{8AF326E9-D338-BE86-180D-000EC7C449C8}"/>
                  </a:ext>
                </a:extLst>
              </p:cNvPr>
              <p:cNvSpPr txBox="1">
                <a:spLocks noRot="1" noChangeAspect="1" noMove="1" noResize="1" noEditPoints="1" noAdjustHandles="1" noChangeArrowheads="1" noChangeShapeType="1" noTextEdit="1"/>
              </p:cNvSpPr>
              <p:nvPr/>
            </p:nvSpPr>
            <p:spPr>
              <a:xfrm>
                <a:off x="10691387" y="5066821"/>
                <a:ext cx="1005403" cy="369332"/>
              </a:xfrm>
              <a:prstGeom prst="rect">
                <a:avLst/>
              </a:prstGeom>
              <a:blipFill>
                <a:blip r:embed="rId6"/>
                <a:stretch>
                  <a:fillRect l="-5455"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462728E-A129-4A3D-1DC3-99CF807B2040}"/>
                  </a:ext>
                </a:extLst>
              </p:cNvPr>
              <p:cNvSpPr txBox="1"/>
              <p:nvPr/>
            </p:nvSpPr>
            <p:spPr>
              <a:xfrm>
                <a:off x="6867981" y="5040048"/>
                <a:ext cx="1004121" cy="39164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Beam </a:t>
                </a:r>
                <a14:m>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Sub>
                  </m:oMath>
                </a14:m>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40" name="TextBox 39">
                <a:extLst>
                  <a:ext uri="{FF2B5EF4-FFF2-40B4-BE49-F238E27FC236}">
                    <a16:creationId xmlns:a16="http://schemas.microsoft.com/office/drawing/2014/main" id="{A462728E-A129-4A3D-1DC3-99CF807B2040}"/>
                  </a:ext>
                </a:extLst>
              </p:cNvPr>
              <p:cNvSpPr txBox="1">
                <a:spLocks noRot="1" noChangeAspect="1" noMove="1" noResize="1" noEditPoints="1" noAdjustHandles="1" noChangeArrowheads="1" noChangeShapeType="1" noTextEdit="1"/>
              </p:cNvSpPr>
              <p:nvPr/>
            </p:nvSpPr>
            <p:spPr>
              <a:xfrm>
                <a:off x="6867981" y="5040048"/>
                <a:ext cx="1004121" cy="391646"/>
              </a:xfrm>
              <a:prstGeom prst="rect">
                <a:avLst/>
              </a:prstGeom>
              <a:blipFill>
                <a:blip r:embed="rId7"/>
                <a:stretch>
                  <a:fillRect l="-5488" t="-6250" b="-21875"/>
                </a:stretch>
              </a:blipFill>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721EE545-5F36-1BBE-BA35-48F158E45BE5}"/>
              </a:ext>
            </a:extLst>
          </p:cNvPr>
          <p:cNvCxnSpPr>
            <a:cxnSpLocks/>
          </p:cNvCxnSpPr>
          <p:nvPr/>
        </p:nvCxnSpPr>
        <p:spPr>
          <a:xfrm flipV="1">
            <a:off x="7841623" y="5277593"/>
            <a:ext cx="492190" cy="11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CAFE5A7A-DF20-5730-DDB2-ED5D4B5E0D44}"/>
              </a:ext>
            </a:extLst>
          </p:cNvPr>
          <p:cNvCxnSpPr>
            <a:cxnSpLocks/>
          </p:cNvCxnSpPr>
          <p:nvPr/>
        </p:nvCxnSpPr>
        <p:spPr>
          <a:xfrm flipH="1">
            <a:off x="10240653" y="5264411"/>
            <a:ext cx="4931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Content Placeholder 47">
                <a:extLst>
                  <a:ext uri="{FF2B5EF4-FFF2-40B4-BE49-F238E27FC236}">
                    <a16:creationId xmlns:a16="http://schemas.microsoft.com/office/drawing/2014/main" id="{94429F3D-39F6-9596-914C-50089194377E}"/>
                  </a:ext>
                </a:extLst>
              </p:cNvPr>
              <p:cNvSpPr>
                <a:spLocks noGrp="1"/>
              </p:cNvSpPr>
              <p:nvPr>
                <p:ph idx="1"/>
              </p:nvPr>
            </p:nvSpPr>
            <p:spPr>
              <a:xfrm>
                <a:off x="396279" y="5190884"/>
                <a:ext cx="5574878" cy="1058322"/>
              </a:xfrm>
              <a:solidFill>
                <a:schemeClr val="accent6">
                  <a:lumMod val="20000"/>
                  <a:lumOff val="80000"/>
                </a:schemeClr>
              </a:solidFill>
            </p:spPr>
            <p:style>
              <a:lnRef idx="0">
                <a:schemeClr val="accent6"/>
              </a:lnRef>
              <a:fillRef idx="3">
                <a:schemeClr val="accent6"/>
              </a:fillRef>
              <a:effectRef idx="3">
                <a:schemeClr val="accent6"/>
              </a:effectRef>
              <a:fontRef idx="minor">
                <a:schemeClr val="lt1"/>
              </a:fontRef>
            </p:style>
            <p:txBody>
              <a:bodyPr>
                <a:normAutofit fontScale="92500" lnSpcReduction="10000"/>
              </a:bodyPr>
              <a:lstStyle/>
              <a:p>
                <a:endParaRPr lang="en-US" sz="1400" b="0" i="1" dirty="0">
                  <a:solidFill>
                    <a:schemeClr val="tx1"/>
                  </a:solidFill>
                  <a:latin typeface="+mj-lt"/>
                </a:endParaRPr>
              </a:p>
              <a:p>
                <a:pPr marL="0" indent="0">
                  <a:buNone/>
                </a:pPr>
                <a:r>
                  <a:rPr lang="en-US" sz="1400" b="1" i="1" dirty="0">
                    <a:solidFill>
                      <a:schemeClr val="tx1"/>
                    </a:solidFill>
                    <a:latin typeface="+mj-lt"/>
                  </a:rPr>
                  <a:t>Formula : Power received at cell </a:t>
                </a:r>
                <a:r>
                  <a:rPr lang="en-US" sz="1400" b="1" i="1" dirty="0" err="1">
                    <a:solidFill>
                      <a:schemeClr val="tx1"/>
                    </a:solidFill>
                    <a:latin typeface="+mj-lt"/>
                  </a:rPr>
                  <a:t>i</a:t>
                </a:r>
                <a:r>
                  <a:rPr lang="en-US" sz="1400" b="1" i="1" dirty="0">
                    <a:solidFill>
                      <a:schemeClr val="tx1"/>
                    </a:solidFill>
                    <a:latin typeface="+mj-lt"/>
                  </a:rPr>
                  <a:t> from beam j </a:t>
                </a:r>
              </a:p>
              <a:p>
                <a:pPr marL="0" indent="0">
                  <a:buNone/>
                </a:pPr>
                <a14:m>
                  <m:oMathPara xmlns:m="http://schemas.openxmlformats.org/officeDocument/2006/math">
                    <m:oMath>
                      <m:sSubSup>
                        <m:sSubSupPr>
                          <m:ctrlPr>
                            <a:rPr lang="fr-FR" sz="1400" b="1" i="1" smtClean="0">
                              <a:solidFill>
                                <a:schemeClr val="tx1"/>
                              </a:solidFill>
                              <a:latin typeface="Cambria Math" panose="02040503050406030204" pitchFamily="18" charset="0"/>
                            </a:rPr>
                          </m:ctrlPr>
                        </m:sSubSupPr>
                        <m:e>
                          <m:r>
                            <a:rPr lang="fr-FR" sz="1400" b="1" i="1" smtClean="0">
                              <a:solidFill>
                                <a:schemeClr val="tx1"/>
                              </a:solidFill>
                              <a:latin typeface="Cambria Math" panose="02040503050406030204" pitchFamily="18" charset="0"/>
                            </a:rPr>
                            <m:t>𝒑</m:t>
                          </m:r>
                        </m:e>
                        <m:sub>
                          <m:r>
                            <a:rPr lang="fr-FR" sz="1400" b="1" i="1" smtClean="0">
                              <a:solidFill>
                                <a:schemeClr val="tx1"/>
                              </a:solidFill>
                              <a:latin typeface="Cambria Math" panose="02040503050406030204" pitchFamily="18" charset="0"/>
                            </a:rPr>
                            <m:t>𝒊</m:t>
                          </m:r>
                          <m:r>
                            <a:rPr lang="fr-FR" sz="1400" b="1" i="1" smtClean="0">
                              <a:solidFill>
                                <a:schemeClr val="tx1"/>
                              </a:solidFill>
                              <a:latin typeface="Cambria Math" panose="02040503050406030204" pitchFamily="18" charset="0"/>
                            </a:rPr>
                            <m:t>,</m:t>
                          </m:r>
                          <m:r>
                            <a:rPr lang="fr-FR" sz="1400" b="1" i="1" smtClean="0">
                              <a:solidFill>
                                <a:schemeClr val="tx1"/>
                              </a:solidFill>
                              <a:latin typeface="Cambria Math" panose="02040503050406030204" pitchFamily="18" charset="0"/>
                            </a:rPr>
                            <m:t>𝒋</m:t>
                          </m:r>
                        </m:sub>
                        <m:sup>
                          <m:r>
                            <a:rPr lang="fr-FR" sz="1400" b="1" i="1" smtClean="0">
                              <a:solidFill>
                                <a:schemeClr val="tx1"/>
                              </a:solidFill>
                              <a:latin typeface="Cambria Math" panose="02040503050406030204" pitchFamily="18" charset="0"/>
                            </a:rPr>
                            <m:t>𝑹𝒙</m:t>
                          </m:r>
                        </m:sup>
                      </m:sSubSup>
                      <m:r>
                        <a:rPr lang="fr-FR" sz="1400" b="1" i="1" smtClean="0">
                          <a:solidFill>
                            <a:schemeClr val="tx1"/>
                          </a:solidFill>
                          <a:latin typeface="Cambria Math" panose="02040503050406030204" pitchFamily="18" charset="0"/>
                        </a:rPr>
                        <m:t>= </m:t>
                      </m:r>
                      <m:sSubSup>
                        <m:sSubSupPr>
                          <m:ctrlPr>
                            <a:rPr lang="fr-FR" sz="1400" b="1" i="1" smtClean="0">
                              <a:solidFill>
                                <a:schemeClr val="tx1"/>
                              </a:solidFill>
                              <a:latin typeface="Cambria Math" panose="02040503050406030204" pitchFamily="18" charset="0"/>
                            </a:rPr>
                          </m:ctrlPr>
                        </m:sSubSupPr>
                        <m:e>
                          <m:r>
                            <a:rPr lang="fr-FR" sz="1400" b="1" i="1" smtClean="0">
                              <a:solidFill>
                                <a:schemeClr val="tx1"/>
                              </a:solidFill>
                              <a:latin typeface="Cambria Math" panose="02040503050406030204" pitchFamily="18" charset="0"/>
                            </a:rPr>
                            <m:t>𝒑</m:t>
                          </m:r>
                        </m:e>
                        <m:sub>
                          <m:r>
                            <a:rPr lang="fr-FR" sz="1400" b="1" i="1" smtClean="0">
                              <a:solidFill>
                                <a:schemeClr val="tx1"/>
                              </a:solidFill>
                              <a:latin typeface="Cambria Math" panose="02040503050406030204" pitchFamily="18" charset="0"/>
                            </a:rPr>
                            <m:t>𝒋</m:t>
                          </m:r>
                        </m:sub>
                        <m:sup>
                          <m:r>
                            <a:rPr lang="fr-FR" sz="1400" b="1" i="1" smtClean="0">
                              <a:solidFill>
                                <a:schemeClr val="tx1"/>
                              </a:solidFill>
                              <a:latin typeface="Cambria Math" panose="02040503050406030204" pitchFamily="18" charset="0"/>
                            </a:rPr>
                            <m:t>𝑻𝒙</m:t>
                          </m:r>
                        </m:sup>
                      </m:sSubSup>
                      <m:r>
                        <a:rPr lang="fr-FR" sz="1400" b="1" i="1" smtClean="0">
                          <a:solidFill>
                            <a:schemeClr val="tx1"/>
                          </a:solidFill>
                          <a:latin typeface="Cambria Math" panose="02040503050406030204" pitchFamily="18" charset="0"/>
                        </a:rPr>
                        <m:t>. </m:t>
                      </m:r>
                      <m:sSubSup>
                        <m:sSubSupPr>
                          <m:ctrlPr>
                            <a:rPr lang="fr-FR" sz="1400" b="1" i="1" smtClean="0">
                              <a:solidFill>
                                <a:schemeClr val="tx1"/>
                              </a:solidFill>
                              <a:latin typeface="Cambria Math" panose="02040503050406030204" pitchFamily="18" charset="0"/>
                            </a:rPr>
                          </m:ctrlPr>
                        </m:sSubSupPr>
                        <m:e>
                          <m:r>
                            <a:rPr lang="fr-FR" sz="1400" b="1" i="1" smtClean="0">
                              <a:solidFill>
                                <a:schemeClr val="tx1"/>
                              </a:solidFill>
                              <a:latin typeface="Cambria Math" panose="02040503050406030204" pitchFamily="18" charset="0"/>
                            </a:rPr>
                            <m:t>𝒈</m:t>
                          </m:r>
                        </m:e>
                        <m:sub>
                          <m:r>
                            <a:rPr lang="fr-FR" sz="1400" b="1" i="1" smtClean="0">
                              <a:solidFill>
                                <a:schemeClr val="tx1"/>
                              </a:solidFill>
                              <a:latin typeface="Cambria Math" panose="02040503050406030204" pitchFamily="18" charset="0"/>
                            </a:rPr>
                            <m:t>𝒊</m:t>
                          </m:r>
                          <m:r>
                            <a:rPr lang="fr-FR" sz="1400" b="1" i="1" smtClean="0">
                              <a:solidFill>
                                <a:schemeClr val="tx1"/>
                              </a:solidFill>
                              <a:latin typeface="Cambria Math" panose="02040503050406030204" pitchFamily="18" charset="0"/>
                            </a:rPr>
                            <m:t>,</m:t>
                          </m:r>
                          <m:r>
                            <a:rPr lang="fr-FR" sz="1400" b="1" i="1" smtClean="0">
                              <a:solidFill>
                                <a:schemeClr val="tx1"/>
                              </a:solidFill>
                              <a:latin typeface="Cambria Math" panose="02040503050406030204" pitchFamily="18" charset="0"/>
                            </a:rPr>
                            <m:t>𝒋</m:t>
                          </m:r>
                        </m:sub>
                        <m:sup>
                          <m:r>
                            <a:rPr lang="fr-FR" sz="1400" b="1" i="1" smtClean="0">
                              <a:solidFill>
                                <a:schemeClr val="tx1"/>
                              </a:solidFill>
                              <a:latin typeface="Cambria Math" panose="02040503050406030204" pitchFamily="18" charset="0"/>
                            </a:rPr>
                            <m:t>𝑻𝒙</m:t>
                          </m:r>
                        </m:sup>
                      </m:sSubSup>
                      <m:r>
                        <a:rPr lang="fr-FR" sz="1400" b="1" i="1" smtClean="0">
                          <a:solidFill>
                            <a:schemeClr val="tx1"/>
                          </a:solidFill>
                          <a:latin typeface="Cambria Math" panose="02040503050406030204" pitchFamily="18" charset="0"/>
                        </a:rPr>
                        <m:t>. </m:t>
                      </m:r>
                      <m:sSubSup>
                        <m:sSubSupPr>
                          <m:ctrlPr>
                            <a:rPr lang="fr-FR" sz="1400" b="1" i="1" smtClean="0">
                              <a:solidFill>
                                <a:schemeClr val="tx1"/>
                              </a:solidFill>
                              <a:latin typeface="Cambria Math" panose="02040503050406030204" pitchFamily="18" charset="0"/>
                            </a:rPr>
                          </m:ctrlPr>
                        </m:sSubSupPr>
                        <m:e>
                          <m:r>
                            <a:rPr lang="fr-FR" sz="1400" b="1" i="1" smtClean="0">
                              <a:solidFill>
                                <a:schemeClr val="tx1"/>
                              </a:solidFill>
                              <a:latin typeface="Cambria Math" panose="02040503050406030204" pitchFamily="18" charset="0"/>
                            </a:rPr>
                            <m:t>𝒈</m:t>
                          </m:r>
                        </m:e>
                        <m:sub>
                          <m:r>
                            <a:rPr lang="fr-FR" sz="1400" b="1" i="1" smtClean="0">
                              <a:solidFill>
                                <a:schemeClr val="tx1"/>
                              </a:solidFill>
                              <a:latin typeface="Cambria Math" panose="02040503050406030204" pitchFamily="18" charset="0"/>
                            </a:rPr>
                            <m:t>𝒊</m:t>
                          </m:r>
                        </m:sub>
                        <m:sup>
                          <m:r>
                            <a:rPr lang="fr-FR" sz="1400" b="1" i="1" smtClean="0">
                              <a:solidFill>
                                <a:schemeClr val="tx1"/>
                              </a:solidFill>
                              <a:latin typeface="Cambria Math" panose="02040503050406030204" pitchFamily="18" charset="0"/>
                            </a:rPr>
                            <m:t>𝑹𝒙</m:t>
                          </m:r>
                        </m:sup>
                      </m:sSubSup>
                      <m:r>
                        <a:rPr lang="fr-FR" sz="1400" b="1" i="1" smtClean="0">
                          <a:solidFill>
                            <a:schemeClr val="tx1"/>
                          </a:solidFill>
                          <a:latin typeface="Cambria Math" panose="02040503050406030204" pitchFamily="18" charset="0"/>
                        </a:rPr>
                        <m:t>. </m:t>
                      </m:r>
                      <m:sSup>
                        <m:sSupPr>
                          <m:ctrlPr>
                            <a:rPr lang="fr-FR" sz="1400" b="1" i="1" smtClean="0">
                              <a:solidFill>
                                <a:schemeClr val="tx1"/>
                              </a:solidFill>
                              <a:latin typeface="Cambria Math" panose="02040503050406030204" pitchFamily="18" charset="0"/>
                            </a:rPr>
                          </m:ctrlPr>
                        </m:sSupPr>
                        <m:e>
                          <m:d>
                            <m:dPr>
                              <m:ctrlPr>
                                <a:rPr lang="fr-FR" sz="1400" b="1" i="1" smtClean="0">
                                  <a:solidFill>
                                    <a:schemeClr val="tx1"/>
                                  </a:solidFill>
                                  <a:latin typeface="Cambria Math" panose="02040503050406030204" pitchFamily="18" charset="0"/>
                                </a:rPr>
                              </m:ctrlPr>
                            </m:dPr>
                            <m:e>
                              <m:f>
                                <m:fPr>
                                  <m:ctrlPr>
                                    <a:rPr lang="fr-FR" sz="1400" b="1" i="1" smtClean="0">
                                      <a:solidFill>
                                        <a:schemeClr val="tx1"/>
                                      </a:solidFill>
                                      <a:latin typeface="Cambria Math" panose="02040503050406030204" pitchFamily="18" charset="0"/>
                                    </a:rPr>
                                  </m:ctrlPr>
                                </m:fPr>
                                <m:num>
                                  <m:r>
                                    <a:rPr lang="fr-FR" sz="1400" b="1" i="1" smtClean="0">
                                      <a:solidFill>
                                        <a:schemeClr val="tx1"/>
                                      </a:solidFill>
                                      <a:latin typeface="Cambria Math" panose="02040503050406030204" pitchFamily="18" charset="0"/>
                                    </a:rPr>
                                    <m:t>𝝀</m:t>
                                  </m:r>
                                </m:num>
                                <m:den>
                                  <m:r>
                                    <a:rPr lang="fr-FR" sz="1400" b="1" i="1" smtClean="0">
                                      <a:solidFill>
                                        <a:schemeClr val="tx1"/>
                                      </a:solidFill>
                                      <a:latin typeface="Cambria Math" panose="02040503050406030204" pitchFamily="18" charset="0"/>
                                    </a:rPr>
                                    <m:t>𝟒</m:t>
                                  </m:r>
                                  <m:r>
                                    <a:rPr lang="fr-FR" sz="1400" b="1" i="1" smtClean="0">
                                      <a:solidFill>
                                        <a:schemeClr val="tx1"/>
                                      </a:solidFill>
                                      <a:latin typeface="Cambria Math" panose="02040503050406030204" pitchFamily="18" charset="0"/>
                                    </a:rPr>
                                    <m:t> </m:t>
                                  </m:r>
                                  <m:r>
                                    <a:rPr lang="fr-FR" sz="1400" b="1" i="1" smtClean="0">
                                      <a:solidFill>
                                        <a:schemeClr val="tx1"/>
                                      </a:solidFill>
                                      <a:latin typeface="Cambria Math" panose="02040503050406030204" pitchFamily="18" charset="0"/>
                                    </a:rPr>
                                    <m:t>𝝅</m:t>
                                  </m:r>
                                  <m:r>
                                    <a:rPr lang="fr-FR" sz="1400" b="1" i="1" smtClean="0">
                                      <a:solidFill>
                                        <a:schemeClr val="tx1"/>
                                      </a:solidFill>
                                      <a:latin typeface="Cambria Math" panose="02040503050406030204" pitchFamily="18" charset="0"/>
                                    </a:rPr>
                                    <m:t> </m:t>
                                  </m:r>
                                  <m:d>
                                    <m:dPr>
                                      <m:begChr m:val="|"/>
                                      <m:endChr m:val="|"/>
                                      <m:ctrlPr>
                                        <a:rPr lang="fr-FR" sz="1400" b="1" i="1" smtClean="0">
                                          <a:solidFill>
                                            <a:schemeClr val="tx1"/>
                                          </a:solidFill>
                                          <a:latin typeface="Cambria Math" panose="02040503050406030204" pitchFamily="18" charset="0"/>
                                        </a:rPr>
                                      </m:ctrlPr>
                                    </m:dPr>
                                    <m:e>
                                      <m:d>
                                        <m:dPr>
                                          <m:begChr m:val="|"/>
                                          <m:endChr m:val="|"/>
                                          <m:ctrlPr>
                                            <a:rPr lang="fr-FR" sz="1400" b="1" i="1" smtClean="0">
                                              <a:solidFill>
                                                <a:schemeClr val="tx1"/>
                                              </a:solidFill>
                                              <a:latin typeface="Cambria Math" panose="02040503050406030204" pitchFamily="18" charset="0"/>
                                            </a:rPr>
                                          </m:ctrlPr>
                                        </m:dPr>
                                        <m:e>
                                          <m:sSub>
                                            <m:sSubPr>
                                              <m:ctrlPr>
                                                <a:rPr lang="fr-FR" sz="1400" b="1" i="1" smtClean="0">
                                                  <a:solidFill>
                                                    <a:schemeClr val="tx1"/>
                                                  </a:solidFill>
                                                  <a:latin typeface="Cambria Math" panose="02040503050406030204" pitchFamily="18" charset="0"/>
                                                </a:rPr>
                                              </m:ctrlPr>
                                            </m:sSubPr>
                                            <m:e>
                                              <m:r>
                                                <a:rPr lang="fr-FR" sz="1400" b="1" i="1" smtClean="0">
                                                  <a:solidFill>
                                                    <a:schemeClr val="tx1"/>
                                                  </a:solidFill>
                                                  <a:latin typeface="Cambria Math" panose="02040503050406030204" pitchFamily="18" charset="0"/>
                                                </a:rPr>
                                                <m:t>𝑺</m:t>
                                              </m:r>
                                            </m:e>
                                            <m:sub>
                                              <m:r>
                                                <a:rPr lang="fr-FR" sz="1400" b="1" i="1" smtClean="0">
                                                  <a:solidFill>
                                                    <a:schemeClr val="tx1"/>
                                                  </a:solidFill>
                                                  <a:latin typeface="Cambria Math" panose="02040503050406030204" pitchFamily="18" charset="0"/>
                                                </a:rPr>
                                                <m:t>𝒋</m:t>
                                              </m:r>
                                            </m:sub>
                                          </m:sSub>
                                          <m:r>
                                            <a:rPr lang="fr-FR" sz="1400" b="1" i="1" smtClean="0">
                                              <a:solidFill>
                                                <a:schemeClr val="tx1"/>
                                              </a:solidFill>
                                              <a:latin typeface="Cambria Math" panose="02040503050406030204" pitchFamily="18" charset="0"/>
                                            </a:rPr>
                                            <m:t>−</m:t>
                                          </m:r>
                                          <m:sSub>
                                            <m:sSubPr>
                                              <m:ctrlPr>
                                                <a:rPr lang="fr-FR" sz="1400" b="1" i="1" smtClean="0">
                                                  <a:solidFill>
                                                    <a:schemeClr val="tx1"/>
                                                  </a:solidFill>
                                                  <a:latin typeface="Cambria Math" panose="02040503050406030204" pitchFamily="18" charset="0"/>
                                                </a:rPr>
                                              </m:ctrlPr>
                                            </m:sSubPr>
                                            <m:e>
                                              <m:r>
                                                <a:rPr lang="fr-FR" sz="1400" b="1" i="1" smtClean="0">
                                                  <a:solidFill>
                                                    <a:schemeClr val="tx1"/>
                                                  </a:solidFill>
                                                  <a:latin typeface="Cambria Math" panose="02040503050406030204" pitchFamily="18" charset="0"/>
                                                </a:rPr>
                                                <m:t>𝑶</m:t>
                                              </m:r>
                                            </m:e>
                                            <m:sub>
                                              <m:r>
                                                <a:rPr lang="fr-FR" sz="1400" b="1" i="1" smtClean="0">
                                                  <a:solidFill>
                                                    <a:schemeClr val="tx1"/>
                                                  </a:solidFill>
                                                  <a:latin typeface="Cambria Math" panose="02040503050406030204" pitchFamily="18" charset="0"/>
                                                </a:rPr>
                                                <m:t>𝒋</m:t>
                                              </m:r>
                                            </m:sub>
                                          </m:sSub>
                                        </m:e>
                                      </m:d>
                                    </m:e>
                                  </m:d>
                                </m:den>
                              </m:f>
                            </m:e>
                          </m:d>
                        </m:e>
                        <m:sup>
                          <m:r>
                            <a:rPr lang="fr-FR" sz="1400" b="1" i="1" smtClean="0">
                              <a:solidFill>
                                <a:schemeClr val="tx1"/>
                              </a:solidFill>
                              <a:latin typeface="Cambria Math" panose="02040503050406030204" pitchFamily="18" charset="0"/>
                            </a:rPr>
                            <m:t>𝟐</m:t>
                          </m:r>
                        </m:sup>
                      </m:sSup>
                    </m:oMath>
                  </m:oMathPara>
                </a14:m>
                <a:endParaRPr lang="en-US" sz="1400" b="1" i="1" dirty="0">
                  <a:solidFill>
                    <a:schemeClr val="tx1"/>
                  </a:solidFill>
                  <a:latin typeface="+mj-lt"/>
                </a:endParaRPr>
              </a:p>
            </p:txBody>
          </p:sp>
        </mc:Choice>
        <mc:Fallback xmlns="">
          <p:sp>
            <p:nvSpPr>
              <p:cNvPr id="48" name="Content Placeholder 47">
                <a:extLst>
                  <a:ext uri="{FF2B5EF4-FFF2-40B4-BE49-F238E27FC236}">
                    <a16:creationId xmlns:a16="http://schemas.microsoft.com/office/drawing/2014/main" id="{94429F3D-39F6-9596-914C-50089194377E}"/>
                  </a:ext>
                </a:extLst>
              </p:cNvPr>
              <p:cNvSpPr>
                <a:spLocks noGrp="1" noRot="1" noChangeAspect="1" noMove="1" noResize="1" noEditPoints="1" noAdjustHandles="1" noChangeArrowheads="1" noChangeShapeType="1" noTextEdit="1"/>
              </p:cNvSpPr>
              <p:nvPr>
                <p:ph idx="1"/>
              </p:nvPr>
            </p:nvSpPr>
            <p:spPr>
              <a:xfrm>
                <a:off x="396279" y="5190884"/>
                <a:ext cx="5574878" cy="1058322"/>
              </a:xfrm>
              <a:blipFill>
                <a:blip r:embed="rId8"/>
                <a:stretch>
                  <a:fillRect/>
                </a:stretch>
              </a:blipFill>
            </p:spPr>
            <p:txBody>
              <a:bodyPr/>
              <a:lstStyle/>
              <a:p>
                <a:r>
                  <a:rPr lang="en-US">
                    <a:noFill/>
                  </a:rPr>
                  <a:t> </a:t>
                </a:r>
              </a:p>
            </p:txBody>
          </p:sp>
        </mc:Fallback>
      </mc:AlternateContent>
      <p:cxnSp>
        <p:nvCxnSpPr>
          <p:cNvPr id="55" name="Straight Connector 54">
            <a:extLst>
              <a:ext uri="{FF2B5EF4-FFF2-40B4-BE49-F238E27FC236}">
                <a16:creationId xmlns:a16="http://schemas.microsoft.com/office/drawing/2014/main" id="{76B7ED1E-D07E-BC20-D241-6C1953B8A253}"/>
              </a:ext>
            </a:extLst>
          </p:cNvPr>
          <p:cNvCxnSpPr>
            <a:cxnSpLocks/>
            <a:endCxn id="29" idx="4"/>
          </p:cNvCxnSpPr>
          <p:nvPr/>
        </p:nvCxnSpPr>
        <p:spPr>
          <a:xfrm>
            <a:off x="9851244" y="3234999"/>
            <a:ext cx="229311" cy="2873025"/>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6" name="Graphic 96">
            <a:extLst>
              <a:ext uri="{FF2B5EF4-FFF2-40B4-BE49-F238E27FC236}">
                <a16:creationId xmlns:a16="http://schemas.microsoft.com/office/drawing/2014/main" id="{77CF7819-7662-98DF-E45A-F7087290D9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9485111" y="2863828"/>
            <a:ext cx="706189" cy="724142"/>
          </a:xfrm>
          <a:prstGeom prst="rect">
            <a:avLst/>
          </a:prstGeom>
        </p:spPr>
      </p:pic>
      <mc:AlternateContent xmlns:mc="http://schemas.openxmlformats.org/markup-compatibility/2006">
        <mc:Choice xmlns:a14="http://schemas.microsoft.com/office/drawing/2010/main" Requires="a14">
          <p:sp>
            <p:nvSpPr>
              <p:cNvPr id="3" name="Content Placeholder 47">
                <a:extLst>
                  <a:ext uri="{FF2B5EF4-FFF2-40B4-BE49-F238E27FC236}">
                    <a16:creationId xmlns:a16="http://schemas.microsoft.com/office/drawing/2014/main" id="{9E47D806-29AD-26AE-7789-A7DF7D9BAC62}"/>
                  </a:ext>
                </a:extLst>
              </p:cNvPr>
              <p:cNvSpPr txBox="1">
                <a:spLocks/>
              </p:cNvSpPr>
              <p:nvPr/>
            </p:nvSpPr>
            <p:spPr>
              <a:xfrm>
                <a:off x="399898" y="107216"/>
                <a:ext cx="5729704" cy="4959606"/>
              </a:xfrm>
              <a:prstGeom prst="rect">
                <a:avLst/>
              </a:prstGeom>
              <a:solidFill>
                <a:schemeClr val="accent2">
                  <a:lumMod val="40000"/>
                  <a:lumOff val="60000"/>
                </a:schemeClr>
              </a:solidFill>
            </p:spPr>
            <p:style>
              <a:lnRef idx="0">
                <a:schemeClr val="accent5"/>
              </a:lnRef>
              <a:fillRef idx="3">
                <a:schemeClr val="accent5"/>
              </a:fillRef>
              <a:effectRef idx="3">
                <a:schemeClr val="accent5"/>
              </a:effectRef>
              <a:fontRef idx="minor">
                <a:schemeClr val="lt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Notations :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14:m>
                  <m:oMath xmlns:m="http://schemas.openxmlformats.org/officeDocument/2006/math">
                    <m:sSub>
                      <m:sSubPr>
                        <m:ctrl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c</m:t>
                        </m:r>
                      </m:e>
                      <m:sub>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i</m:t>
                        </m:r>
                      </m:sub>
                    </m:sSub>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cell</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i</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endParaRPr kumimoji="0" lang="en-US" sz="1400" b="0" i="0" u="none" strike="noStrike" kern="1200" cap="none" spc="0" normalizeH="0" baseline="0" noProof="0" dirty="0">
                  <a:ln>
                    <a:noFill/>
                  </a:ln>
                  <a:solidFill>
                    <a:prstClr val="black"/>
                  </a:solidFill>
                  <a:effectLst/>
                  <a:uLnTx/>
                  <a:uFillTx/>
                  <a:latin typeface="Aptos Black" panose="020F0502020204030204" pitchFamily="34"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14:m>
                  <m:oMath xmlns:m="http://schemas.openxmlformats.org/officeDocument/2006/math">
                    <m:sSub>
                      <m:sSub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beam</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serving</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cell</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sSub>
                      <m:sSubPr>
                        <m:ctrl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c</m:t>
                        </m:r>
                      </m:e>
                      <m:sub>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i</m:t>
                        </m:r>
                      </m:sub>
                    </m:sSub>
                  </m:oMath>
                </a14:m>
                <a:endParaRPr kumimoji="0" lang="en-US" sz="1400" b="0" i="0" u="none" strike="noStrike" kern="1200" cap="none" spc="0" normalizeH="0" baseline="0" noProof="0" dirty="0">
                  <a:ln>
                    <a:noFill/>
                  </a:ln>
                  <a:solidFill>
                    <a:prstClr val="black"/>
                  </a:solidFill>
                  <a:effectLst/>
                  <a:uLnTx/>
                  <a:uFillTx/>
                  <a:latin typeface="Aptos Black" panose="020F0502020204030204" pitchFamily="34"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14:m>
                  <m:oMath xmlns:m="http://schemas.openxmlformats.org/officeDocument/2006/math">
                    <m:sSub>
                      <m:sSubPr>
                        <m:ctrl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S</m:t>
                        </m:r>
                      </m:e>
                      <m:sub>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k</m:t>
                        </m:r>
                      </m:sub>
                    </m:sSub>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satellite</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k</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endParaRPr kumimoji="0" lang="en-US" sz="1400" b="0" i="0" u="none" strike="noStrike" kern="1200" cap="none" spc="0" normalizeH="0" baseline="0" noProof="0" dirty="0">
                  <a:ln>
                    <a:noFill/>
                  </a:ln>
                  <a:solidFill>
                    <a:prstClr val="black"/>
                  </a:solidFill>
                  <a:effectLst/>
                  <a:uLnTx/>
                  <a:uFillTx/>
                  <a:latin typeface="Aptos Black" panose="020F0502020204030204" pitchFamily="34"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14:m>
                  <m:oMath xmlns:m="http://schemas.openxmlformats.org/officeDocument/2006/math">
                    <m:sSubSup>
                      <m:sSubSupPr>
                        <m:ctrlP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e>
                      <m:sub>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up>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𝑇𝑥</m:t>
                        </m:r>
                      </m:sup>
                    </m:sSubSup>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Beam</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j</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transmission</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power</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d>
                      <m:dPr>
                        <m:ctrl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assumed</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to</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be</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equal</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for</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every</m:t>
                        </m:r>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beam</m:t>
                        </m:r>
                      </m:e>
                    </m:d>
                  </m:oMath>
                </a14:m>
                <a:endParaRPr kumimoji="0" lang="en-US" sz="1400" b="0" i="0" u="none" strike="noStrike" kern="1200" cap="none" spc="0" normalizeH="0" baseline="0" noProof="0" dirty="0">
                  <a:ln>
                    <a:noFill/>
                  </a:ln>
                  <a:solidFill>
                    <a:prstClr val="black"/>
                  </a:solidFill>
                  <a:effectLst/>
                  <a:uLnTx/>
                  <a:uFillTx/>
                  <a:latin typeface="Aptos Black" panose="020F0502020204030204" pitchFamily="34"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14:m>
                  <m:oMath xmlns:m="http://schemas.openxmlformats.org/officeDocument/2006/math">
                    <m:sSubSup>
                      <m:sSubSupPr>
                        <m:ctrlP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𝑔</m:t>
                        </m:r>
                      </m:e>
                      <m:sub>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sub>
                      <m:sup>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𝑇𝑥</m:t>
                        </m:r>
                      </m:sup>
                    </m:sSubSup>
                    <m:r>
                      <a:rPr kumimoji="0" lang="en-US"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Antenna</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gain</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of</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beam</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j</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towards</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cell</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i</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en-US" sz="1400" b="0" i="0" u="none" strike="noStrike" kern="1200" cap="none" spc="0" normalizeH="0" baseline="0" noProof="0" dirty="0">
                    <a:ln>
                      <a:noFill/>
                    </a:ln>
                    <a:solidFill>
                      <a:prstClr val="black"/>
                    </a:solidFill>
                    <a:effectLst/>
                    <a:uLnTx/>
                    <a:uFillTx/>
                    <a:latin typeface="Aptos Black" panose="020F0502020204030204" pitchFamily="34" charset="0"/>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14:m>
                  <m:oMath xmlns:m="http://schemas.openxmlformats.org/officeDocument/2006/math">
                    <m:sSubSup>
                      <m:sSubSupPr>
                        <m:ctrlP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𝑔</m:t>
                        </m:r>
                      </m:e>
                      <m:sub>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up>
                        <m:r>
                          <a:rPr kumimoji="0" lang="fr-FR"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𝑅𝑥</m:t>
                        </m:r>
                      </m:sup>
                    </m:sSubSup>
                    <m:r>
                      <a:rPr kumimoji="0" lang="en-US" sz="14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the</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received</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antenna</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gain</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d>
                      <m:dPr>
                        <m:ctrl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assumed</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identical</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for</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all</m:t>
                        </m:r>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users</m:t>
                        </m:r>
                      </m:e>
                    </m:d>
                  </m:oMath>
                </a14:m>
                <a:endParaRPr kumimoji="0" lang="fr-FR" sz="14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fr-FR" sz="1400" dirty="0">
                    <a:solidFill>
                      <a:prstClr val="black"/>
                    </a:solidFill>
                    <a:latin typeface="Cambria Math" panose="02040503050406030204" pitchFamily="18" charset="0"/>
                  </a:rPr>
                  <a:t>In 3GPP, the </a:t>
                </a:r>
                <a:r>
                  <a:rPr lang="fr-FR" sz="1400" dirty="0" err="1">
                    <a:solidFill>
                      <a:prstClr val="black"/>
                    </a:solidFill>
                    <a:latin typeface="Cambria Math" panose="02040503050406030204" pitchFamily="18" charset="0"/>
                  </a:rPr>
                  <a:t>antenna</a:t>
                </a:r>
                <a:r>
                  <a:rPr lang="fr-FR" sz="1400" dirty="0">
                    <a:solidFill>
                      <a:prstClr val="black"/>
                    </a:solidFill>
                    <a:latin typeface="Cambria Math" panose="02040503050406030204" pitchFamily="18" charset="0"/>
                  </a:rPr>
                  <a:t> gain for a </a:t>
                </a:r>
                <a:r>
                  <a:rPr lang="fr-FR" sz="1400" dirty="0" err="1">
                    <a:solidFill>
                      <a:prstClr val="black"/>
                    </a:solidFill>
                    <a:latin typeface="Cambria Math" panose="02040503050406030204" pitchFamily="18" charset="0"/>
                  </a:rPr>
                  <a:t>reflector</a:t>
                </a:r>
                <a:r>
                  <a:rPr lang="fr-FR" sz="1400" dirty="0">
                    <a:solidFill>
                      <a:prstClr val="black"/>
                    </a:solidFill>
                    <a:latin typeface="Cambria Math" panose="02040503050406030204" pitchFamily="18" charset="0"/>
                  </a:rPr>
                  <a:t> </a:t>
                </a:r>
                <a:r>
                  <a:rPr lang="fr-FR" sz="1400" dirty="0" err="1">
                    <a:solidFill>
                      <a:prstClr val="black"/>
                    </a:solidFill>
                    <a:latin typeface="Cambria Math" panose="02040503050406030204" pitchFamily="18" charset="0"/>
                  </a:rPr>
                  <a:t>with</a:t>
                </a:r>
                <a:r>
                  <a:rPr lang="fr-FR" sz="1400" dirty="0">
                    <a:solidFill>
                      <a:prstClr val="black"/>
                    </a:solidFill>
                    <a:latin typeface="Cambria Math" panose="02040503050406030204" pitchFamily="18" charset="0"/>
                  </a:rPr>
                  <a:t> </a:t>
                </a:r>
                <a:r>
                  <a:rPr lang="fr-FR" sz="1400" dirty="0" err="1">
                    <a:solidFill>
                      <a:prstClr val="black"/>
                    </a:solidFill>
                    <a:latin typeface="Cambria Math" panose="02040503050406030204" pitchFamily="18" charset="0"/>
                  </a:rPr>
                  <a:t>circular</a:t>
                </a:r>
                <a:r>
                  <a:rPr lang="fr-FR" sz="1400" dirty="0">
                    <a:solidFill>
                      <a:prstClr val="black"/>
                    </a:solidFill>
                    <a:latin typeface="Cambria Math" panose="02040503050406030204" pitchFamily="18" charset="0"/>
                  </a:rPr>
                  <a:t> aperture </a:t>
                </a:r>
                <a:r>
                  <a:rPr lang="fr-FR" sz="1400" dirty="0" err="1">
                    <a:solidFill>
                      <a:prstClr val="black"/>
                    </a:solidFill>
                    <a:latin typeface="Cambria Math" panose="02040503050406030204" pitchFamily="18" charset="0"/>
                  </a:rPr>
                  <a:t>is</a:t>
                </a:r>
                <a:r>
                  <a:rPr lang="fr-FR" sz="1400" dirty="0">
                    <a:solidFill>
                      <a:prstClr val="black"/>
                    </a:solidFill>
                    <a:latin typeface="Cambria Math" panose="02040503050406030204" pitchFamily="18" charset="0"/>
                  </a:rPr>
                  <a:t> </a:t>
                </a:r>
                <a:r>
                  <a:rPr lang="fr-FR" sz="1400" dirty="0" err="1">
                    <a:solidFill>
                      <a:prstClr val="black"/>
                    </a:solidFill>
                    <a:latin typeface="Cambria Math" panose="02040503050406030204" pitchFamily="18" charset="0"/>
                  </a:rPr>
                  <a:t>given</a:t>
                </a:r>
                <a:r>
                  <a:rPr lang="fr-FR" sz="1400" dirty="0">
                    <a:solidFill>
                      <a:prstClr val="black"/>
                    </a:solidFill>
                    <a:latin typeface="Cambria Math" panose="02040503050406030204" pitchFamily="18" charset="0"/>
                  </a:rPr>
                  <a:t> by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fr-FR" sz="1400" dirty="0">
                  <a:solidFill>
                    <a:prstClr val="black"/>
                  </a:solidFill>
                  <a:latin typeface="Cambria Math" panose="020405030504060302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fr-FR" sz="1400" dirty="0">
                  <a:solidFill>
                    <a:prstClr val="black"/>
                  </a:solidFill>
                  <a:latin typeface="Cambria Math" panose="02040503050406030204" pitchFamily="18" charset="0"/>
                </a:endParaRPr>
              </a:p>
              <a:p>
                <a:pPr>
                  <a:defRPr/>
                </a:pPr>
                <a:r>
                  <a:rPr lang="fr-FR" sz="1400" dirty="0">
                    <a:solidFill>
                      <a:prstClr val="black"/>
                    </a:solidFill>
                    <a:latin typeface="Cambria Math" panose="02040503050406030204" pitchFamily="18" charset="0"/>
                  </a:rPr>
                  <a:t>Where : </a:t>
                </a:r>
                <a:br>
                  <a:rPr lang="fr-FR" sz="1400" dirty="0">
                    <a:solidFill>
                      <a:prstClr val="black"/>
                    </a:solidFill>
                    <a:latin typeface="Cambria Math" panose="02040503050406030204" pitchFamily="18" charset="0"/>
                  </a:rPr>
                </a:br>
                <a14:m>
                  <m:oMath xmlns:m="http://schemas.openxmlformats.org/officeDocument/2006/math">
                    <m:sSub>
                      <m:sSubPr>
                        <m:ctrlPr>
                          <a:rPr lang="fr-FR" sz="1400" b="0" i="1" smtClean="0">
                            <a:solidFill>
                              <a:prstClr val="black"/>
                            </a:solidFill>
                            <a:latin typeface="Cambria Math" panose="02040503050406030204" pitchFamily="18" charset="0"/>
                          </a:rPr>
                        </m:ctrlPr>
                      </m:sSubPr>
                      <m:e>
                        <m:r>
                          <a:rPr lang="fr-FR" sz="1400" b="0" i="1" smtClean="0">
                            <a:solidFill>
                              <a:prstClr val="black"/>
                            </a:solidFill>
                            <a:latin typeface="Cambria Math" panose="02040503050406030204" pitchFamily="18" charset="0"/>
                          </a:rPr>
                          <m:t>𝐽</m:t>
                        </m:r>
                      </m:e>
                      <m:sub>
                        <m:r>
                          <a:rPr lang="fr-FR" sz="1400" b="0" i="1" smtClean="0">
                            <a:solidFill>
                              <a:prstClr val="black"/>
                            </a:solidFill>
                            <a:latin typeface="Cambria Math" panose="02040503050406030204" pitchFamily="18" charset="0"/>
                          </a:rPr>
                          <m:t>1</m:t>
                        </m:r>
                      </m:sub>
                    </m:sSub>
                    <m:d>
                      <m:dPr>
                        <m:ctrlPr>
                          <a:rPr lang="fr-FR" sz="1400" b="0" i="1" smtClean="0">
                            <a:solidFill>
                              <a:prstClr val="black"/>
                            </a:solidFill>
                            <a:latin typeface="Cambria Math" panose="02040503050406030204" pitchFamily="18" charset="0"/>
                          </a:rPr>
                        </m:ctrlPr>
                      </m:dPr>
                      <m:e>
                        <m:r>
                          <a:rPr lang="fr-FR" sz="1400" b="0" i="1" smtClean="0">
                            <a:solidFill>
                              <a:prstClr val="black"/>
                            </a:solidFill>
                            <a:latin typeface="Cambria Math" panose="02040503050406030204" pitchFamily="18" charset="0"/>
                          </a:rPr>
                          <m:t>.</m:t>
                        </m:r>
                      </m:e>
                    </m:d>
                    <m:r>
                      <a:rPr lang="fr-FR" sz="1400" b="0" i="1"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denotes</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the</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Bessel</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function</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of</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the</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first</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kind</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and</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first</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order</m:t>
                    </m:r>
                  </m:oMath>
                </a14:m>
                <a:endParaRPr lang="fr-FR" sz="1400" b="0" dirty="0">
                  <a:solidFill>
                    <a:prstClr val="black"/>
                  </a:solidFill>
                  <a:latin typeface="Cambria Math" panose="02040503050406030204" pitchFamily="18" charset="0"/>
                </a:endParaRPr>
              </a:p>
              <a:p>
                <a:pPr>
                  <a:defRPr/>
                </a:pPr>
                <a14:m>
                  <m:oMath xmlns:m="http://schemas.openxmlformats.org/officeDocument/2006/math">
                    <m:r>
                      <m:rPr>
                        <m:sty m:val="p"/>
                      </m:rPr>
                      <a:rPr lang="fr-FR" sz="1400" b="0" i="0" smtClean="0">
                        <a:solidFill>
                          <a:prstClr val="black"/>
                        </a:solidFill>
                        <a:latin typeface="Cambria Math" panose="02040503050406030204" pitchFamily="18" charset="0"/>
                      </a:rPr>
                      <m:t>a</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is</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the</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radius</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of</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antenna</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circular</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aperture</m:t>
                    </m:r>
                    <m:r>
                      <a:rPr lang="fr-FR" sz="1400" b="0" i="0" smtClean="0">
                        <a:solidFill>
                          <a:prstClr val="black"/>
                        </a:solidFill>
                        <a:latin typeface="Cambria Math" panose="02040503050406030204" pitchFamily="18" charset="0"/>
                      </a:rPr>
                      <m:t> </m:t>
                    </m:r>
                  </m:oMath>
                </a14:m>
                <a:endParaRPr lang="fr-FR" sz="1400" b="0" dirty="0">
                  <a:solidFill>
                    <a:prstClr val="black"/>
                  </a:solidFill>
                  <a:latin typeface="Cambria Math" panose="02040503050406030204" pitchFamily="18" charset="0"/>
                </a:endParaRPr>
              </a:p>
              <a:p>
                <a:pPr>
                  <a:defRPr/>
                </a:pPr>
                <a14:m>
                  <m:oMath xmlns:m="http://schemas.openxmlformats.org/officeDocument/2006/math">
                    <m:sSub>
                      <m:sSubPr>
                        <m:ctrlPr>
                          <a:rPr lang="fr-FR" sz="1400" b="0" i="1" smtClean="0">
                            <a:solidFill>
                              <a:prstClr val="black"/>
                            </a:solidFill>
                            <a:latin typeface="Cambria Math" panose="02040503050406030204" pitchFamily="18" charset="0"/>
                          </a:rPr>
                        </m:ctrlPr>
                      </m:sSubPr>
                      <m:e>
                        <m:r>
                          <a:rPr lang="fr-FR" sz="1400" b="0" i="1" smtClean="0">
                            <a:solidFill>
                              <a:prstClr val="black"/>
                            </a:solidFill>
                            <a:latin typeface="Cambria Math" panose="02040503050406030204" pitchFamily="18" charset="0"/>
                          </a:rPr>
                          <m:t>𝑘</m:t>
                        </m:r>
                      </m:e>
                      <m:sub>
                        <m:r>
                          <a:rPr lang="fr-FR" sz="1400" b="0" i="1" smtClean="0">
                            <a:solidFill>
                              <a:prstClr val="black"/>
                            </a:solidFill>
                            <a:latin typeface="Cambria Math" panose="02040503050406030204" pitchFamily="18" charset="0"/>
                          </a:rPr>
                          <m:t>0</m:t>
                        </m:r>
                      </m:sub>
                    </m:sSub>
                    <m:r>
                      <a:rPr lang="fr-FR" sz="1400" b="0" i="1" smtClean="0">
                        <a:solidFill>
                          <a:prstClr val="black"/>
                        </a:solidFill>
                        <a:latin typeface="Cambria Math" panose="02040503050406030204" pitchFamily="18" charset="0"/>
                      </a:rPr>
                      <m:t>= </m:t>
                    </m:r>
                    <m:f>
                      <m:fPr>
                        <m:ctrlPr>
                          <a:rPr lang="fr-FR" sz="1400" b="0" i="1" smtClean="0">
                            <a:solidFill>
                              <a:prstClr val="black"/>
                            </a:solidFill>
                            <a:latin typeface="Cambria Math" panose="02040503050406030204" pitchFamily="18" charset="0"/>
                          </a:rPr>
                        </m:ctrlPr>
                      </m:fPr>
                      <m:num>
                        <m:r>
                          <a:rPr lang="fr-FR" sz="1400" b="0" i="1" smtClean="0">
                            <a:solidFill>
                              <a:prstClr val="black"/>
                            </a:solidFill>
                            <a:latin typeface="Cambria Math" panose="02040503050406030204" pitchFamily="18" charset="0"/>
                          </a:rPr>
                          <m:t>2 </m:t>
                        </m:r>
                        <m:r>
                          <a:rPr lang="fr-FR" sz="1400" b="0" i="1" smtClean="0">
                            <a:solidFill>
                              <a:prstClr val="black"/>
                            </a:solidFill>
                            <a:latin typeface="Cambria Math" panose="02040503050406030204" pitchFamily="18" charset="0"/>
                          </a:rPr>
                          <m:t>𝜋</m:t>
                        </m:r>
                        <m:r>
                          <a:rPr lang="fr-FR" sz="1400" b="0" i="1" smtClean="0">
                            <a:solidFill>
                              <a:prstClr val="black"/>
                            </a:solidFill>
                            <a:latin typeface="Cambria Math" panose="02040503050406030204" pitchFamily="18" charset="0"/>
                          </a:rPr>
                          <m:t>𝑓</m:t>
                        </m:r>
                      </m:num>
                      <m:den>
                        <m:r>
                          <a:rPr lang="fr-FR" sz="1400" b="0" i="1" smtClean="0">
                            <a:solidFill>
                              <a:prstClr val="black"/>
                            </a:solidFill>
                            <a:latin typeface="Cambria Math" panose="02040503050406030204" pitchFamily="18" charset="0"/>
                          </a:rPr>
                          <m:t>𝑐</m:t>
                        </m:r>
                      </m:den>
                    </m:f>
                    <m:r>
                      <a:rPr lang="fr-FR" sz="1400" b="0" i="1"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is</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the</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wave</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number</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f</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carrier</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frequency</m:t>
                    </m:r>
                  </m:oMath>
                </a14:m>
                <a:endParaRPr lang="fr-FR" sz="1400" b="0" dirty="0">
                  <a:solidFill>
                    <a:prstClr val="black"/>
                  </a:solidFill>
                  <a:latin typeface="Cambria Math" panose="02040503050406030204" pitchFamily="18" charset="0"/>
                </a:endParaRPr>
              </a:p>
              <a:p>
                <a:pPr marL="0" indent="0">
                  <a:buNone/>
                  <a:defRPr/>
                </a:pPr>
                <a14:m>
                  <m:oMathPara xmlns:m="http://schemas.openxmlformats.org/officeDocument/2006/math">
                    <m:oMath>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and</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c</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is</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the</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speed</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of</m:t>
                      </m:r>
                      <m:r>
                        <a:rPr lang="fr-FR" sz="1400" b="0" i="0" smtClean="0">
                          <a:solidFill>
                            <a:prstClr val="black"/>
                          </a:solidFill>
                          <a:latin typeface="Cambria Math" panose="02040503050406030204" pitchFamily="18" charset="0"/>
                        </a:rPr>
                        <m:t> </m:t>
                      </m:r>
                      <m:r>
                        <m:rPr>
                          <m:sty m:val="p"/>
                        </m:rPr>
                        <a:rPr lang="fr-FR" sz="1400" b="0" i="0" smtClean="0">
                          <a:solidFill>
                            <a:prstClr val="black"/>
                          </a:solidFill>
                          <a:latin typeface="Cambria Math" panose="02040503050406030204" pitchFamily="18" charset="0"/>
                        </a:rPr>
                        <m:t>light</m:t>
                      </m:r>
                      <m:r>
                        <a:rPr lang="fr-FR" sz="1400" b="0" i="0" smtClean="0">
                          <a:solidFill>
                            <a:prstClr val="black"/>
                          </a:solidFill>
                          <a:latin typeface="Cambria Math" panose="02040503050406030204" pitchFamily="18" charset="0"/>
                        </a:rPr>
                        <m:t>)</m:t>
                      </m:r>
                    </m:oMath>
                    <m:oMath>
                      <m:r>
                        <a:rPr kumimoji="0" lang="fr-FR" sz="1400" b="0" i="0" u="none" strike="noStrike" kern="1200" cap="none" spc="0" normalizeH="0" baseline="0" noProof="0" smtClean="0">
                          <a:ln>
                            <a:noFill/>
                          </a:ln>
                          <a:solidFill>
                            <a:prstClr val="black"/>
                          </a:solidFill>
                          <a:effectLst/>
                          <a:uLnTx/>
                          <a:uFillTx/>
                          <a:latin typeface="Cambria Math" panose="02040503050406030204" pitchFamily="18" charset="0"/>
                        </a:rPr>
                        <m:t> </m:t>
                      </m:r>
                    </m:oMath>
                  </m:oMathPara>
                </a14:m>
                <a:endParaRPr kumimoji="0" lang="fr-FR" sz="1400" b="0" u="none" strike="noStrike" kern="1200" cap="none" spc="0" normalizeH="0" baseline="0" noProof="0" dirty="0">
                  <a:ln>
                    <a:noFill/>
                  </a:ln>
                  <a:solidFill>
                    <a:prstClr val="black"/>
                  </a:solidFill>
                  <a:effectLst/>
                  <a:uLnTx/>
                  <a:uFillTx/>
                  <a:latin typeface="Cambria Math" panose="02040503050406030204" pitchFamily="18" charset="0"/>
                </a:endParaRPr>
              </a:p>
              <a:p>
                <a:pPr marL="0" marR="0" lvl="0" indent="0" algn="l" defTabSz="914400" rtl="0" eaLnBrk="1" fontAlgn="auto" latinLnBrk="0" hangingPunct="1">
                  <a:lnSpc>
                    <a:spcPct val="90000"/>
                  </a:lnSpc>
                  <a:spcBef>
                    <a:spcPts val="1000"/>
                  </a:spcBef>
                  <a:spcAft>
                    <a:spcPts val="0"/>
                  </a:spcAft>
                  <a:buClrTx/>
                  <a:buSzTx/>
                  <a:buNone/>
                  <a:tabLst/>
                  <a:defRPr/>
                </a:pPr>
                <a:endParaRPr kumimoji="0" lang="fr-FR" sz="14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p:sp>
            <p:nvSpPr>
              <p:cNvPr id="3" name="Content Placeholder 47">
                <a:extLst>
                  <a:ext uri="{FF2B5EF4-FFF2-40B4-BE49-F238E27FC236}">
                    <a16:creationId xmlns:a16="http://schemas.microsoft.com/office/drawing/2014/main" id="{9E47D806-29AD-26AE-7789-A7DF7D9BAC62}"/>
                  </a:ext>
                </a:extLst>
              </p:cNvPr>
              <p:cNvSpPr txBox="1">
                <a:spLocks noRot="1" noChangeAspect="1" noMove="1" noResize="1" noEditPoints="1" noAdjustHandles="1" noChangeArrowheads="1" noChangeShapeType="1" noTextEdit="1"/>
              </p:cNvSpPr>
              <p:nvPr/>
            </p:nvSpPr>
            <p:spPr>
              <a:xfrm>
                <a:off x="399898" y="107216"/>
                <a:ext cx="5729704" cy="4959606"/>
              </a:xfrm>
              <a:prstGeom prst="rect">
                <a:avLst/>
              </a:prstGeom>
              <a:blipFill>
                <a:blip r:embed="rId10"/>
                <a:stretch>
                  <a:fillRect/>
                </a:stretch>
              </a:blipFill>
            </p:spPr>
            <p:txBody>
              <a:bodyPr/>
              <a:lstStyle/>
              <a:p>
                <a:r>
                  <a:rPr lang="en-US">
                    <a:noFill/>
                  </a:rPr>
                  <a:t> </a:t>
                </a:r>
              </a:p>
            </p:txBody>
          </p:sp>
        </mc:Fallback>
      </mc:AlternateContent>
      <p:sp>
        <p:nvSpPr>
          <p:cNvPr id="5" name="Arc 4">
            <a:extLst>
              <a:ext uri="{FF2B5EF4-FFF2-40B4-BE49-F238E27FC236}">
                <a16:creationId xmlns:a16="http://schemas.microsoft.com/office/drawing/2014/main" id="{4D4AC69D-6852-40DC-FE0B-CB60BDBE80D4}"/>
              </a:ext>
            </a:extLst>
          </p:cNvPr>
          <p:cNvSpPr/>
          <p:nvPr/>
        </p:nvSpPr>
        <p:spPr>
          <a:xfrm rot="6098794">
            <a:off x="7355060" y="2756498"/>
            <a:ext cx="1182175" cy="1107893"/>
          </a:xfrm>
          <a:prstGeom prst="arc">
            <a:avLst>
              <a:gd name="adj1" fmla="val 18741982"/>
              <a:gd name="adj2" fmla="val 19926769"/>
            </a:avLst>
          </a:prstGeom>
          <a:solidFill>
            <a:schemeClr val="bg2">
              <a:lumMod val="50000"/>
            </a:schemeClr>
          </a:solidFill>
          <a:ln>
            <a:solidFill>
              <a:schemeClr val="tx1"/>
            </a:solidFill>
          </a:ln>
        </p:spPr>
        <p:style>
          <a:lnRef idx="2">
            <a:schemeClr val="accent2"/>
          </a:lnRef>
          <a:fillRef idx="0">
            <a:schemeClr val="accent2"/>
          </a:fillRef>
          <a:effectRef idx="1">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Straight Arrow Connector 19">
            <a:extLst>
              <a:ext uri="{FF2B5EF4-FFF2-40B4-BE49-F238E27FC236}">
                <a16:creationId xmlns:a16="http://schemas.microsoft.com/office/drawing/2014/main" id="{8EEBFE41-6801-1535-DEB2-D62A86A324B9}"/>
              </a:ext>
            </a:extLst>
          </p:cNvPr>
          <p:cNvCxnSpPr>
            <a:cxnSpLocks/>
          </p:cNvCxnSpPr>
          <p:nvPr/>
        </p:nvCxnSpPr>
        <p:spPr>
          <a:xfrm flipV="1">
            <a:off x="7481297" y="3791935"/>
            <a:ext cx="565017" cy="74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FBC81B9-9279-E3CC-746F-EBE61F0702EA}"/>
                  </a:ext>
                </a:extLst>
              </p:cNvPr>
              <p:cNvSpPr txBox="1"/>
              <p:nvPr/>
            </p:nvSpPr>
            <p:spPr>
              <a:xfrm>
                <a:off x="6564688" y="3539042"/>
                <a:ext cx="9963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14:m>
                  <m:oMath xmlns:m="http://schemas.openxmlformats.org/officeDocument/2006/math">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Ang</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𝑙𝑒</m:t>
                    </m:r>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𝜃</m:t>
                    </m:r>
                  </m:oMath>
                </a14:m>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25" name="TextBox 24">
                <a:extLst>
                  <a:ext uri="{FF2B5EF4-FFF2-40B4-BE49-F238E27FC236}">
                    <a16:creationId xmlns:a16="http://schemas.microsoft.com/office/drawing/2014/main" id="{EFBC81B9-9279-E3CC-746F-EBE61F0702EA}"/>
                  </a:ext>
                </a:extLst>
              </p:cNvPr>
              <p:cNvSpPr txBox="1">
                <a:spLocks noRot="1" noChangeAspect="1" noMove="1" noResize="1" noEditPoints="1" noAdjustHandles="1" noChangeArrowheads="1" noChangeShapeType="1" noTextEdit="1"/>
              </p:cNvSpPr>
              <p:nvPr/>
            </p:nvSpPr>
            <p:spPr>
              <a:xfrm>
                <a:off x="6564688" y="3539042"/>
                <a:ext cx="996363" cy="369332"/>
              </a:xfrm>
              <a:prstGeom prst="rect">
                <a:avLst/>
              </a:prstGeom>
              <a:blipFill>
                <a:blip r:embed="rId11"/>
                <a:stretch>
                  <a:fillRect b="-13333"/>
                </a:stretch>
              </a:blipFill>
            </p:spPr>
            <p:txBody>
              <a:bodyPr/>
              <a:lstStyle/>
              <a:p>
                <a:r>
                  <a:rPr lang="en-US">
                    <a:noFill/>
                  </a:rPr>
                  <a:t> </a:t>
                </a:r>
              </a:p>
            </p:txBody>
          </p:sp>
        </mc:Fallback>
      </mc:AlternateContent>
      <p:pic>
        <p:nvPicPr>
          <p:cNvPr id="30" name="Picture 2">
            <a:extLst>
              <a:ext uri="{FF2B5EF4-FFF2-40B4-BE49-F238E27FC236}">
                <a16:creationId xmlns:a16="http://schemas.microsoft.com/office/drawing/2014/main" id="{E7B1579F-8612-FEC9-4BFB-E9EC56AB7B33}"/>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4229" t="4215" r="1824" b="12242"/>
          <a:stretch>
            <a:fillRect/>
          </a:stretch>
        </p:blipFill>
        <p:spPr bwMode="auto">
          <a:xfrm rot="5400000">
            <a:off x="8777926" y="323868"/>
            <a:ext cx="2719760" cy="2190628"/>
          </a:xfrm>
          <a:prstGeom prst="rect">
            <a:avLst/>
          </a:prstGeom>
          <a:noFill/>
          <a:extLst>
            <a:ext uri="{909E8E84-426E-40DD-AFC4-6F175D3DCCD1}">
              <a14:hiddenFill xmlns:a14="http://schemas.microsoft.com/office/drawing/2010/main">
                <a:solidFill>
                  <a:srgbClr val="FFFFFF"/>
                </a:solidFill>
              </a14:hiddenFill>
            </a:ext>
          </a:extLst>
        </p:spPr>
      </p:pic>
      <p:sp>
        <p:nvSpPr>
          <p:cNvPr id="41" name="Arc 40">
            <a:extLst>
              <a:ext uri="{FF2B5EF4-FFF2-40B4-BE49-F238E27FC236}">
                <a16:creationId xmlns:a16="http://schemas.microsoft.com/office/drawing/2014/main" id="{67CB057F-1B59-A8E0-1C28-A072E4D90DAC}"/>
              </a:ext>
            </a:extLst>
          </p:cNvPr>
          <p:cNvSpPr/>
          <p:nvPr/>
        </p:nvSpPr>
        <p:spPr>
          <a:xfrm rot="5400000">
            <a:off x="9025946" y="-10711"/>
            <a:ext cx="1182175" cy="1107893"/>
          </a:xfrm>
          <a:prstGeom prst="arc">
            <a:avLst>
              <a:gd name="adj1" fmla="val 18752641"/>
              <a:gd name="adj2" fmla="val 19803546"/>
            </a:avLst>
          </a:prstGeom>
          <a:solidFill>
            <a:schemeClr val="bg2">
              <a:lumMod val="50000"/>
            </a:schemeClr>
          </a:solidFill>
          <a:ln>
            <a:solidFill>
              <a:schemeClr val="tx1"/>
            </a:solidFill>
          </a:ln>
        </p:spPr>
        <p:style>
          <a:lnRef idx="2">
            <a:schemeClr val="accent2"/>
          </a:lnRef>
          <a:fillRef idx="0">
            <a:schemeClr val="accent2"/>
          </a:fillRef>
          <a:effectRef idx="1">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23" name="Graphic 96">
            <a:extLst>
              <a:ext uri="{FF2B5EF4-FFF2-40B4-BE49-F238E27FC236}">
                <a16:creationId xmlns:a16="http://schemas.microsoft.com/office/drawing/2014/main" id="{05767144-EE5B-8785-E1D2-3B9D2BAC7E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7561241" y="2856360"/>
            <a:ext cx="706189" cy="724142"/>
          </a:xfrm>
          <a:prstGeom prst="rect">
            <a:avLst/>
          </a:prstGeom>
        </p:spPr>
      </p:pic>
      <p:cxnSp>
        <p:nvCxnSpPr>
          <p:cNvPr id="36" name="Straight Connector 35">
            <a:extLst>
              <a:ext uri="{FF2B5EF4-FFF2-40B4-BE49-F238E27FC236}">
                <a16:creationId xmlns:a16="http://schemas.microsoft.com/office/drawing/2014/main" id="{2FE77118-25A6-B3E1-1712-4371712BDDDC}"/>
              </a:ext>
            </a:extLst>
          </p:cNvPr>
          <p:cNvCxnSpPr>
            <a:cxnSpLocks/>
            <a:stCxn id="41" idx="1"/>
          </p:cNvCxnSpPr>
          <p:nvPr/>
        </p:nvCxnSpPr>
        <p:spPr>
          <a:xfrm>
            <a:off x="9617033" y="543236"/>
            <a:ext cx="2030244" cy="1964346"/>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Straight Connector 30">
            <a:extLst>
              <a:ext uri="{FF2B5EF4-FFF2-40B4-BE49-F238E27FC236}">
                <a16:creationId xmlns:a16="http://schemas.microsoft.com/office/drawing/2014/main" id="{A92AA12E-A795-C61E-4E0B-B049CED97C5C}"/>
              </a:ext>
            </a:extLst>
          </p:cNvPr>
          <p:cNvCxnSpPr>
            <a:cxnSpLocks/>
          </p:cNvCxnSpPr>
          <p:nvPr/>
        </p:nvCxnSpPr>
        <p:spPr>
          <a:xfrm>
            <a:off x="9610779" y="560521"/>
            <a:ext cx="1497130" cy="2491628"/>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 name="Straight Connector 1">
            <a:extLst>
              <a:ext uri="{FF2B5EF4-FFF2-40B4-BE49-F238E27FC236}">
                <a16:creationId xmlns:a16="http://schemas.microsoft.com/office/drawing/2014/main" id="{906DF3C9-1755-47FA-4304-721056D86FE5}"/>
              </a:ext>
            </a:extLst>
          </p:cNvPr>
          <p:cNvCxnSpPr>
            <a:cxnSpLocks/>
            <a:endCxn id="21" idx="4"/>
          </p:cNvCxnSpPr>
          <p:nvPr/>
        </p:nvCxnSpPr>
        <p:spPr>
          <a:xfrm>
            <a:off x="7934632" y="3305338"/>
            <a:ext cx="907050" cy="2877736"/>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F453AA24-F331-57E7-D742-7D6665A8F299}"/>
              </a:ext>
            </a:extLst>
          </p:cNvPr>
          <p:cNvCxnSpPr>
            <a:cxnSpLocks/>
            <a:stCxn id="27" idx="0"/>
            <a:endCxn id="29" idx="4"/>
          </p:cNvCxnSpPr>
          <p:nvPr/>
        </p:nvCxnSpPr>
        <p:spPr>
          <a:xfrm>
            <a:off x="7933819" y="3304030"/>
            <a:ext cx="2146736" cy="280399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89DF40A-C8B0-F3C3-14F6-1A7C36B70476}"/>
                  </a:ext>
                </a:extLst>
              </p:cNvPr>
              <p:cNvSpPr txBox="1"/>
              <p:nvPr/>
            </p:nvSpPr>
            <p:spPr>
              <a:xfrm>
                <a:off x="9705790" y="2596254"/>
                <a:ext cx="60941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𝑆</m:t>
                          </m:r>
                        </m:e>
                        <m:sub>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m:oMathPara>
                </a14:m>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34" name="TextBox 33">
                <a:extLst>
                  <a:ext uri="{FF2B5EF4-FFF2-40B4-BE49-F238E27FC236}">
                    <a16:creationId xmlns:a16="http://schemas.microsoft.com/office/drawing/2014/main" id="{F89DF40A-C8B0-F3C3-14F6-1A7C36B70476}"/>
                  </a:ext>
                </a:extLst>
              </p:cNvPr>
              <p:cNvSpPr txBox="1">
                <a:spLocks noRot="1" noChangeAspect="1" noMove="1" noResize="1" noEditPoints="1" noAdjustHandles="1" noChangeArrowheads="1" noChangeShapeType="1" noTextEdit="1"/>
              </p:cNvSpPr>
              <p:nvPr/>
            </p:nvSpPr>
            <p:spPr>
              <a:xfrm>
                <a:off x="9705790" y="2596254"/>
                <a:ext cx="6094140"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94E29634-047E-0C32-14D3-F181F0BA3DCA}"/>
                  </a:ext>
                </a:extLst>
              </p:cNvPr>
              <p:cNvSpPr txBox="1"/>
              <p:nvPr/>
            </p:nvSpPr>
            <p:spPr>
              <a:xfrm>
                <a:off x="7438763" y="565310"/>
                <a:ext cx="11686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14:m>
                  <m:oMath xmlns:m="http://schemas.openxmlformats.org/officeDocument/2006/math">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Ang</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𝑙𝑒</m:t>
                    </m:r>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𝜃</m:t>
                    </m:r>
                  </m:oMath>
                </a14:m>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62" name="TextBox 61">
                <a:extLst>
                  <a:ext uri="{FF2B5EF4-FFF2-40B4-BE49-F238E27FC236}">
                    <a16:creationId xmlns:a16="http://schemas.microsoft.com/office/drawing/2014/main" id="{94E29634-047E-0C32-14D3-F181F0BA3DCA}"/>
                  </a:ext>
                </a:extLst>
              </p:cNvPr>
              <p:cNvSpPr txBox="1">
                <a:spLocks noRot="1" noChangeAspect="1" noMove="1" noResize="1" noEditPoints="1" noAdjustHandles="1" noChangeArrowheads="1" noChangeShapeType="1" noTextEdit="1"/>
              </p:cNvSpPr>
              <p:nvPr/>
            </p:nvSpPr>
            <p:spPr>
              <a:xfrm>
                <a:off x="7438763" y="565310"/>
                <a:ext cx="1168643" cy="369332"/>
              </a:xfrm>
              <a:prstGeom prst="rect">
                <a:avLst/>
              </a:prstGeom>
              <a:blipFill>
                <a:blip r:embed="rId14"/>
                <a:stretch>
                  <a:fillRect b="-13333"/>
                </a:stretch>
              </a:blipFill>
            </p:spPr>
            <p:txBody>
              <a:bodyPr/>
              <a:lstStyle/>
              <a:p>
                <a:r>
                  <a:rPr lang="en-US">
                    <a:noFill/>
                  </a:rPr>
                  <a:t> </a:t>
                </a:r>
              </a:p>
            </p:txBody>
          </p:sp>
        </mc:Fallback>
      </mc:AlternateContent>
      <p:cxnSp>
        <p:nvCxnSpPr>
          <p:cNvPr id="63" name="Straight Arrow Connector 62">
            <a:extLst>
              <a:ext uri="{FF2B5EF4-FFF2-40B4-BE49-F238E27FC236}">
                <a16:creationId xmlns:a16="http://schemas.microsoft.com/office/drawing/2014/main" id="{9F26D498-B298-2776-DEBC-819AC74A57E9}"/>
              </a:ext>
            </a:extLst>
          </p:cNvPr>
          <p:cNvCxnSpPr>
            <a:cxnSpLocks/>
          </p:cNvCxnSpPr>
          <p:nvPr/>
        </p:nvCxnSpPr>
        <p:spPr>
          <a:xfrm>
            <a:off x="8388157" y="790999"/>
            <a:ext cx="1375603"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B36CA29-7ACE-A82B-3211-22650783B415}"/>
                  </a:ext>
                </a:extLst>
              </p:cNvPr>
              <p:cNvSpPr txBox="1"/>
              <p:nvPr/>
            </p:nvSpPr>
            <p:spPr>
              <a:xfrm>
                <a:off x="8853979" y="5933544"/>
                <a:ext cx="449867" cy="391646"/>
              </a:xfrm>
              <a:prstGeom prst="rect">
                <a:avLst/>
              </a:prstGeom>
              <a:noFill/>
            </p:spPr>
            <p:txBody>
              <a:bodyPr wrap="none" rtlCol="0">
                <a:spAutoFit/>
              </a:bodyPr>
              <a:lstStyle/>
              <a:p>
                <a:pPr/>
                <a14:m>
                  <m:oMathPara xmlns:m="http://schemas.openxmlformats.org/officeDocument/2006/math">
                    <m:o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𝑂</m:t>
                          </m:r>
                        </m:e>
                        <m:sub>
                          <m:r>
                            <a:rPr lang="fr-FR" b="0" i="1" smtClean="0">
                              <a:latin typeface="Cambria Math" panose="02040503050406030204" pitchFamily="18" charset="0"/>
                            </a:rPr>
                            <m:t>𝑗</m:t>
                          </m:r>
                        </m:sub>
                      </m:sSub>
                    </m:oMath>
                  </m:oMathPara>
                </a14:m>
                <a:endParaRPr lang="en-US" dirty="0"/>
              </a:p>
            </p:txBody>
          </p:sp>
        </mc:Choice>
        <mc:Fallback xmlns="">
          <p:sp>
            <p:nvSpPr>
              <p:cNvPr id="4" name="TextBox 3">
                <a:extLst>
                  <a:ext uri="{FF2B5EF4-FFF2-40B4-BE49-F238E27FC236}">
                    <a16:creationId xmlns:a16="http://schemas.microsoft.com/office/drawing/2014/main" id="{3B36CA29-7ACE-A82B-3211-22650783B415}"/>
                  </a:ext>
                </a:extLst>
              </p:cNvPr>
              <p:cNvSpPr txBox="1">
                <a:spLocks noRot="1" noChangeAspect="1" noMove="1" noResize="1" noEditPoints="1" noAdjustHandles="1" noChangeArrowheads="1" noChangeShapeType="1" noTextEdit="1"/>
              </p:cNvSpPr>
              <p:nvPr/>
            </p:nvSpPr>
            <p:spPr>
              <a:xfrm>
                <a:off x="8853979" y="5933544"/>
                <a:ext cx="449867" cy="391646"/>
              </a:xfrm>
              <a:prstGeom prst="rect">
                <a:avLst/>
              </a:prstGeom>
              <a:blipFill>
                <a:blip r:embed="rId15"/>
                <a:stretch>
                  <a:fillRect b="-61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010065-9141-5BD6-EED8-CAA863BD68B8}"/>
                  </a:ext>
                </a:extLst>
              </p:cNvPr>
              <p:cNvSpPr txBox="1"/>
              <p:nvPr/>
            </p:nvSpPr>
            <p:spPr>
              <a:xfrm>
                <a:off x="10097385" y="5949728"/>
                <a:ext cx="451149" cy="369332"/>
              </a:xfrm>
              <a:prstGeom prst="rect">
                <a:avLst/>
              </a:prstGeom>
              <a:noFill/>
            </p:spPr>
            <p:txBody>
              <a:bodyPr wrap="none" rtlCol="0">
                <a:spAutoFit/>
              </a:bodyPr>
              <a:lstStyle/>
              <a:p>
                <a:pPr/>
                <a14:m>
                  <m:oMathPara xmlns:m="http://schemas.openxmlformats.org/officeDocument/2006/math">
                    <m:o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𝑂</m:t>
                          </m:r>
                        </m:e>
                        <m:sub>
                          <m:r>
                            <a:rPr lang="fr-FR" b="0" i="1" smtClean="0">
                              <a:latin typeface="Cambria Math" panose="02040503050406030204" pitchFamily="18" charset="0"/>
                            </a:rPr>
                            <m:t>𝑖</m:t>
                          </m:r>
                        </m:sub>
                      </m:sSub>
                    </m:oMath>
                  </m:oMathPara>
                </a14:m>
                <a:endParaRPr lang="en-US" dirty="0"/>
              </a:p>
            </p:txBody>
          </p:sp>
        </mc:Choice>
        <mc:Fallback xmlns="">
          <p:sp>
            <p:nvSpPr>
              <p:cNvPr id="9" name="TextBox 8">
                <a:extLst>
                  <a:ext uri="{FF2B5EF4-FFF2-40B4-BE49-F238E27FC236}">
                    <a16:creationId xmlns:a16="http://schemas.microsoft.com/office/drawing/2014/main" id="{CE010065-9141-5BD6-EED8-CAA863BD68B8}"/>
                  </a:ext>
                </a:extLst>
              </p:cNvPr>
              <p:cNvSpPr txBox="1">
                <a:spLocks noRot="1" noChangeAspect="1" noMove="1" noResize="1" noEditPoints="1" noAdjustHandles="1" noChangeArrowheads="1" noChangeShapeType="1" noTextEdit="1"/>
              </p:cNvSpPr>
              <p:nvPr/>
            </p:nvSpPr>
            <p:spPr>
              <a:xfrm>
                <a:off x="10097385" y="5949728"/>
                <a:ext cx="451149" cy="369332"/>
              </a:xfrm>
              <a:prstGeom prst="rect">
                <a:avLst/>
              </a:prstGeom>
              <a:blipFill>
                <a:blip r:embed="rId16"/>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5AA5B8D3-8C31-F621-6127-E84D89CBDE91}"/>
              </a:ext>
            </a:extLst>
          </p:cNvPr>
          <p:cNvSpPr txBox="1"/>
          <p:nvPr/>
        </p:nvSpPr>
        <p:spPr>
          <a:xfrm>
            <a:off x="8699324" y="5828382"/>
            <a:ext cx="292068" cy="523220"/>
          </a:xfrm>
          <a:prstGeom prst="rect">
            <a:avLst/>
          </a:prstGeom>
          <a:noFill/>
        </p:spPr>
        <p:txBody>
          <a:bodyPr wrap="none" rtlCol="0">
            <a:spAutoFit/>
          </a:bodyPr>
          <a:lstStyle/>
          <a:p>
            <a:r>
              <a:rPr lang="en-US" sz="2800" b="1" dirty="0"/>
              <a:t>.</a:t>
            </a:r>
          </a:p>
        </p:txBody>
      </p:sp>
      <p:sp>
        <p:nvSpPr>
          <p:cNvPr id="11" name="TextBox 10">
            <a:extLst>
              <a:ext uri="{FF2B5EF4-FFF2-40B4-BE49-F238E27FC236}">
                <a16:creationId xmlns:a16="http://schemas.microsoft.com/office/drawing/2014/main" id="{0682709F-311F-9E02-5695-8AF0D27F8E0E}"/>
              </a:ext>
            </a:extLst>
          </p:cNvPr>
          <p:cNvSpPr txBox="1"/>
          <p:nvPr/>
        </p:nvSpPr>
        <p:spPr>
          <a:xfrm>
            <a:off x="9952381" y="5774259"/>
            <a:ext cx="292068" cy="523220"/>
          </a:xfrm>
          <a:prstGeom prst="rect">
            <a:avLst/>
          </a:prstGeom>
          <a:noFill/>
        </p:spPr>
        <p:txBody>
          <a:bodyPr wrap="none" rtlCol="0">
            <a:spAutoFit/>
          </a:bodyPr>
          <a:lstStyle/>
          <a:p>
            <a:r>
              <a:rPr lang="en-US" sz="2800" b="1" dirty="0"/>
              <a:t>.</a:t>
            </a:r>
          </a:p>
        </p:txBody>
      </p:sp>
      <p:pic>
        <p:nvPicPr>
          <p:cNvPr id="13" name="Picture 12">
            <a:extLst>
              <a:ext uri="{FF2B5EF4-FFF2-40B4-BE49-F238E27FC236}">
                <a16:creationId xmlns:a16="http://schemas.microsoft.com/office/drawing/2014/main" id="{A370CF6A-D938-DD4B-A77C-B7DFEFAFAFB3}"/>
              </a:ext>
            </a:extLst>
          </p:cNvPr>
          <p:cNvPicPr>
            <a:picLocks noChangeAspect="1"/>
          </p:cNvPicPr>
          <p:nvPr/>
        </p:nvPicPr>
        <p:blipFill>
          <a:blip r:embed="rId17"/>
          <a:stretch>
            <a:fillRect/>
          </a:stretch>
        </p:blipFill>
        <p:spPr>
          <a:xfrm>
            <a:off x="1557317" y="2563422"/>
            <a:ext cx="3189393" cy="892097"/>
          </a:xfrm>
          <a:prstGeom prst="rect">
            <a:avLst/>
          </a:prstGeom>
          <a:ln>
            <a:solidFill>
              <a:schemeClr val="tx1"/>
            </a:solidFill>
          </a:ln>
        </p:spPr>
      </p:pic>
      <p:sp>
        <p:nvSpPr>
          <p:cNvPr id="7" name="Footer Placeholder 6">
            <a:extLst>
              <a:ext uri="{FF2B5EF4-FFF2-40B4-BE49-F238E27FC236}">
                <a16:creationId xmlns:a16="http://schemas.microsoft.com/office/drawing/2014/main" id="{D2A342EC-B3B5-DF0E-2CB6-BA09F051B29C}"/>
              </a:ext>
            </a:extLst>
          </p:cNvPr>
          <p:cNvSpPr>
            <a:spLocks noGrp="1"/>
          </p:cNvSpPr>
          <p:nvPr>
            <p:ph type="ftr" sz="quarter" idx="11"/>
          </p:nvPr>
        </p:nvSpPr>
        <p:spPr/>
        <p:txBody>
          <a:bodyPr/>
          <a:lstStyle/>
          <a:p>
            <a:r>
              <a:rPr lang="fr-FR"/>
              <a:t>NTN Days 2026 - 13/10/2026</a:t>
            </a:r>
            <a:endParaRPr lang="en-US"/>
          </a:p>
        </p:txBody>
      </p:sp>
      <p:sp>
        <p:nvSpPr>
          <p:cNvPr id="8" name="Slide Number Placeholder 7">
            <a:extLst>
              <a:ext uri="{FF2B5EF4-FFF2-40B4-BE49-F238E27FC236}">
                <a16:creationId xmlns:a16="http://schemas.microsoft.com/office/drawing/2014/main" id="{5E0EB176-C892-8A89-1397-8D625FCCB5E8}"/>
              </a:ext>
            </a:extLst>
          </p:cNvPr>
          <p:cNvSpPr>
            <a:spLocks noGrp="1"/>
          </p:cNvSpPr>
          <p:nvPr>
            <p:ph type="sldNum" sz="quarter" idx="12"/>
          </p:nvPr>
        </p:nvSpPr>
        <p:spPr/>
        <p:txBody>
          <a:bodyPr/>
          <a:lstStyle/>
          <a:p>
            <a:fld id="{2435CAA8-A57F-4BB3-B57F-962D9E660ABB}" type="slidenum">
              <a:rPr lang="en-US" smtClean="0"/>
              <a:t>9</a:t>
            </a:fld>
            <a:endParaRPr lang="en-US"/>
          </a:p>
        </p:txBody>
      </p:sp>
    </p:spTree>
    <p:extLst>
      <p:ext uri="{BB962C8B-B14F-4D97-AF65-F5344CB8AC3E}">
        <p14:creationId xmlns:p14="http://schemas.microsoft.com/office/powerpoint/2010/main" val="1566226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05A27FA5-5EAE-6C64-4B8B-4346A3EEBAD0}"/>
                  </a:ext>
                </a:extLst>
              </p:cNvPr>
              <p:cNvGraphicFramePr>
                <a:graphicFrameLocks noGrp="1"/>
              </p:cNvGraphicFramePr>
              <p:nvPr>
                <p:ph idx="1"/>
                <p:extLst>
                  <p:ext uri="{D42A27DB-BD31-4B8C-83A1-F6EECF244321}">
                    <p14:modId xmlns:p14="http://schemas.microsoft.com/office/powerpoint/2010/main" val="698328121"/>
                  </p:ext>
                </p:extLst>
              </p:nvPr>
            </p:nvGraphicFramePr>
            <p:xfrm>
              <a:off x="1763617" y="154627"/>
              <a:ext cx="9771375" cy="5665584"/>
            </p:xfrm>
            <a:graphic>
              <a:graphicData uri="http://schemas.openxmlformats.org/drawingml/2006/table">
                <a:tbl>
                  <a:tblPr firstRow="1" bandRow="1">
                    <a:tableStyleId>{5C22544A-7EE6-4342-B048-85BDC9FD1C3A}</a:tableStyleId>
                  </a:tblPr>
                  <a:tblGrid>
                    <a:gridCol w="841124">
                      <a:extLst>
                        <a:ext uri="{9D8B030D-6E8A-4147-A177-3AD203B41FA5}">
                          <a16:colId xmlns:a16="http://schemas.microsoft.com/office/drawing/2014/main" val="54365754"/>
                        </a:ext>
                      </a:extLst>
                    </a:gridCol>
                    <a:gridCol w="811841">
                      <a:extLst>
                        <a:ext uri="{9D8B030D-6E8A-4147-A177-3AD203B41FA5}">
                          <a16:colId xmlns:a16="http://schemas.microsoft.com/office/drawing/2014/main" val="2344331334"/>
                        </a:ext>
                      </a:extLst>
                    </a:gridCol>
                    <a:gridCol w="811841">
                      <a:extLst>
                        <a:ext uri="{9D8B030D-6E8A-4147-A177-3AD203B41FA5}">
                          <a16:colId xmlns:a16="http://schemas.microsoft.com/office/drawing/2014/main" val="3368741802"/>
                        </a:ext>
                      </a:extLst>
                    </a:gridCol>
                    <a:gridCol w="811841">
                      <a:extLst>
                        <a:ext uri="{9D8B030D-6E8A-4147-A177-3AD203B41FA5}">
                          <a16:colId xmlns:a16="http://schemas.microsoft.com/office/drawing/2014/main" val="2367943530"/>
                        </a:ext>
                      </a:extLst>
                    </a:gridCol>
                    <a:gridCol w="912667">
                      <a:extLst>
                        <a:ext uri="{9D8B030D-6E8A-4147-A177-3AD203B41FA5}">
                          <a16:colId xmlns:a16="http://schemas.microsoft.com/office/drawing/2014/main" val="823433685"/>
                        </a:ext>
                      </a:extLst>
                    </a:gridCol>
                    <a:gridCol w="711015">
                      <a:extLst>
                        <a:ext uri="{9D8B030D-6E8A-4147-A177-3AD203B41FA5}">
                          <a16:colId xmlns:a16="http://schemas.microsoft.com/office/drawing/2014/main" val="1311803813"/>
                        </a:ext>
                      </a:extLst>
                    </a:gridCol>
                    <a:gridCol w="811841">
                      <a:extLst>
                        <a:ext uri="{9D8B030D-6E8A-4147-A177-3AD203B41FA5}">
                          <a16:colId xmlns:a16="http://schemas.microsoft.com/office/drawing/2014/main" val="1944654426"/>
                        </a:ext>
                      </a:extLst>
                    </a:gridCol>
                    <a:gridCol w="811841">
                      <a:extLst>
                        <a:ext uri="{9D8B030D-6E8A-4147-A177-3AD203B41FA5}">
                          <a16:colId xmlns:a16="http://schemas.microsoft.com/office/drawing/2014/main" val="976013527"/>
                        </a:ext>
                      </a:extLst>
                    </a:gridCol>
                    <a:gridCol w="811841">
                      <a:extLst>
                        <a:ext uri="{9D8B030D-6E8A-4147-A177-3AD203B41FA5}">
                          <a16:colId xmlns:a16="http://schemas.microsoft.com/office/drawing/2014/main" val="885644120"/>
                        </a:ext>
                      </a:extLst>
                    </a:gridCol>
                    <a:gridCol w="811841">
                      <a:extLst>
                        <a:ext uri="{9D8B030D-6E8A-4147-A177-3AD203B41FA5}">
                          <a16:colId xmlns:a16="http://schemas.microsoft.com/office/drawing/2014/main" val="1298249550"/>
                        </a:ext>
                      </a:extLst>
                    </a:gridCol>
                    <a:gridCol w="811841">
                      <a:extLst>
                        <a:ext uri="{9D8B030D-6E8A-4147-A177-3AD203B41FA5}">
                          <a16:colId xmlns:a16="http://schemas.microsoft.com/office/drawing/2014/main" val="2212081938"/>
                        </a:ext>
                      </a:extLst>
                    </a:gridCol>
                    <a:gridCol w="811841">
                      <a:extLst>
                        <a:ext uri="{9D8B030D-6E8A-4147-A177-3AD203B41FA5}">
                          <a16:colId xmlns:a16="http://schemas.microsoft.com/office/drawing/2014/main" val="2438433832"/>
                        </a:ext>
                      </a:extLst>
                    </a:gridCol>
                  </a:tblGrid>
                  <a:tr h="617791">
                    <a:tc>
                      <a:txBody>
                        <a:bodyPr/>
                        <a:lstStyle/>
                        <a:p>
                          <a:pPr algn="ct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277354921"/>
                      </a:ext>
                    </a:extLst>
                  </a:tr>
                  <a:tr h="446100">
                    <a:tc>
                      <a:txBody>
                        <a:bodyPr/>
                        <a:lstStyle/>
                        <a:p>
                          <a:pPr algn="ctr"/>
                          <a:endParaRPr lang="en-US" sz="105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708755876"/>
                      </a:ext>
                    </a:extLst>
                  </a:tr>
                  <a:tr h="4461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260709092"/>
                      </a:ext>
                    </a:extLst>
                  </a:tr>
                  <a:tr h="586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𝒑</m:t>
                                    </m:r>
                                  </m:e>
                                  <m:sub>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𝒊</m:t>
                                    </m:r>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𝒊</m:t>
                                    </m:r>
                                  </m:sub>
                                  <m:sup>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𝑹𝒙</m:t>
                                    </m:r>
                                  </m:sup>
                                </m:sSubSup>
                              </m:oMath>
                            </m:oMathPara>
                          </a14:m>
                          <a:endParaRPr kumimoji="0" lang="en-US" sz="1200" b="1" i="0" u="none" strike="noStrike" kern="1200" cap="none" spc="0" normalizeH="0" baseline="0" noProof="0" dirty="0">
                            <a:ln>
                              <a:noFill/>
                            </a:ln>
                            <a:solidFill>
                              <a:prstClr val="black"/>
                            </a:solidFill>
                            <a:effectLst/>
                            <a:uLnTx/>
                            <a:uFillTx/>
                            <a:latin typeface="Aptos Black"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𝒑</m:t>
                                    </m:r>
                                  </m:e>
                                  <m:sub>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𝒊</m:t>
                                    </m:r>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𝒋</m:t>
                                    </m:r>
                                  </m:sub>
                                  <m:sup>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𝑹𝒙</m:t>
                                    </m:r>
                                  </m:sup>
                                </m:sSubSup>
                              </m:oMath>
                            </m:oMathPara>
                          </a14:m>
                          <a:endParaRPr kumimoji="0" lang="en-US" sz="1200" b="1" i="0" u="none" strike="noStrike" kern="1200" cap="none" spc="0" normalizeH="0" baseline="0" noProof="0" dirty="0">
                            <a:ln>
                              <a:noFill/>
                            </a:ln>
                            <a:solidFill>
                              <a:prstClr val="black"/>
                            </a:solidFill>
                            <a:effectLst/>
                            <a:uLnTx/>
                            <a:uFillTx/>
                            <a:latin typeface="Aptos Black"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extLst>
                      <a:ext uri="{0D108BD9-81ED-4DB2-BD59-A6C34878D82A}">
                        <a16:rowId xmlns:a16="http://schemas.microsoft.com/office/drawing/2014/main" val="491891359"/>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𝒑</m:t>
                                    </m:r>
                                  </m:e>
                                  <m:sub>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𝒋</m:t>
                                    </m:r>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𝒊</m:t>
                                    </m:r>
                                  </m:sub>
                                  <m:sup>
                                    <m:r>
                                      <a:rPr kumimoji="0" lang="fr-FR" sz="1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𝑹𝒙</m:t>
                                    </m:r>
                                  </m:sup>
                                </m:sSubSup>
                              </m:oMath>
                            </m:oMathPara>
                          </a14:m>
                          <a:endParaRPr kumimoji="0" lang="en-US" sz="1200" b="1" i="0" u="none" strike="noStrike" kern="1200" cap="none" spc="0" normalizeH="0" baseline="0" noProof="0" dirty="0">
                            <a:ln>
                              <a:noFill/>
                            </a:ln>
                            <a:solidFill>
                              <a:prstClr val="black"/>
                            </a:solidFill>
                            <a:effectLst/>
                            <a:uLnTx/>
                            <a:uFillTx/>
                            <a:latin typeface="Aptos Black" panose="020B0004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sz="1200" b="1" dirty="0">
                            <a:latin typeface="Aptos Black"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55033826"/>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215246807"/>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086515905"/>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775379075"/>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486778937"/>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524665514"/>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240787314"/>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738118937"/>
                      </a:ext>
                    </a:extLst>
                  </a:tr>
                </a:tbl>
              </a:graphicData>
            </a:graphic>
          </p:graphicFrame>
        </mc:Choice>
        <mc:Fallback xmlns="">
          <p:graphicFrame>
            <p:nvGraphicFramePr>
              <p:cNvPr id="4" name="Content Placeholder 3">
                <a:extLst>
                  <a:ext uri="{FF2B5EF4-FFF2-40B4-BE49-F238E27FC236}">
                    <a16:creationId xmlns:a16="http://schemas.microsoft.com/office/drawing/2014/main" id="{05A27FA5-5EAE-6C64-4B8B-4346A3EEBAD0}"/>
                  </a:ext>
                </a:extLst>
              </p:cNvPr>
              <p:cNvGraphicFramePr>
                <a:graphicFrameLocks noGrp="1"/>
              </p:cNvGraphicFramePr>
              <p:nvPr>
                <p:ph idx="1"/>
                <p:extLst>
                  <p:ext uri="{D42A27DB-BD31-4B8C-83A1-F6EECF244321}">
                    <p14:modId xmlns:p14="http://schemas.microsoft.com/office/powerpoint/2010/main" val="698328121"/>
                  </p:ext>
                </p:extLst>
              </p:nvPr>
            </p:nvGraphicFramePr>
            <p:xfrm>
              <a:off x="1763617" y="154627"/>
              <a:ext cx="9771375" cy="5665584"/>
            </p:xfrm>
            <a:graphic>
              <a:graphicData uri="http://schemas.openxmlformats.org/drawingml/2006/table">
                <a:tbl>
                  <a:tblPr firstRow="1" bandRow="1">
                    <a:tableStyleId>{5C22544A-7EE6-4342-B048-85BDC9FD1C3A}</a:tableStyleId>
                  </a:tblPr>
                  <a:tblGrid>
                    <a:gridCol w="841124">
                      <a:extLst>
                        <a:ext uri="{9D8B030D-6E8A-4147-A177-3AD203B41FA5}">
                          <a16:colId xmlns:a16="http://schemas.microsoft.com/office/drawing/2014/main" val="54365754"/>
                        </a:ext>
                      </a:extLst>
                    </a:gridCol>
                    <a:gridCol w="811841">
                      <a:extLst>
                        <a:ext uri="{9D8B030D-6E8A-4147-A177-3AD203B41FA5}">
                          <a16:colId xmlns:a16="http://schemas.microsoft.com/office/drawing/2014/main" val="2344331334"/>
                        </a:ext>
                      </a:extLst>
                    </a:gridCol>
                    <a:gridCol w="811841">
                      <a:extLst>
                        <a:ext uri="{9D8B030D-6E8A-4147-A177-3AD203B41FA5}">
                          <a16:colId xmlns:a16="http://schemas.microsoft.com/office/drawing/2014/main" val="3368741802"/>
                        </a:ext>
                      </a:extLst>
                    </a:gridCol>
                    <a:gridCol w="811841">
                      <a:extLst>
                        <a:ext uri="{9D8B030D-6E8A-4147-A177-3AD203B41FA5}">
                          <a16:colId xmlns:a16="http://schemas.microsoft.com/office/drawing/2014/main" val="2367943530"/>
                        </a:ext>
                      </a:extLst>
                    </a:gridCol>
                    <a:gridCol w="912667">
                      <a:extLst>
                        <a:ext uri="{9D8B030D-6E8A-4147-A177-3AD203B41FA5}">
                          <a16:colId xmlns:a16="http://schemas.microsoft.com/office/drawing/2014/main" val="823433685"/>
                        </a:ext>
                      </a:extLst>
                    </a:gridCol>
                    <a:gridCol w="711015">
                      <a:extLst>
                        <a:ext uri="{9D8B030D-6E8A-4147-A177-3AD203B41FA5}">
                          <a16:colId xmlns:a16="http://schemas.microsoft.com/office/drawing/2014/main" val="1311803813"/>
                        </a:ext>
                      </a:extLst>
                    </a:gridCol>
                    <a:gridCol w="811841">
                      <a:extLst>
                        <a:ext uri="{9D8B030D-6E8A-4147-A177-3AD203B41FA5}">
                          <a16:colId xmlns:a16="http://schemas.microsoft.com/office/drawing/2014/main" val="1944654426"/>
                        </a:ext>
                      </a:extLst>
                    </a:gridCol>
                    <a:gridCol w="811841">
                      <a:extLst>
                        <a:ext uri="{9D8B030D-6E8A-4147-A177-3AD203B41FA5}">
                          <a16:colId xmlns:a16="http://schemas.microsoft.com/office/drawing/2014/main" val="976013527"/>
                        </a:ext>
                      </a:extLst>
                    </a:gridCol>
                    <a:gridCol w="811841">
                      <a:extLst>
                        <a:ext uri="{9D8B030D-6E8A-4147-A177-3AD203B41FA5}">
                          <a16:colId xmlns:a16="http://schemas.microsoft.com/office/drawing/2014/main" val="885644120"/>
                        </a:ext>
                      </a:extLst>
                    </a:gridCol>
                    <a:gridCol w="811841">
                      <a:extLst>
                        <a:ext uri="{9D8B030D-6E8A-4147-A177-3AD203B41FA5}">
                          <a16:colId xmlns:a16="http://schemas.microsoft.com/office/drawing/2014/main" val="1298249550"/>
                        </a:ext>
                      </a:extLst>
                    </a:gridCol>
                    <a:gridCol w="811841">
                      <a:extLst>
                        <a:ext uri="{9D8B030D-6E8A-4147-A177-3AD203B41FA5}">
                          <a16:colId xmlns:a16="http://schemas.microsoft.com/office/drawing/2014/main" val="2212081938"/>
                        </a:ext>
                      </a:extLst>
                    </a:gridCol>
                    <a:gridCol w="811841">
                      <a:extLst>
                        <a:ext uri="{9D8B030D-6E8A-4147-A177-3AD203B41FA5}">
                          <a16:colId xmlns:a16="http://schemas.microsoft.com/office/drawing/2014/main" val="2438433832"/>
                        </a:ext>
                      </a:extLst>
                    </a:gridCol>
                  </a:tblGrid>
                  <a:tr h="617791">
                    <a:tc>
                      <a:txBody>
                        <a:bodyPr/>
                        <a:lstStyle/>
                        <a:p>
                          <a:pPr algn="ct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277354921"/>
                      </a:ext>
                    </a:extLst>
                  </a:tr>
                  <a:tr h="446100">
                    <a:tc>
                      <a:txBody>
                        <a:bodyPr/>
                        <a:lstStyle/>
                        <a:p>
                          <a:pPr algn="ctr"/>
                          <a:endParaRPr lang="en-US" sz="105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708755876"/>
                      </a:ext>
                    </a:extLst>
                  </a:tr>
                  <a:tr h="4461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260709092"/>
                      </a:ext>
                    </a:extLst>
                  </a:tr>
                  <a:tr h="586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5263" t="-262500" r="-803008" b="-61458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59333" t="-262500" r="-612000" b="-61458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extLst>
                      <a:ext uri="{0D108BD9-81ED-4DB2-BD59-A6C34878D82A}">
                        <a16:rowId xmlns:a16="http://schemas.microsoft.com/office/drawing/2014/main" val="491891359"/>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05263" t="-476712" r="-803008" b="-708219"/>
                          </a:stretch>
                        </a:blipFill>
                      </a:tcPr>
                    </a:tc>
                    <a:tc>
                      <a:txBody>
                        <a:bodyPr/>
                        <a:lstStyle/>
                        <a:p>
                          <a:endParaRPr lang="en-US" sz="1200" b="1" dirty="0">
                            <a:latin typeface="Aptos Black" panose="020B00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55033826"/>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215246807"/>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086515905"/>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775379075"/>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486778937"/>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524665514"/>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240787314"/>
                      </a:ext>
                    </a:extLst>
                  </a:tr>
                  <a:tr h="4461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738118937"/>
                      </a:ext>
                    </a:extLst>
                  </a:tr>
                </a:tbl>
              </a:graphicData>
            </a:graphic>
          </p:graphicFrame>
        </mc:Fallback>
      </mc:AlternateContent>
      <p:graphicFrame>
        <p:nvGraphicFramePr>
          <p:cNvPr id="9" name="Table 8">
            <a:extLst>
              <a:ext uri="{FF2B5EF4-FFF2-40B4-BE49-F238E27FC236}">
                <a16:creationId xmlns:a16="http://schemas.microsoft.com/office/drawing/2014/main" id="{4BE93564-A142-D8D2-51C7-A90305FCF3D9}"/>
              </a:ext>
            </a:extLst>
          </p:cNvPr>
          <p:cNvGraphicFramePr>
            <a:graphicFrameLocks noGrp="1"/>
          </p:cNvGraphicFramePr>
          <p:nvPr/>
        </p:nvGraphicFramePr>
        <p:xfrm>
          <a:off x="1016769" y="6429583"/>
          <a:ext cx="484806" cy="366338"/>
        </p:xfrm>
        <a:graphic>
          <a:graphicData uri="http://schemas.openxmlformats.org/drawingml/2006/table">
            <a:tbl>
              <a:tblPr firstRow="1" bandRow="1">
                <a:tableStyleId>{5C22544A-7EE6-4342-B048-85BDC9FD1C3A}</a:tableStyleId>
              </a:tblPr>
              <a:tblGrid>
                <a:gridCol w="484806">
                  <a:extLst>
                    <a:ext uri="{9D8B030D-6E8A-4147-A177-3AD203B41FA5}">
                      <a16:colId xmlns:a16="http://schemas.microsoft.com/office/drawing/2014/main" val="3484157167"/>
                    </a:ext>
                  </a:extLst>
                </a:gridCol>
              </a:tblGrid>
              <a:tr h="3663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264961467"/>
                  </a:ext>
                </a:extLst>
              </a:tr>
            </a:tbl>
          </a:graphicData>
        </a:graphic>
      </p:graphicFrame>
      <p:graphicFrame>
        <p:nvGraphicFramePr>
          <p:cNvPr id="10" name="Table 9">
            <a:extLst>
              <a:ext uri="{FF2B5EF4-FFF2-40B4-BE49-F238E27FC236}">
                <a16:creationId xmlns:a16="http://schemas.microsoft.com/office/drawing/2014/main" id="{45064B6C-077D-AA02-5CA1-E2D8538A9CA3}"/>
              </a:ext>
            </a:extLst>
          </p:cNvPr>
          <p:cNvGraphicFramePr>
            <a:graphicFrameLocks noGrp="1"/>
          </p:cNvGraphicFramePr>
          <p:nvPr>
            <p:extLst>
              <p:ext uri="{D42A27DB-BD31-4B8C-83A1-F6EECF244321}">
                <p14:modId xmlns:p14="http://schemas.microsoft.com/office/powerpoint/2010/main" val="3564501531"/>
              </p:ext>
            </p:extLst>
          </p:nvPr>
        </p:nvGraphicFramePr>
        <p:xfrm>
          <a:off x="9122871" y="6356350"/>
          <a:ext cx="484806" cy="366338"/>
        </p:xfrm>
        <a:graphic>
          <a:graphicData uri="http://schemas.openxmlformats.org/drawingml/2006/table">
            <a:tbl>
              <a:tblPr firstRow="1" bandRow="1">
                <a:tableStyleId>{5C22544A-7EE6-4342-B048-85BDC9FD1C3A}</a:tableStyleId>
              </a:tblPr>
              <a:tblGrid>
                <a:gridCol w="484806">
                  <a:extLst>
                    <a:ext uri="{9D8B030D-6E8A-4147-A177-3AD203B41FA5}">
                      <a16:colId xmlns:a16="http://schemas.microsoft.com/office/drawing/2014/main" val="3484157167"/>
                    </a:ext>
                  </a:extLst>
                </a:gridCol>
              </a:tblGrid>
              <a:tr h="3663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504C"/>
                    </a:solidFill>
                  </a:tcPr>
                </a:tc>
                <a:extLst>
                  <a:ext uri="{0D108BD9-81ED-4DB2-BD59-A6C34878D82A}">
                    <a16:rowId xmlns:a16="http://schemas.microsoft.com/office/drawing/2014/main" val="1264961467"/>
                  </a:ext>
                </a:extLst>
              </a:tr>
            </a:tbl>
          </a:graphicData>
        </a:graphic>
      </p:graphicFrame>
      <p:sp>
        <p:nvSpPr>
          <p:cNvPr id="11" name="TextBox 10">
            <a:extLst>
              <a:ext uri="{FF2B5EF4-FFF2-40B4-BE49-F238E27FC236}">
                <a16:creationId xmlns:a16="http://schemas.microsoft.com/office/drawing/2014/main" id="{12542499-4343-1CE6-5087-43FC47B4B2CA}"/>
              </a:ext>
            </a:extLst>
          </p:cNvPr>
          <p:cNvSpPr txBox="1"/>
          <p:nvPr/>
        </p:nvSpPr>
        <p:spPr>
          <a:xfrm>
            <a:off x="1501575" y="6429583"/>
            <a:ext cx="20986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victims of beam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i</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13" name="TextBox 12">
            <a:extLst>
              <a:ext uri="{FF2B5EF4-FFF2-40B4-BE49-F238E27FC236}">
                <a16:creationId xmlns:a16="http://schemas.microsoft.com/office/drawing/2014/main" id="{6EA9FE62-8936-63B9-43D8-812FBEBD1C7D}"/>
              </a:ext>
            </a:extLst>
          </p:cNvPr>
          <p:cNvSpPr txBox="1"/>
          <p:nvPr/>
        </p:nvSpPr>
        <p:spPr>
          <a:xfrm>
            <a:off x="9607677" y="6334041"/>
            <a:ext cx="213539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aggressors to cell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i</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7" name="Straight Arrow Connector 16">
            <a:extLst>
              <a:ext uri="{FF2B5EF4-FFF2-40B4-BE49-F238E27FC236}">
                <a16:creationId xmlns:a16="http://schemas.microsoft.com/office/drawing/2014/main" id="{106435F6-873B-BBFF-0678-B3B5C2617B69}"/>
              </a:ext>
            </a:extLst>
          </p:cNvPr>
          <p:cNvCxnSpPr>
            <a:cxnSpLocks/>
            <a:stCxn id="18" idx="0"/>
          </p:cNvCxnSpPr>
          <p:nvPr/>
        </p:nvCxnSpPr>
        <p:spPr>
          <a:xfrm flipV="1">
            <a:off x="903837" y="2174240"/>
            <a:ext cx="3241443" cy="11016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5926595-2098-4008-EBF9-B832178BE221}"/>
              </a:ext>
            </a:extLst>
          </p:cNvPr>
          <p:cNvSpPr txBox="1"/>
          <p:nvPr/>
        </p:nvSpPr>
        <p:spPr>
          <a:xfrm>
            <a:off x="0" y="3275931"/>
            <a:ext cx="1807674"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Cell of interest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i</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when served by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beam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i</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D56402D-51BB-E013-8B01-002FDDCA5BC6}"/>
                  </a:ext>
                </a:extLst>
              </p:cNvPr>
              <p:cNvSpPr txBox="1"/>
              <p:nvPr/>
            </p:nvSpPr>
            <p:spPr>
              <a:xfrm>
                <a:off x="121454" y="327580"/>
                <a:ext cx="1380121" cy="9469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Matrix </a:t>
                </a:r>
                <a14:m>
                  <m:oMath xmlns:m="http://schemas.openxmlformats.org/officeDocument/2006/math">
                    <m:sSup>
                      <m:sSupPr>
                        <m:ctrlP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e>
                      <m:sup>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𝑅𝑥</m:t>
                        </m:r>
                      </m:sup>
                    </m:sSup>
                  </m:oMath>
                </a14:m>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b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Power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reception</a:t>
                </a:r>
              </a:p>
            </p:txBody>
          </p:sp>
        </mc:Choice>
        <mc:Fallback xmlns="">
          <p:sp>
            <p:nvSpPr>
              <p:cNvPr id="19" name="TextBox 18">
                <a:extLst>
                  <a:ext uri="{FF2B5EF4-FFF2-40B4-BE49-F238E27FC236}">
                    <a16:creationId xmlns:a16="http://schemas.microsoft.com/office/drawing/2014/main" id="{2D56402D-51BB-E013-8B01-002FDDCA5BC6}"/>
                  </a:ext>
                </a:extLst>
              </p:cNvPr>
              <p:cNvSpPr txBox="1">
                <a:spLocks noRot="1" noChangeAspect="1" noMove="1" noResize="1" noEditPoints="1" noAdjustHandles="1" noChangeArrowheads="1" noChangeShapeType="1" noTextEdit="1"/>
              </p:cNvSpPr>
              <p:nvPr/>
            </p:nvSpPr>
            <p:spPr>
              <a:xfrm>
                <a:off x="121454" y="327580"/>
                <a:ext cx="1380121" cy="946991"/>
              </a:xfrm>
              <a:prstGeom prst="rect">
                <a:avLst/>
              </a:prstGeom>
              <a:blipFill>
                <a:blip r:embed="rId4"/>
                <a:stretch>
                  <a:fillRect l="-3982" t="-3226" r="-3540" b="-7742"/>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6B06653C-1E2F-9086-234C-CF0CC2725C7D}"/>
              </a:ext>
            </a:extLst>
          </p:cNvPr>
          <p:cNvSpPr>
            <a:spLocks noGrp="1"/>
          </p:cNvSpPr>
          <p:nvPr>
            <p:ph type="ftr" sz="quarter" idx="11"/>
          </p:nvPr>
        </p:nvSpPr>
        <p:spPr/>
        <p:txBody>
          <a:bodyPr/>
          <a:lstStyle/>
          <a:p>
            <a:r>
              <a:rPr lang="fr-FR"/>
              <a:t>NTN Days 2026 - 13/10/2026</a:t>
            </a:r>
            <a:endParaRPr lang="en-US"/>
          </a:p>
        </p:txBody>
      </p:sp>
      <p:sp>
        <p:nvSpPr>
          <p:cNvPr id="3" name="Slide Number Placeholder 2">
            <a:extLst>
              <a:ext uri="{FF2B5EF4-FFF2-40B4-BE49-F238E27FC236}">
                <a16:creationId xmlns:a16="http://schemas.microsoft.com/office/drawing/2014/main" id="{59A76F00-9862-0508-A444-EC327355C4BA}"/>
              </a:ext>
            </a:extLst>
          </p:cNvPr>
          <p:cNvSpPr>
            <a:spLocks noGrp="1"/>
          </p:cNvSpPr>
          <p:nvPr>
            <p:ph type="sldNum" sz="quarter" idx="12"/>
          </p:nvPr>
        </p:nvSpPr>
        <p:spPr/>
        <p:txBody>
          <a:bodyPr/>
          <a:lstStyle/>
          <a:p>
            <a:fld id="{2435CAA8-A57F-4BB3-B57F-962D9E660ABB}" type="slidenum">
              <a:rPr lang="en-US" smtClean="0"/>
              <a:t>10</a:t>
            </a:fld>
            <a:endParaRPr lang="en-US"/>
          </a:p>
        </p:txBody>
      </p:sp>
    </p:spTree>
    <p:extLst>
      <p:ext uri="{BB962C8B-B14F-4D97-AF65-F5344CB8AC3E}">
        <p14:creationId xmlns:p14="http://schemas.microsoft.com/office/powerpoint/2010/main" val="2521778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59529CD-4016-6FDC-436C-A7C44352A2EF}"/>
                  </a:ext>
                </a:extLst>
              </p:cNvPr>
              <p:cNvSpPr>
                <a:spLocks noGrp="1"/>
              </p:cNvSpPr>
              <p:nvPr>
                <p:ph type="title"/>
              </p:nvPr>
            </p:nvSpPr>
            <p:spPr/>
            <p:txBody>
              <a:bodyPr/>
              <a:lstStyle/>
              <a:p>
                <a:r>
                  <a:rPr lang="en-US" dirty="0"/>
                  <a:t>Interference Di-graph </a:t>
                </a:r>
                <a14:m>
                  <m:oMath xmlns:m="http://schemas.openxmlformats.org/officeDocument/2006/math">
                    <m:r>
                      <a:rPr lang="fr-FR" b="0" i="1" smtClean="0">
                        <a:latin typeface="Cambria Math" panose="02040503050406030204" pitchFamily="18" charset="0"/>
                      </a:rPr>
                      <m:t>𝐷</m:t>
                    </m:r>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𝑃</m:t>
                        </m:r>
                      </m:e>
                      <m:sup>
                        <m:r>
                          <a:rPr lang="fr-FR" b="0" i="1" smtClean="0">
                            <a:latin typeface="Cambria Math" panose="02040503050406030204" pitchFamily="18" charset="0"/>
                          </a:rPr>
                          <m:t>𝑅𝑥</m:t>
                        </m:r>
                      </m:sup>
                    </m:sSup>
                    <m:r>
                      <a:rPr lang="fr-FR" b="0" i="1" smtClean="0">
                        <a:latin typeface="Cambria Math" panose="02040503050406030204" pitchFamily="18" charset="0"/>
                      </a:rPr>
                      <m:t>,</m:t>
                    </m:r>
                    <m:r>
                      <a:rPr lang="fr-FR" b="0" i="1" smtClean="0">
                        <a:latin typeface="Cambria Math" panose="02040503050406030204" pitchFamily="18" charset="0"/>
                      </a:rPr>
                      <m:t>𝛼</m:t>
                    </m:r>
                    <m:r>
                      <a:rPr lang="fr-FR" b="0"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659529CD-4016-6FDC-436C-A7C44352A2EF}"/>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C39E72-19D4-CF90-8D61-2A767DDD5159}"/>
                  </a:ext>
                </a:extLst>
              </p:cNvPr>
              <p:cNvSpPr>
                <a:spLocks noGrp="1"/>
              </p:cNvSpPr>
              <p:nvPr>
                <p:ph idx="1"/>
              </p:nvPr>
            </p:nvSpPr>
            <p:spPr/>
            <p:txBody>
              <a:bodyPr>
                <a:normAutofit lnSpcReduction="10000"/>
              </a:bodyPr>
              <a:lstStyle/>
              <a:p>
                <a:r>
                  <a:rPr lang="en-US" sz="1800" dirty="0">
                    <a:latin typeface="Ericsson Hilda" panose="00000500000000000000" pitchFamily="2" charset="0"/>
                  </a:rPr>
                  <a:t>Vertices : set of cells </a:t>
                </a:r>
                <a14:m>
                  <m:oMath xmlns:m="http://schemas.openxmlformats.org/officeDocument/2006/math">
                    <m:r>
                      <a:rPr lang="en-US" sz="1800" i="1" smtClean="0">
                        <a:latin typeface="Cambria Math" panose="02040503050406030204" pitchFamily="18" charset="0"/>
                        <a:ea typeface="Cambria Math" panose="02040503050406030204" pitchFamily="18" charset="0"/>
                      </a:rPr>
                      <m:t>∁</m:t>
                    </m:r>
                    <m:r>
                      <a:rPr lang="fr-FR" sz="1800" b="0" i="1" smtClean="0">
                        <a:latin typeface="Cambria Math" panose="02040503050406030204" pitchFamily="18" charset="0"/>
                        <a:ea typeface="Cambria Math" panose="02040503050406030204" pitchFamily="18" charset="0"/>
                      </a:rPr>
                      <m:t> </m:t>
                    </m:r>
                  </m:oMath>
                </a14:m>
                <a:endParaRPr lang="fr-FR" sz="1800" b="0" dirty="0">
                  <a:latin typeface="Ericsson Hilda" panose="00000500000000000000" pitchFamily="2" charset="0"/>
                  <a:ea typeface="Cambria Math" panose="02040503050406030204" pitchFamily="18" charset="0"/>
                </a:endParaRPr>
              </a:p>
              <a:p>
                <a:endParaRPr lang="fr-FR" sz="1800" b="0" dirty="0">
                  <a:latin typeface="Ericsson Hilda" panose="00000500000000000000" pitchFamily="2" charset="0"/>
                  <a:ea typeface="Cambria Math" panose="02040503050406030204" pitchFamily="18" charset="0"/>
                </a:endParaRPr>
              </a:p>
              <a:p>
                <a:r>
                  <a:rPr lang="en-US" sz="1800" dirty="0">
                    <a:latin typeface="Ericsson Hilda" panose="00000500000000000000" pitchFamily="2" charset="0"/>
                  </a:rPr>
                  <a:t>Edges : </a:t>
                </a:r>
                <a14:m>
                  <m:oMath xmlns:m="http://schemas.openxmlformats.org/officeDocument/2006/math">
                    <m:r>
                      <m:rPr>
                        <m:sty m:val="p"/>
                      </m:rPr>
                      <a:rPr lang="el-GR" sz="1800" i="1" smtClean="0">
                        <a:latin typeface="Cambria Math" panose="02040503050406030204" pitchFamily="18" charset="0"/>
                        <a:ea typeface="Cambria Math" panose="02040503050406030204" pitchFamily="18" charset="0"/>
                      </a:rPr>
                      <m:t>Α</m:t>
                    </m:r>
                    <m:r>
                      <a:rPr lang="fr-FR" sz="1800" b="0" i="1" smtClean="0">
                        <a:latin typeface="Cambria Math" panose="02040503050406030204" pitchFamily="18" charset="0"/>
                        <a:ea typeface="Cambria Math" panose="02040503050406030204" pitchFamily="18" charset="0"/>
                      </a:rPr>
                      <m:t> ⊆ </m:t>
                    </m:r>
                    <m:r>
                      <a:rPr lang="en-US" sz="1800" i="1" smtClean="0">
                        <a:latin typeface="Cambria Math" panose="02040503050406030204" pitchFamily="18" charset="0"/>
                        <a:ea typeface="Cambria Math" panose="02040503050406030204" pitchFamily="18" charset="0"/>
                      </a:rPr>
                      <m:t>∁</m:t>
                    </m:r>
                    <m:r>
                      <a:rPr lang="fr-FR" sz="1800" b="0" i="1" smtClean="0">
                        <a:latin typeface="Cambria Math" panose="02040503050406030204" pitchFamily="18" charset="0"/>
                        <a:ea typeface="Cambria Math" panose="02040503050406030204" pitchFamily="18" charset="0"/>
                      </a:rPr>
                      <m:t> </m:t>
                    </m:r>
                    <m:r>
                      <a:rPr lang="fr-FR" sz="1800" b="0" i="1" smtClean="0">
                        <a:latin typeface="Cambria Math" panose="02040503050406030204" pitchFamily="18" charset="0"/>
                        <a:ea typeface="Cambria Math" panose="02040503050406030204" pitchFamily="18" charset="0"/>
                      </a:rPr>
                      <m:t>𝑥</m:t>
                    </m:r>
                    <m:r>
                      <a:rPr lang="fr-FR" sz="1800" b="0" i="1" smtClean="0">
                        <a:latin typeface="Cambria Math" panose="02040503050406030204" pitchFamily="18" charset="0"/>
                        <a:ea typeface="Cambria Math" panose="02040503050406030204" pitchFamily="18" charset="0"/>
                      </a:rPr>
                      <m:t> ∁ </m:t>
                    </m:r>
                  </m:oMath>
                </a14:m>
                <a:r>
                  <a:rPr lang="en-US" sz="1800" dirty="0">
                    <a:latin typeface="Ericsson Hilda" panose="00000500000000000000" pitchFamily="2" charset="0"/>
                  </a:rPr>
                  <a:t>is constructed by selecting the top </a:t>
                </a:r>
                <a14:m>
                  <m:oMath xmlns:m="http://schemas.openxmlformats.org/officeDocument/2006/math">
                    <m:r>
                      <a:rPr lang="fr-FR" sz="1800" b="0" i="1" smtClean="0">
                        <a:latin typeface="Cambria Math" panose="02040503050406030204" pitchFamily="18" charset="0"/>
                      </a:rPr>
                      <m:t>𝛼</m:t>
                    </m:r>
                  </m:oMath>
                </a14:m>
                <a:r>
                  <a:rPr lang="en-US" sz="1800" dirty="0">
                    <a:latin typeface="Ericsson Hilda" panose="00000500000000000000" pitchFamily="2" charset="0"/>
                  </a:rPr>
                  <a:t> fractions of all cell pairs that cause the most significant interference (those with the lowest pair-wise SIR)</a:t>
                </a:r>
              </a:p>
              <a:p>
                <a:endParaRPr lang="en-US" sz="1800" dirty="0">
                  <a:latin typeface="Ericsson Hilda" panose="00000500000000000000" pitchFamily="2" charset="0"/>
                </a:endParaRPr>
              </a:p>
              <a:p>
                <a:r>
                  <a:rPr lang="en-US" sz="1800" dirty="0">
                    <a:latin typeface="Ericsson Hilda" panose="00000500000000000000" pitchFamily="2" charset="0"/>
                  </a:rPr>
                  <a:t>Therefore, </a:t>
                </a:r>
                <a14:m>
                  <m:oMath xmlns:m="http://schemas.openxmlformats.org/officeDocument/2006/math">
                    <m:r>
                      <a:rPr lang="fr-FR" sz="1800" i="1">
                        <a:latin typeface="Cambria Math" panose="02040503050406030204" pitchFamily="18" charset="0"/>
                      </a:rPr>
                      <m:t>𝐷</m:t>
                    </m:r>
                    <m:d>
                      <m:dPr>
                        <m:ctrlPr>
                          <a:rPr lang="fr-FR" sz="1800" i="1">
                            <a:latin typeface="Cambria Math" panose="02040503050406030204" pitchFamily="18" charset="0"/>
                          </a:rPr>
                        </m:ctrlPr>
                      </m:dPr>
                      <m:e>
                        <m:sSup>
                          <m:sSupPr>
                            <m:ctrlPr>
                              <a:rPr lang="fr-FR" sz="1800" i="1">
                                <a:latin typeface="Cambria Math" panose="02040503050406030204" pitchFamily="18" charset="0"/>
                              </a:rPr>
                            </m:ctrlPr>
                          </m:sSupPr>
                          <m:e>
                            <m:r>
                              <a:rPr lang="fr-FR" sz="1800" i="1">
                                <a:latin typeface="Cambria Math" panose="02040503050406030204" pitchFamily="18" charset="0"/>
                              </a:rPr>
                              <m:t>𝑃</m:t>
                            </m:r>
                          </m:e>
                          <m:sup>
                            <m:r>
                              <a:rPr lang="fr-FR" sz="1800" i="1">
                                <a:latin typeface="Cambria Math" panose="02040503050406030204" pitchFamily="18" charset="0"/>
                              </a:rPr>
                              <m:t>𝑅𝑥</m:t>
                            </m:r>
                          </m:sup>
                        </m:sSup>
                        <m:r>
                          <a:rPr lang="fr-FR" sz="1800" i="1">
                            <a:latin typeface="Cambria Math" panose="02040503050406030204" pitchFamily="18" charset="0"/>
                          </a:rPr>
                          <m:t>,</m:t>
                        </m:r>
                        <m:r>
                          <a:rPr lang="fr-FR" sz="1800" i="1">
                            <a:latin typeface="Cambria Math" panose="02040503050406030204" pitchFamily="18" charset="0"/>
                          </a:rPr>
                          <m:t>𝛼</m:t>
                        </m:r>
                      </m:e>
                    </m:d>
                  </m:oMath>
                </a14:m>
                <a:r>
                  <a:rPr lang="en-US" sz="1800" dirty="0">
                    <a:latin typeface="Ericsson Hilda" panose="00000500000000000000" pitchFamily="2" charset="0"/>
                  </a:rPr>
                  <a:t> </a:t>
                </a:r>
                <a:r>
                  <a:rPr lang="en-US" sz="1800" dirty="0"/>
                  <a:t>represents a mapping of the most significant pair-wise interference among cells.</a:t>
                </a:r>
              </a:p>
              <a:p>
                <a:r>
                  <a:rPr lang="en-US" sz="1800" dirty="0"/>
                  <a:t> We can also represent the interference graph by the adjacency matrix </a:t>
                </a:r>
                <a14:m>
                  <m:oMath xmlns:m="http://schemas.openxmlformats.org/officeDocument/2006/math">
                    <m:r>
                      <a:rPr lang="fr-FR" sz="1800" b="0" i="1" smtClean="0">
                        <a:latin typeface="Cambria Math" panose="02040503050406030204" pitchFamily="18" charset="0"/>
                      </a:rPr>
                      <m:t>𝑤</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𝛼</m:t>
                        </m:r>
                      </m:e>
                    </m:d>
                  </m:oMath>
                </a14:m>
                <a:r>
                  <a:rPr lang="en-US" sz="1800" dirty="0"/>
                  <a:t> such that :</a:t>
                </a:r>
              </a:p>
              <a:p>
                <a:pPr marL="0" indent="0" algn="ctr">
                  <a:buNone/>
                </a:pPr>
                <a:br>
                  <a:rPr lang="en-US" sz="1800" dirty="0"/>
                </a:br>
                <a14:m>
                  <m:oMath xmlns:m="http://schemas.openxmlformats.org/officeDocument/2006/math">
                    <m:sSub>
                      <m:sSubPr>
                        <m:ctrlPr>
                          <a:rPr lang="fr-FR" sz="1800" b="0" i="1" smtClean="0">
                            <a:latin typeface="Cambria Math" panose="02040503050406030204" pitchFamily="18" charset="0"/>
                          </a:rPr>
                        </m:ctrlPr>
                      </m:sSubPr>
                      <m:e>
                        <m:r>
                          <a:rPr lang="fr-FR" sz="1800" b="0" i="1" smtClean="0">
                            <a:latin typeface="Cambria Math" panose="02040503050406030204" pitchFamily="18" charset="0"/>
                          </a:rPr>
                          <m:t>𝑤</m:t>
                        </m:r>
                      </m:e>
                      <m:sub>
                        <m:r>
                          <a:rPr lang="fr-FR" sz="1800" b="0" i="1" smtClean="0">
                            <a:latin typeface="Cambria Math" panose="02040503050406030204" pitchFamily="18" charset="0"/>
                          </a:rPr>
                          <m:t>𝑖</m:t>
                        </m:r>
                        <m:r>
                          <a:rPr lang="fr-FR" sz="1800" b="0" i="1" smtClean="0">
                            <a:latin typeface="Cambria Math" panose="02040503050406030204" pitchFamily="18" charset="0"/>
                          </a:rPr>
                          <m:t>,</m:t>
                        </m:r>
                        <m:r>
                          <a:rPr lang="fr-FR" sz="1800" b="0" i="1" smtClean="0">
                            <a:latin typeface="Cambria Math" panose="02040503050406030204" pitchFamily="18" charset="0"/>
                          </a:rPr>
                          <m:t>𝑗</m:t>
                        </m:r>
                      </m:sub>
                    </m:sSub>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𝛼</m:t>
                        </m:r>
                      </m:e>
                    </m:d>
                    <m:r>
                      <a:rPr lang="fr-FR" sz="1800" b="0" i="1" smtClean="0">
                        <a:latin typeface="Cambria Math" panose="02040503050406030204" pitchFamily="18" charset="0"/>
                      </a:rPr>
                      <m:t>= </m:t>
                    </m:r>
                    <m:d>
                      <m:dPr>
                        <m:begChr m:val="{"/>
                        <m:endChr m:val=""/>
                        <m:ctrlPr>
                          <a:rPr lang="en-US" sz="1800" i="1" smtClean="0">
                            <a:latin typeface="Cambria Math" panose="02040503050406030204" pitchFamily="18" charset="0"/>
                          </a:rPr>
                        </m:ctrlPr>
                      </m:dPr>
                      <m:e>
                        <m:eqArr>
                          <m:eqArrPr>
                            <m:ctrlPr>
                              <a:rPr lang="en-US" sz="1800" i="1" smtClean="0">
                                <a:latin typeface="Cambria Math" panose="02040503050406030204" pitchFamily="18" charset="0"/>
                              </a:rPr>
                            </m:ctrlPr>
                          </m:eqArrPr>
                          <m:e>
                            <m:sSubSup>
                              <m:sSubSupPr>
                                <m:ctrlPr>
                                  <a:rPr lang="fr-FR" sz="1800" b="0" i="1">
                                    <a:latin typeface="Cambria Math" panose="02040503050406030204" pitchFamily="18" charset="0"/>
                                  </a:rPr>
                                </m:ctrlPr>
                              </m:sSubSupPr>
                              <m:e>
                                <m:r>
                                  <a:rPr lang="fr-FR" sz="1800" b="0" i="1">
                                    <a:latin typeface="Cambria Math" panose="02040503050406030204" pitchFamily="18" charset="0"/>
                                  </a:rPr>
                                  <m:t>𝑝</m:t>
                                </m:r>
                              </m:e>
                              <m:sub>
                                <m:r>
                                  <a:rPr lang="fr-FR" sz="1800" b="0" i="1">
                                    <a:latin typeface="Cambria Math" panose="02040503050406030204" pitchFamily="18" charset="0"/>
                                  </a:rPr>
                                  <m:t>𝑖</m:t>
                                </m:r>
                                <m:r>
                                  <a:rPr lang="fr-FR" sz="1800" b="0" i="1">
                                    <a:latin typeface="Cambria Math" panose="02040503050406030204" pitchFamily="18" charset="0"/>
                                  </a:rPr>
                                  <m:t>,</m:t>
                                </m:r>
                                <m:r>
                                  <a:rPr lang="fr-FR" sz="1800" b="0" i="1">
                                    <a:latin typeface="Cambria Math" panose="02040503050406030204" pitchFamily="18" charset="0"/>
                                  </a:rPr>
                                  <m:t>𝑗</m:t>
                                </m:r>
                              </m:sub>
                              <m:sup>
                                <m:r>
                                  <a:rPr lang="fr-FR" sz="1800" b="0" i="1">
                                    <a:latin typeface="Cambria Math" panose="02040503050406030204" pitchFamily="18" charset="0"/>
                                  </a:rPr>
                                  <m:t>𝑅𝑥</m:t>
                                </m:r>
                              </m:sup>
                            </m:sSubSup>
                            <m:r>
                              <a:rPr lang="fr-FR" sz="1800" b="0" i="1" smtClean="0">
                                <a:latin typeface="Cambria Math" panose="02040503050406030204" pitchFamily="18" charset="0"/>
                              </a:rPr>
                              <m:t> </m:t>
                            </m:r>
                            <m:r>
                              <a:rPr lang="fr-FR" sz="1800" b="0" i="1" smtClean="0">
                                <a:latin typeface="Cambria Math" panose="02040503050406030204" pitchFamily="18" charset="0"/>
                              </a:rPr>
                              <m:t>𝑖𝑓</m:t>
                            </m:r>
                            <m:r>
                              <a:rPr lang="fr-FR" sz="1800" b="0" i="1" smtClean="0">
                                <a:latin typeface="Cambria Math" panose="02040503050406030204" pitchFamily="18" charset="0"/>
                              </a:rPr>
                              <m:t> </m:t>
                            </m:r>
                            <m:d>
                              <m:dPr>
                                <m:ctrlPr>
                                  <a:rPr lang="fr-FR" sz="1800" b="0" i="1" smtClean="0">
                                    <a:latin typeface="Cambria Math" panose="02040503050406030204" pitchFamily="18" charset="0"/>
                                  </a:rPr>
                                </m:ctrlPr>
                              </m:dPr>
                              <m:e>
                                <m:r>
                                  <a:rPr lang="fr-FR" sz="1800" b="0" i="1" smtClean="0">
                                    <a:latin typeface="Cambria Math" panose="02040503050406030204" pitchFamily="18" charset="0"/>
                                  </a:rPr>
                                  <m:t>𝑖</m:t>
                                </m:r>
                                <m:r>
                                  <a:rPr lang="fr-FR" sz="1800" b="0" i="1" smtClean="0">
                                    <a:latin typeface="Cambria Math" panose="02040503050406030204" pitchFamily="18" charset="0"/>
                                  </a:rPr>
                                  <m:t>,</m:t>
                                </m:r>
                                <m:r>
                                  <a:rPr lang="fr-FR" sz="1800" b="0" i="1" smtClean="0">
                                    <a:latin typeface="Cambria Math" panose="02040503050406030204" pitchFamily="18" charset="0"/>
                                  </a:rPr>
                                  <m:t>𝑗</m:t>
                                </m:r>
                              </m:e>
                            </m:d>
                            <m:r>
                              <a:rPr lang="fr-FR" sz="1800" b="0" i="1" smtClean="0">
                                <a:latin typeface="Cambria Math" panose="02040503050406030204" pitchFamily="18" charset="0"/>
                              </a:rPr>
                              <m:t>∈</m:t>
                            </m:r>
                            <m:r>
                              <a:rPr lang="el-GR" sz="1800" b="0" i="1">
                                <a:latin typeface="Cambria Math" panose="02040503050406030204" pitchFamily="18" charset="0"/>
                                <a:ea typeface="Cambria Math" panose="02040503050406030204" pitchFamily="18" charset="0"/>
                              </a:rPr>
                              <m:t>𝛢</m:t>
                            </m:r>
                          </m:e>
                          <m:e>
                            <m:r>
                              <a:rPr lang="fr-FR" sz="1800" b="0" i="1" smtClean="0">
                                <a:latin typeface="Cambria Math" panose="02040503050406030204" pitchFamily="18" charset="0"/>
                              </a:rPr>
                              <m:t>0 </m:t>
                            </m:r>
                            <m:r>
                              <a:rPr lang="fr-FR" sz="1800" b="0" i="1" smtClean="0">
                                <a:latin typeface="Cambria Math" panose="02040503050406030204" pitchFamily="18" charset="0"/>
                              </a:rPr>
                              <m:t>𝑜𝑡ℎ𝑒𝑟𝑤𝑖𝑠𝑒</m:t>
                            </m:r>
                          </m:e>
                        </m:eqArr>
                      </m:e>
                    </m:d>
                  </m:oMath>
                </a14:m>
                <a:r>
                  <a:rPr lang="en-US" sz="1800" i="1" dirty="0"/>
                  <a:t> </a:t>
                </a:r>
              </a:p>
              <a:p>
                <a:endParaRPr lang="en-US" sz="1800" dirty="0">
                  <a:latin typeface="Ericsson Hilda" panose="00000500000000000000" pitchFamily="2" charset="0"/>
                </a:endParaRPr>
              </a:p>
              <a:p>
                <a:endParaRPr lang="en-US" sz="1800" dirty="0">
                  <a:latin typeface="Ericsson Hilda" panose="00000500000000000000" pitchFamily="2" charset="0"/>
                </a:endParaRPr>
              </a:p>
              <a:p>
                <a:pPr marL="914400" lvl="2" indent="0">
                  <a:buNone/>
                </a:pPr>
                <a:br>
                  <a:rPr lang="fr-FR" sz="1000" b="0" dirty="0">
                    <a:latin typeface="Ericsson Hilda" panose="00000500000000000000" pitchFamily="2" charset="0"/>
                  </a:rPr>
                </a:br>
                <a:br>
                  <a:rPr lang="fr-FR" sz="1000" b="0" dirty="0">
                    <a:latin typeface="Ericsson Hilda" panose="00000500000000000000" pitchFamily="2" charset="0"/>
                  </a:rPr>
                </a:br>
                <a:endParaRPr lang="en-US" sz="1000" dirty="0">
                  <a:latin typeface="Ericsson Hilda" panose="00000500000000000000" pitchFamily="2" charset="0"/>
                </a:endParaRPr>
              </a:p>
            </p:txBody>
          </p:sp>
        </mc:Choice>
        <mc:Fallback>
          <p:sp>
            <p:nvSpPr>
              <p:cNvPr id="3" name="Content Placeholder 2">
                <a:extLst>
                  <a:ext uri="{FF2B5EF4-FFF2-40B4-BE49-F238E27FC236}">
                    <a16:creationId xmlns:a16="http://schemas.microsoft.com/office/drawing/2014/main" id="{E5C39E72-19D4-CF90-8D61-2A767DDD5159}"/>
                  </a:ext>
                </a:extLst>
              </p:cNvPr>
              <p:cNvSpPr>
                <a:spLocks noGrp="1" noRot="1" noChangeAspect="1" noMove="1" noResize="1" noEditPoints="1" noAdjustHandles="1" noChangeArrowheads="1" noChangeShapeType="1" noTextEdit="1"/>
              </p:cNvSpPr>
              <p:nvPr>
                <p:ph idx="1"/>
              </p:nvPr>
            </p:nvSpPr>
            <p:spPr>
              <a:blipFill>
                <a:blip r:embed="rId3"/>
                <a:stretch>
                  <a:fillRect l="-406" t="-182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3EC0265-237E-CC90-CD80-E1694906DC5A}"/>
              </a:ext>
            </a:extLst>
          </p:cNvPr>
          <p:cNvSpPr>
            <a:spLocks noGrp="1"/>
          </p:cNvSpPr>
          <p:nvPr>
            <p:ph type="ftr" sz="quarter" idx="11"/>
          </p:nvPr>
        </p:nvSpPr>
        <p:spPr/>
        <p:txBody>
          <a:bodyPr/>
          <a:lstStyle/>
          <a:p>
            <a:r>
              <a:rPr lang="fr-FR"/>
              <a:t>NTN Days 2026 - 13/10/2026</a:t>
            </a:r>
            <a:endParaRPr lang="en-US"/>
          </a:p>
        </p:txBody>
      </p:sp>
      <p:sp>
        <p:nvSpPr>
          <p:cNvPr id="5" name="Slide Number Placeholder 4">
            <a:extLst>
              <a:ext uri="{FF2B5EF4-FFF2-40B4-BE49-F238E27FC236}">
                <a16:creationId xmlns:a16="http://schemas.microsoft.com/office/drawing/2014/main" id="{44F144C1-CA9C-9B74-07A1-74C24A8C5CFA}"/>
              </a:ext>
            </a:extLst>
          </p:cNvPr>
          <p:cNvSpPr>
            <a:spLocks noGrp="1"/>
          </p:cNvSpPr>
          <p:nvPr>
            <p:ph type="sldNum" sz="quarter" idx="12"/>
          </p:nvPr>
        </p:nvSpPr>
        <p:spPr/>
        <p:txBody>
          <a:bodyPr/>
          <a:lstStyle/>
          <a:p>
            <a:fld id="{2435CAA8-A57F-4BB3-B57F-962D9E660ABB}" type="slidenum">
              <a:rPr lang="en-US" smtClean="0"/>
              <a:t>11</a:t>
            </a:fld>
            <a:endParaRPr lang="en-US"/>
          </a:p>
        </p:txBody>
      </p:sp>
    </p:spTree>
    <p:extLst>
      <p:ext uri="{BB962C8B-B14F-4D97-AF65-F5344CB8AC3E}">
        <p14:creationId xmlns:p14="http://schemas.microsoft.com/office/powerpoint/2010/main" val="544984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F3991-3CCC-3BCF-D064-88A937514B98}"/>
              </a:ext>
            </a:extLst>
          </p:cNvPr>
          <p:cNvSpPr>
            <a:spLocks noGrp="1"/>
          </p:cNvSpPr>
          <p:nvPr>
            <p:ph type="title"/>
          </p:nvPr>
        </p:nvSpPr>
        <p:spPr/>
        <p:txBody>
          <a:bodyPr/>
          <a:lstStyle/>
          <a:p>
            <a:r>
              <a:rPr lang="en-US" dirty="0"/>
              <a:t>Graph coloring optimization problem </a:t>
            </a:r>
          </a:p>
        </p:txBody>
      </p:sp>
      <p:pic>
        <p:nvPicPr>
          <p:cNvPr id="5" name="Content Placeholder 4">
            <a:extLst>
              <a:ext uri="{FF2B5EF4-FFF2-40B4-BE49-F238E27FC236}">
                <a16:creationId xmlns:a16="http://schemas.microsoft.com/office/drawing/2014/main" id="{16F94550-37F1-76A5-CCB2-AA28DD3D902E}"/>
              </a:ext>
            </a:extLst>
          </p:cNvPr>
          <p:cNvPicPr>
            <a:picLocks noGrp="1" noChangeAspect="1"/>
          </p:cNvPicPr>
          <p:nvPr>
            <p:ph idx="1"/>
          </p:nvPr>
        </p:nvPicPr>
        <p:blipFill>
          <a:blip r:embed="rId2"/>
          <a:stretch>
            <a:fillRect/>
          </a:stretch>
        </p:blipFill>
        <p:spPr>
          <a:xfrm>
            <a:off x="332974" y="1410016"/>
            <a:ext cx="5436579" cy="3426638"/>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5D06799-1415-D321-0B49-96B717347835}"/>
                  </a:ext>
                </a:extLst>
              </p:cNvPr>
              <p:cNvSpPr txBox="1"/>
              <p:nvPr/>
            </p:nvSpPr>
            <p:spPr>
              <a:xfrm>
                <a:off x="6740156" y="1552286"/>
                <a:ext cx="3280257" cy="935577"/>
              </a:xfrm>
              <a:prstGeom prst="rect">
                <a:avLst/>
              </a:prstGeom>
              <a:noFill/>
            </p:spPr>
            <p:txBody>
              <a:bodyPr wrap="none" rtlCol="0">
                <a:spAutoFit/>
              </a:bodyPr>
              <a:lstStyle/>
              <a:p>
                <a:pPr/>
                <a14:m>
                  <m:oMathPara xmlns:m="http://schemas.openxmlformats.org/officeDocument/2006/math">
                    <m:oMath>
                      <m:r>
                        <m:rPr>
                          <m:nor/>
                        </m:rPr>
                        <a:rPr lang="en-US" b="1" i="0" dirty="0">
                          <a:latin typeface="Arial" panose="020B0604020202020204" pitchFamily="34" charset="0"/>
                          <a:ea typeface="Cambria Math" panose="02040503050406030204" pitchFamily="18" charset="0"/>
                          <a:cs typeface="Arial" panose="020B0604020202020204" pitchFamily="34" charset="0"/>
                        </a:rPr>
                        <m:t>Variables</m:t>
                      </m:r>
                      <m:r>
                        <m:rPr>
                          <m:nor/>
                        </m:rPr>
                        <a:rPr lang="en-US" i="0" dirty="0">
                          <a:latin typeface="Arial" panose="020B0604020202020204" pitchFamily="34" charset="0"/>
                          <a:ea typeface="Cambria Math" panose="02040503050406030204" pitchFamily="18" charset="0"/>
                          <a:cs typeface="Arial" panose="020B0604020202020204" pitchFamily="34" charset="0"/>
                        </a:rPr>
                        <m:t> </m:t>
                      </m:r>
                    </m:oMath>
                    <m:oMath>
                      <m:sSub>
                        <m:sSubPr>
                          <m:ctrlPr>
                            <a:rPr lang="en-US" i="0">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i="0">
                              <a:latin typeface="Cambria Math" panose="02040503050406030204" pitchFamily="18" charset="0"/>
                              <a:ea typeface="Cambria Math" panose="02040503050406030204" pitchFamily="18" charset="0"/>
                              <a:cs typeface="Arial" panose="020B0604020202020204" pitchFamily="34" charset="0"/>
                            </a:rPr>
                            <m:t>x</m:t>
                          </m:r>
                        </m:e>
                        <m:sub>
                          <m:r>
                            <m:rPr>
                              <m:sty m:val="p"/>
                            </m:rPr>
                            <a:rPr lang="en-US" i="0">
                              <a:latin typeface="Cambria Math" panose="02040503050406030204" pitchFamily="18" charset="0"/>
                              <a:ea typeface="Cambria Math" panose="02040503050406030204" pitchFamily="18" charset="0"/>
                              <a:cs typeface="Arial" panose="020B0604020202020204" pitchFamily="34" charset="0"/>
                            </a:rPr>
                            <m:t>i</m:t>
                          </m:r>
                          <m:r>
                            <a:rPr lang="en-US" i="0">
                              <a:latin typeface="Cambria Math" panose="02040503050406030204" pitchFamily="18" charset="0"/>
                              <a:ea typeface="Cambria Math" panose="02040503050406030204" pitchFamily="18" charset="0"/>
                              <a:cs typeface="Arial" panose="020B0604020202020204" pitchFamily="34" charset="0"/>
                            </a:rPr>
                            <m:t>,</m:t>
                          </m:r>
                          <m:r>
                            <m:rPr>
                              <m:sty m:val="p"/>
                            </m:rPr>
                            <a:rPr lang="en-US" i="0">
                              <a:latin typeface="Cambria Math" panose="02040503050406030204" pitchFamily="18" charset="0"/>
                              <a:ea typeface="Cambria Math" panose="02040503050406030204" pitchFamily="18" charset="0"/>
                              <a:cs typeface="Arial" panose="020B0604020202020204" pitchFamily="34" charset="0"/>
                            </a:rPr>
                            <m:t>k</m:t>
                          </m:r>
                        </m:sub>
                      </m:sSub>
                      <m:r>
                        <a:rPr lang="en-US" i="0">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i="0">
                              <a:latin typeface="Cambria Math" panose="02040503050406030204" pitchFamily="18" charset="0"/>
                              <a:ea typeface="Cambria Math" panose="02040503050406030204" pitchFamily="18" charset="0"/>
                              <a:cs typeface="Arial" panose="020B0604020202020204" pitchFamily="34" charset="0"/>
                            </a:rPr>
                          </m:ctrlPr>
                        </m:dPr>
                        <m:e>
                          <m:r>
                            <a:rPr lang="en-US" i="0">
                              <a:latin typeface="Cambria Math" panose="02040503050406030204" pitchFamily="18" charset="0"/>
                              <a:ea typeface="Cambria Math" panose="02040503050406030204" pitchFamily="18" charset="0"/>
                              <a:cs typeface="Arial" panose="020B0604020202020204" pitchFamily="34" charset="0"/>
                            </a:rPr>
                            <m:t>0,1</m:t>
                          </m:r>
                        </m:e>
                      </m:d>
                      <m:r>
                        <a:rPr lang="en-US" i="0">
                          <a:latin typeface="Cambria Math" panose="02040503050406030204" pitchFamily="18" charset="0"/>
                          <a:ea typeface="Cambria Math" panose="02040503050406030204" pitchFamily="18" charset="0"/>
                          <a:cs typeface="Arial" panose="020B0604020202020204" pitchFamily="34" charset="0"/>
                        </a:rPr>
                        <m:t> </m:t>
                      </m:r>
                      <m:r>
                        <m:rPr>
                          <m:sty m:val="p"/>
                        </m:rPr>
                        <a:rPr lang="en-US" i="0">
                          <a:latin typeface="Cambria Math" panose="02040503050406030204" pitchFamily="18" charset="0"/>
                          <a:ea typeface="Cambria Math" panose="02040503050406030204" pitchFamily="18" charset="0"/>
                          <a:cs typeface="Arial" panose="020B0604020202020204" pitchFamily="34" charset="0"/>
                        </a:rPr>
                        <m:t>cell</m:t>
                      </m:r>
                      <m:r>
                        <a:rPr lang="en-US" i="0">
                          <a:latin typeface="Cambria Math" panose="02040503050406030204" pitchFamily="18" charset="0"/>
                          <a:ea typeface="Cambria Math" panose="02040503050406030204" pitchFamily="18" charset="0"/>
                          <a:cs typeface="Arial" panose="020B0604020202020204" pitchFamily="34" charset="0"/>
                        </a:rPr>
                        <m:t> </m:t>
                      </m:r>
                      <m:r>
                        <m:rPr>
                          <m:sty m:val="p"/>
                        </m:rPr>
                        <a:rPr lang="en-US" i="0">
                          <a:latin typeface="Cambria Math" panose="02040503050406030204" pitchFamily="18" charset="0"/>
                          <a:ea typeface="Cambria Math" panose="02040503050406030204" pitchFamily="18" charset="0"/>
                          <a:cs typeface="Arial" panose="020B0604020202020204" pitchFamily="34" charset="0"/>
                        </a:rPr>
                        <m:t>i</m:t>
                      </m:r>
                      <m:r>
                        <a:rPr lang="en-US" i="0">
                          <a:latin typeface="Cambria Math" panose="02040503050406030204" pitchFamily="18" charset="0"/>
                          <a:ea typeface="Cambria Math" panose="02040503050406030204" pitchFamily="18" charset="0"/>
                          <a:cs typeface="Arial" panose="020B0604020202020204" pitchFamily="34" charset="0"/>
                        </a:rPr>
                        <m:t> </m:t>
                      </m:r>
                      <m:r>
                        <m:rPr>
                          <m:sty m:val="p"/>
                        </m:rPr>
                        <a:rPr lang="en-US" i="0">
                          <a:latin typeface="Cambria Math" panose="02040503050406030204" pitchFamily="18" charset="0"/>
                          <a:ea typeface="Cambria Math" panose="02040503050406030204" pitchFamily="18" charset="0"/>
                          <a:cs typeface="Arial" panose="020B0604020202020204" pitchFamily="34" charset="0"/>
                        </a:rPr>
                        <m:t>gets</m:t>
                      </m:r>
                      <m:r>
                        <a:rPr lang="en-US" i="0">
                          <a:latin typeface="Cambria Math" panose="02040503050406030204" pitchFamily="18" charset="0"/>
                          <a:ea typeface="Cambria Math" panose="02040503050406030204" pitchFamily="18" charset="0"/>
                          <a:cs typeface="Arial" panose="020B0604020202020204" pitchFamily="34" charset="0"/>
                        </a:rPr>
                        <m:t> </m:t>
                      </m:r>
                      <m:r>
                        <m:rPr>
                          <m:sty m:val="p"/>
                        </m:rPr>
                        <a:rPr lang="en-US" i="0">
                          <a:latin typeface="Cambria Math" panose="02040503050406030204" pitchFamily="18" charset="0"/>
                          <a:ea typeface="Cambria Math" panose="02040503050406030204" pitchFamily="18" charset="0"/>
                          <a:cs typeface="Arial" panose="020B0604020202020204" pitchFamily="34" charset="0"/>
                        </a:rPr>
                        <m:t>color</m:t>
                      </m:r>
                      <m:r>
                        <a:rPr lang="en-US" i="0">
                          <a:latin typeface="Cambria Math" panose="02040503050406030204" pitchFamily="18" charset="0"/>
                          <a:ea typeface="Cambria Math" panose="02040503050406030204" pitchFamily="18" charset="0"/>
                          <a:cs typeface="Arial" panose="020B0604020202020204" pitchFamily="34" charset="0"/>
                        </a:rPr>
                        <m:t> </m:t>
                      </m:r>
                      <m:r>
                        <m:rPr>
                          <m:sty m:val="p"/>
                        </m:rPr>
                        <a:rPr lang="en-US" i="0">
                          <a:latin typeface="Cambria Math" panose="02040503050406030204" pitchFamily="18" charset="0"/>
                          <a:ea typeface="Cambria Math" panose="02040503050406030204" pitchFamily="18" charset="0"/>
                          <a:cs typeface="Arial" panose="020B0604020202020204" pitchFamily="34" charset="0"/>
                        </a:rPr>
                        <m:t>k</m:t>
                      </m:r>
                      <m:r>
                        <a:rPr lang="en-US" i="0">
                          <a:latin typeface="Cambria Math" panose="02040503050406030204" pitchFamily="18" charset="0"/>
                          <a:ea typeface="Cambria Math" panose="02040503050406030204" pitchFamily="18" charset="0"/>
                          <a:cs typeface="Arial" panose="020B0604020202020204" pitchFamily="34" charset="0"/>
                        </a:rPr>
                        <m:t> </m:t>
                      </m:r>
                    </m:oMath>
                    <m:oMath>
                      <m:sSub>
                        <m:sSubPr>
                          <m:ctrlPr>
                            <a:rPr lang="en-US" i="0">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i="0">
                              <a:latin typeface="Cambria Math" panose="02040503050406030204" pitchFamily="18" charset="0"/>
                              <a:ea typeface="Cambria Math" panose="02040503050406030204" pitchFamily="18" charset="0"/>
                              <a:cs typeface="Arial" panose="020B0604020202020204" pitchFamily="34" charset="0"/>
                            </a:rPr>
                            <m:t>y</m:t>
                          </m:r>
                        </m:e>
                        <m:sub>
                          <m:r>
                            <m:rPr>
                              <m:sty m:val="p"/>
                            </m:rPr>
                            <a:rPr lang="en-US" i="0">
                              <a:latin typeface="Cambria Math" panose="02040503050406030204" pitchFamily="18" charset="0"/>
                              <a:ea typeface="Cambria Math" panose="02040503050406030204" pitchFamily="18" charset="0"/>
                              <a:cs typeface="Arial" panose="020B0604020202020204" pitchFamily="34" charset="0"/>
                            </a:rPr>
                            <m:t>k</m:t>
                          </m:r>
                        </m:sub>
                      </m:sSub>
                      <m:r>
                        <a:rPr lang="en-US" i="0">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i="0">
                              <a:latin typeface="Cambria Math" panose="02040503050406030204" pitchFamily="18" charset="0"/>
                              <a:ea typeface="Cambria Math" panose="02040503050406030204" pitchFamily="18" charset="0"/>
                              <a:cs typeface="Arial" panose="020B0604020202020204" pitchFamily="34" charset="0"/>
                            </a:rPr>
                          </m:ctrlPr>
                        </m:dPr>
                        <m:e>
                          <m:r>
                            <a:rPr lang="en-US" i="0">
                              <a:latin typeface="Cambria Math" panose="02040503050406030204" pitchFamily="18" charset="0"/>
                              <a:ea typeface="Cambria Math" panose="02040503050406030204" pitchFamily="18" charset="0"/>
                              <a:cs typeface="Arial" panose="020B0604020202020204" pitchFamily="34" charset="0"/>
                            </a:rPr>
                            <m:t>0,1</m:t>
                          </m:r>
                        </m:e>
                      </m:d>
                      <m:r>
                        <a:rPr lang="en-US" i="0">
                          <a:latin typeface="Cambria Math" panose="02040503050406030204" pitchFamily="18" charset="0"/>
                          <a:ea typeface="Cambria Math" panose="02040503050406030204" pitchFamily="18" charset="0"/>
                          <a:cs typeface="Arial" panose="020B0604020202020204" pitchFamily="34" charset="0"/>
                        </a:rPr>
                        <m:t> </m:t>
                      </m:r>
                      <m:r>
                        <m:rPr>
                          <m:sty m:val="p"/>
                        </m:rPr>
                        <a:rPr lang="en-US" i="0">
                          <a:latin typeface="Cambria Math" panose="02040503050406030204" pitchFamily="18" charset="0"/>
                          <a:ea typeface="Cambria Math" panose="02040503050406030204" pitchFamily="18" charset="0"/>
                          <a:cs typeface="Arial" panose="020B0604020202020204" pitchFamily="34" charset="0"/>
                        </a:rPr>
                        <m:t>color</m:t>
                      </m:r>
                      <m:r>
                        <a:rPr lang="en-US" i="0">
                          <a:latin typeface="Cambria Math" panose="02040503050406030204" pitchFamily="18" charset="0"/>
                          <a:ea typeface="Cambria Math" panose="02040503050406030204" pitchFamily="18" charset="0"/>
                          <a:cs typeface="Arial" panose="020B0604020202020204" pitchFamily="34" charset="0"/>
                        </a:rPr>
                        <m:t> </m:t>
                      </m:r>
                      <m:r>
                        <m:rPr>
                          <m:sty m:val="p"/>
                        </m:rPr>
                        <a:rPr lang="en-US" i="0">
                          <a:latin typeface="Cambria Math" panose="02040503050406030204" pitchFamily="18" charset="0"/>
                          <a:ea typeface="Cambria Math" panose="02040503050406030204" pitchFamily="18" charset="0"/>
                          <a:cs typeface="Arial" panose="020B0604020202020204" pitchFamily="34" charset="0"/>
                        </a:rPr>
                        <m:t>k</m:t>
                      </m:r>
                      <m:r>
                        <a:rPr lang="en-US" i="0">
                          <a:latin typeface="Cambria Math" panose="02040503050406030204" pitchFamily="18" charset="0"/>
                          <a:ea typeface="Cambria Math" panose="02040503050406030204" pitchFamily="18" charset="0"/>
                          <a:cs typeface="Arial" panose="020B0604020202020204" pitchFamily="34" charset="0"/>
                        </a:rPr>
                        <m:t> </m:t>
                      </m:r>
                      <m:r>
                        <m:rPr>
                          <m:sty m:val="p"/>
                        </m:rPr>
                        <a:rPr lang="en-US" i="0">
                          <a:latin typeface="Cambria Math" panose="02040503050406030204" pitchFamily="18" charset="0"/>
                          <a:ea typeface="Cambria Math" panose="02040503050406030204" pitchFamily="18" charset="0"/>
                          <a:cs typeface="Arial" panose="020B0604020202020204" pitchFamily="34" charset="0"/>
                        </a:rPr>
                        <m:t>is</m:t>
                      </m:r>
                      <m:r>
                        <a:rPr lang="en-US" i="0">
                          <a:latin typeface="Cambria Math" panose="02040503050406030204" pitchFamily="18" charset="0"/>
                          <a:ea typeface="Cambria Math" panose="02040503050406030204" pitchFamily="18" charset="0"/>
                          <a:cs typeface="Arial" panose="020B0604020202020204" pitchFamily="34" charset="0"/>
                        </a:rPr>
                        <m:t> </m:t>
                      </m:r>
                      <m:r>
                        <m:rPr>
                          <m:sty m:val="p"/>
                        </m:rPr>
                        <a:rPr lang="en-US" i="0">
                          <a:latin typeface="Cambria Math" panose="02040503050406030204" pitchFamily="18" charset="0"/>
                          <a:ea typeface="Cambria Math" panose="02040503050406030204" pitchFamily="18" charset="0"/>
                          <a:cs typeface="Arial" panose="020B0604020202020204" pitchFamily="34" charset="0"/>
                        </a:rPr>
                        <m:t>used</m:t>
                      </m:r>
                    </m:oMath>
                  </m:oMathPara>
                </a14:m>
                <a:br>
                  <a:rPr lang="en-US" dirty="0">
                    <a:latin typeface="Cambria Math" panose="02040503050406030204" pitchFamily="18" charset="0"/>
                    <a:ea typeface="Cambria Math" panose="02040503050406030204" pitchFamily="18" charset="0"/>
                    <a:cs typeface="Arial" panose="020B0604020202020204" pitchFamily="34" charset="0"/>
                  </a:rPr>
                </a:br>
                <a:endParaRPr lang="en-US" dirty="0"/>
              </a:p>
            </p:txBody>
          </p:sp>
        </mc:Choice>
        <mc:Fallback>
          <p:sp>
            <p:nvSpPr>
              <p:cNvPr id="6" name="TextBox 5">
                <a:extLst>
                  <a:ext uri="{FF2B5EF4-FFF2-40B4-BE49-F238E27FC236}">
                    <a16:creationId xmlns:a16="http://schemas.microsoft.com/office/drawing/2014/main" id="{C5D06799-1415-D321-0B49-96B717347835}"/>
                  </a:ext>
                </a:extLst>
              </p:cNvPr>
              <p:cNvSpPr txBox="1">
                <a:spLocks noRot="1" noChangeAspect="1" noMove="1" noResize="1" noEditPoints="1" noAdjustHandles="1" noChangeArrowheads="1" noChangeShapeType="1" noTextEdit="1"/>
              </p:cNvSpPr>
              <p:nvPr/>
            </p:nvSpPr>
            <p:spPr>
              <a:xfrm>
                <a:off x="6740156" y="1552286"/>
                <a:ext cx="3280257" cy="935577"/>
              </a:xfrm>
              <a:prstGeom prst="rect">
                <a:avLst/>
              </a:prstGeom>
              <a:blipFill>
                <a:blip r:embed="rId3"/>
                <a:stretch>
                  <a:fillRect b="-26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FE0BA04-BE57-5682-BA9F-A9E172EA81FC}"/>
                  </a:ext>
                </a:extLst>
              </p:cNvPr>
              <p:cNvSpPr txBox="1"/>
              <p:nvPr/>
            </p:nvSpPr>
            <p:spPr>
              <a:xfrm>
                <a:off x="6972413" y="2765253"/>
                <a:ext cx="6096000" cy="2071401"/>
              </a:xfrm>
              <a:prstGeom prst="rect">
                <a:avLst/>
              </a:prstGeom>
              <a:noFill/>
            </p:spPr>
            <p:txBody>
              <a:bodyPr wrap="square">
                <a:spAutoFit/>
              </a:bodyPr>
              <a:lstStyle/>
              <a:p>
                <a:pPr marL="0" marR="0" indent="0">
                  <a:lnSpc>
                    <a:spcPct val="107000"/>
                  </a:lnSpc>
                  <a:spcBef>
                    <a:spcPts val="0"/>
                  </a:spcBef>
                  <a:spcAft>
                    <a:spcPts val="800"/>
                  </a:spcAft>
                  <a:buNone/>
                </a:pPr>
                <a:r>
                  <a:rPr lang="en-US" sz="1800" b="1" dirty="0">
                    <a:latin typeface="Arial" panose="020B0604020202020204" pitchFamily="34" charset="0"/>
                    <a:ea typeface="Calibri" panose="020F0502020204030204" pitchFamily="34" charset="0"/>
                    <a:cs typeface="Arial" panose="020B0604020202020204" pitchFamily="34" charset="0"/>
                  </a:rPr>
                  <a:t>Parameters </a:t>
                </a:r>
              </a:p>
              <a:p>
                <a:pPr>
                  <a:lnSpc>
                    <a:spcPct val="107000"/>
                  </a:lnSpc>
                  <a:spcBef>
                    <a:spcPts val="0"/>
                  </a:spcBef>
                  <a:spcAft>
                    <a:spcPts val="800"/>
                  </a:spcAft>
                </a:pPr>
                <a14:m>
                  <m:oMath xmlns:m="http://schemas.openxmlformats.org/officeDocument/2006/math">
                    <m:r>
                      <a:rPr lang="fr-FR" b="0" i="1" smtClean="0">
                        <a:latin typeface="Cambria Math" panose="02040503050406030204" pitchFamily="18" charset="0"/>
                      </a:rPr>
                      <m:t>𝐷</m:t>
                    </m:r>
                    <m:d>
                      <m:dPr>
                        <m:ctrlPr>
                          <a:rPr lang="fr-FR" b="0" i="1" smtClean="0">
                            <a:latin typeface="Cambria Math" panose="02040503050406030204" pitchFamily="18" charset="0"/>
                          </a:rPr>
                        </m:ctrlPr>
                      </m:dPr>
                      <m:e>
                        <m:sSup>
                          <m:sSupPr>
                            <m:ctrlPr>
                              <a:rPr lang="fr-FR" b="0" i="1" smtClean="0">
                                <a:latin typeface="Cambria Math" panose="02040503050406030204" pitchFamily="18" charset="0"/>
                              </a:rPr>
                            </m:ctrlPr>
                          </m:sSupPr>
                          <m:e>
                            <m:r>
                              <a:rPr lang="fr-FR" b="0" i="1" smtClean="0">
                                <a:latin typeface="Cambria Math" panose="02040503050406030204" pitchFamily="18" charset="0"/>
                              </a:rPr>
                              <m:t>𝑃</m:t>
                            </m:r>
                          </m:e>
                          <m:sup>
                            <m:r>
                              <a:rPr lang="fr-FR" b="0" i="1" smtClean="0">
                                <a:latin typeface="Cambria Math" panose="02040503050406030204" pitchFamily="18" charset="0"/>
                              </a:rPr>
                              <m:t>𝑅𝑥</m:t>
                            </m:r>
                          </m:sup>
                        </m:sSup>
                        <m:r>
                          <a:rPr lang="fr-FR" b="0" i="1" smtClean="0">
                            <a:latin typeface="Cambria Math" panose="02040503050406030204" pitchFamily="18" charset="0"/>
                          </a:rPr>
                          <m:t>,</m:t>
                        </m:r>
                        <m:r>
                          <a:rPr lang="fr-FR" b="0" i="1" smtClean="0">
                            <a:latin typeface="Cambria Math" panose="02040503050406030204" pitchFamily="18" charset="0"/>
                          </a:rPr>
                          <m:t>𝛼</m:t>
                        </m:r>
                      </m:e>
                    </m:d>
                    <m:r>
                      <a:rPr lang="fr-FR" b="0" i="1" smtClean="0">
                        <a:latin typeface="Cambria Math" panose="02040503050406030204" pitchFamily="18" charset="0"/>
                      </a:rPr>
                      <m:t> </m:t>
                    </m:r>
                  </m:oMath>
                </a14:m>
                <a:r>
                  <a:rPr lang="fr-FR" sz="1800" b="0" dirty="0" err="1">
                    <a:latin typeface="Cambria Math" panose="02040503050406030204" pitchFamily="18" charset="0"/>
                    <a:ea typeface="Calibri" panose="020F0502020204030204" pitchFamily="34" charset="0"/>
                    <a:cs typeface="Arial" panose="020B0604020202020204" pitchFamily="34" charset="0"/>
                  </a:rPr>
                  <a:t>Interference</a:t>
                </a:r>
                <a:r>
                  <a:rPr lang="fr-FR" sz="1800" b="0" dirty="0">
                    <a:latin typeface="Cambria Math" panose="02040503050406030204" pitchFamily="18" charset="0"/>
                    <a:ea typeface="Calibri" panose="020F0502020204030204" pitchFamily="34" charset="0"/>
                    <a:cs typeface="Arial" panose="020B0604020202020204" pitchFamily="34" charset="0"/>
                  </a:rPr>
                  <a:t> Di-graph</a:t>
                </a:r>
                <a14:m>
                  <m:oMath xmlns:m="http://schemas.openxmlformats.org/officeDocument/2006/math">
                    <m:r>
                      <a:rPr lang="en-US" sz="1800" b="0" i="0" smtClean="0">
                        <a:latin typeface="Cambria Math" panose="02040503050406030204" pitchFamily="18" charset="0"/>
                        <a:ea typeface="Calibri" panose="020F0502020204030204" pitchFamily="34" charset="0"/>
                        <a:cs typeface="Arial" panose="020B0604020202020204" pitchFamily="34" charset="0"/>
                      </a:rPr>
                      <m:t> </m:t>
                    </m:r>
                  </m:oMath>
                </a14:m>
                <a:endParaRPr lang="en-US" sz="1800" b="0" dirty="0">
                  <a:latin typeface="Cambria Math" panose="02040503050406030204" pitchFamily="18" charset="0"/>
                  <a:ea typeface="Calibri" panose="020F0502020204030204" pitchFamily="34" charset="0"/>
                  <a:cs typeface="Arial" panose="020B0604020202020204" pitchFamily="34" charset="0"/>
                </a:endParaRPr>
              </a:p>
              <a:p>
                <a:pPr>
                  <a:lnSpc>
                    <a:spcPct val="107000"/>
                  </a:lnSpc>
                  <a:spcBef>
                    <a:spcPts val="0"/>
                  </a:spcBef>
                  <a:spcAft>
                    <a:spcPts val="800"/>
                  </a:spcAft>
                </a:pPr>
                <a14:m>
                  <m:oMath xmlns:m="http://schemas.openxmlformats.org/officeDocument/2006/math">
                    <m:d>
                      <m:dPr>
                        <m:begChr m:val="{"/>
                        <m:endChr m:val="}"/>
                        <m:ctrlPr>
                          <a:rPr lang="en-US" sz="1800" b="0" i="0" smtClean="0">
                            <a:latin typeface="Cambria Math" panose="02040503050406030204" pitchFamily="18" charset="0"/>
                            <a:ea typeface="Calibri" panose="020F0502020204030204" pitchFamily="34" charset="0"/>
                            <a:cs typeface="Arial" panose="020B0604020202020204" pitchFamily="34" charset="0"/>
                          </a:rPr>
                        </m:ctrlPr>
                      </m:dPr>
                      <m:e>
                        <m:r>
                          <m:rPr>
                            <m:sty m:val="p"/>
                          </m:rPr>
                          <a:rPr lang="en-US" sz="1800" b="0" i="0" smtClean="0">
                            <a:latin typeface="Cambria Math" panose="02040503050406030204" pitchFamily="18" charset="0"/>
                            <a:ea typeface="Calibri" panose="020F0502020204030204" pitchFamily="34" charset="0"/>
                            <a:cs typeface="Arial" panose="020B0604020202020204" pitchFamily="34" charset="0"/>
                          </a:rPr>
                          <m:t>i</m:t>
                        </m:r>
                        <m:r>
                          <a:rPr lang="en-US" sz="1800" b="0" i="0" smtClean="0">
                            <a:latin typeface="Cambria Math" panose="02040503050406030204" pitchFamily="18" charset="0"/>
                            <a:ea typeface="Calibri" panose="020F0502020204030204" pitchFamily="34" charset="0"/>
                            <a:cs typeface="Arial" panose="020B0604020202020204" pitchFamily="34" charset="0"/>
                          </a:rPr>
                          <m:t>,</m:t>
                        </m:r>
                        <m:r>
                          <m:rPr>
                            <m:sty m:val="p"/>
                          </m:rPr>
                          <a:rPr lang="en-US" sz="1800" b="0" i="0" smtClean="0">
                            <a:latin typeface="Cambria Math" panose="02040503050406030204" pitchFamily="18" charset="0"/>
                            <a:ea typeface="Calibri" panose="020F0502020204030204" pitchFamily="34" charset="0"/>
                            <a:cs typeface="Arial" panose="020B0604020202020204" pitchFamily="34" charset="0"/>
                          </a:rPr>
                          <m:t>j</m:t>
                        </m:r>
                      </m:e>
                    </m:d>
                    <m:r>
                      <a:rPr lang="en-US" sz="1800" b="0" i="0" smtClean="0">
                        <a:latin typeface="Cambria Math" panose="02040503050406030204" pitchFamily="18" charset="0"/>
                        <a:ea typeface="Calibri" panose="020F0502020204030204" pitchFamily="34" charset="0"/>
                        <a:cs typeface="Arial" panose="020B0604020202020204" pitchFamily="34" charset="0"/>
                      </a:rPr>
                      <m:t>∈</m:t>
                    </m:r>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A</m:t>
                    </m:r>
                    <m:r>
                      <a:rPr lang="en-US" sz="1800" b="0" i="0" smtClean="0">
                        <a:latin typeface="Cambria Math" panose="02040503050406030204" pitchFamily="18" charset="0"/>
                        <a:ea typeface="Calibri" panose="020F0502020204030204" pitchFamily="34" charset="0"/>
                        <a:cs typeface="Arial" panose="020B0604020202020204" pitchFamily="34" charset="0"/>
                      </a:rPr>
                      <m:t>⇒</m:t>
                    </m:r>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beam</m:t>
                    </m:r>
                    <m:r>
                      <a:rPr lang="fr-FR" sz="1800" b="0" i="0" smtClean="0">
                        <a:latin typeface="Cambria Math" panose="02040503050406030204" pitchFamily="18" charset="0"/>
                        <a:ea typeface="Calibri" panose="020F0502020204030204" pitchFamily="34" charset="0"/>
                        <a:cs typeface="Arial" panose="020B0604020202020204" pitchFamily="34" charset="0"/>
                      </a:rPr>
                      <m:t> </m:t>
                    </m:r>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j</m:t>
                    </m:r>
                    <m:r>
                      <a:rPr lang="fr-FR" sz="1800" b="0" i="0" smtClean="0">
                        <a:latin typeface="Cambria Math" panose="02040503050406030204" pitchFamily="18" charset="0"/>
                        <a:ea typeface="Calibri" panose="020F0502020204030204" pitchFamily="34" charset="0"/>
                        <a:cs typeface="Arial" panose="020B0604020202020204" pitchFamily="34" charset="0"/>
                      </a:rPr>
                      <m:t> </m:t>
                    </m:r>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is</m:t>
                    </m:r>
                    <m:r>
                      <a:rPr lang="fr-FR" sz="1800" b="0" i="0" smtClean="0">
                        <a:latin typeface="Cambria Math" panose="02040503050406030204" pitchFamily="18" charset="0"/>
                        <a:ea typeface="Calibri" panose="020F0502020204030204" pitchFamily="34" charset="0"/>
                        <a:cs typeface="Arial" panose="020B0604020202020204" pitchFamily="34" charset="0"/>
                      </a:rPr>
                      <m:t> </m:t>
                    </m:r>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aggressor</m:t>
                    </m:r>
                    <m:r>
                      <a:rPr lang="fr-FR" sz="1800" b="0" i="0" smtClean="0">
                        <a:latin typeface="Cambria Math" panose="02040503050406030204" pitchFamily="18" charset="0"/>
                        <a:ea typeface="Calibri" panose="020F0502020204030204" pitchFamily="34" charset="0"/>
                        <a:cs typeface="Arial" panose="020B0604020202020204" pitchFamily="34" charset="0"/>
                      </a:rPr>
                      <m:t> </m:t>
                    </m:r>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to</m:t>
                    </m:r>
                    <m:r>
                      <a:rPr lang="fr-FR" sz="1800" b="0" i="0" smtClean="0">
                        <a:latin typeface="Cambria Math" panose="02040503050406030204" pitchFamily="18" charset="0"/>
                        <a:ea typeface="Calibri" panose="020F0502020204030204" pitchFamily="34" charset="0"/>
                        <a:cs typeface="Arial" panose="020B0604020202020204" pitchFamily="34" charset="0"/>
                      </a:rPr>
                      <m:t> </m:t>
                    </m:r>
                  </m:oMath>
                </a14:m>
                <a:r>
                  <a:rPr lang="fr-FR" sz="1800" b="0" dirty="0" err="1">
                    <a:latin typeface="Cambria Math" panose="02040503050406030204" pitchFamily="18" charset="0"/>
                    <a:ea typeface="Calibri" panose="020F0502020204030204" pitchFamily="34" charset="0"/>
                    <a:cs typeface="Arial" panose="020B0604020202020204" pitchFamily="34" charset="0"/>
                  </a:rPr>
                  <a:t>cell</a:t>
                </a:r>
                <a:r>
                  <a:rPr lang="fr-FR" sz="1800" b="0" dirty="0">
                    <a:latin typeface="Cambria Math" panose="02040503050406030204" pitchFamily="18" charset="0"/>
                    <a:ea typeface="Calibri" panose="020F0502020204030204" pitchFamily="34" charset="0"/>
                    <a:cs typeface="Arial" panose="020B0604020202020204" pitchFamily="34" charset="0"/>
                  </a:rPr>
                  <a:t> i </a:t>
                </a:r>
                <a:br>
                  <a:rPr lang="fr-FR" sz="1800" b="0" dirty="0">
                    <a:latin typeface="Cambria Math" panose="02040503050406030204" pitchFamily="18" charset="0"/>
                    <a:ea typeface="Calibri" panose="020F0502020204030204" pitchFamily="34" charset="0"/>
                    <a:cs typeface="Arial" panose="020B0604020202020204" pitchFamily="34" charset="0"/>
                  </a:rPr>
                </a:br>
                <a14:m>
                  <m:oMath xmlns:m="http://schemas.openxmlformats.org/officeDocument/2006/math">
                    <m:sSub>
                      <m:sSubPr>
                        <m:ctrlPr>
                          <a:rPr lang="en-US" sz="1800" b="0" i="0" smtClean="0">
                            <a:latin typeface="Cambria Math" panose="02040503050406030204" pitchFamily="18" charset="0"/>
                            <a:ea typeface="Calibri" panose="020F0502020204030204" pitchFamily="34" charset="0"/>
                            <a:cs typeface="Arial" panose="020B0604020202020204" pitchFamily="34" charset="0"/>
                          </a:rPr>
                        </m:ctrlPr>
                      </m:sSubPr>
                      <m:e>
                        <m:r>
                          <m:rPr>
                            <m:sty m:val="p"/>
                          </m:rPr>
                          <a:rPr lang="en-US" sz="1800" b="0" i="0" smtClean="0">
                            <a:latin typeface="Cambria Math" panose="02040503050406030204" pitchFamily="18" charset="0"/>
                            <a:ea typeface="Calibri" panose="020F0502020204030204" pitchFamily="34" charset="0"/>
                            <a:cs typeface="Arial" panose="020B0604020202020204" pitchFamily="34" charset="0"/>
                          </a:rPr>
                          <m:t>w</m:t>
                        </m:r>
                      </m:e>
                      <m:sub>
                        <m:r>
                          <m:rPr>
                            <m:sty m:val="p"/>
                          </m:rPr>
                          <a:rPr lang="en-US" sz="1800" b="0" i="0" smtClean="0">
                            <a:latin typeface="Cambria Math" panose="02040503050406030204" pitchFamily="18" charset="0"/>
                            <a:ea typeface="Calibri" panose="020F0502020204030204" pitchFamily="34" charset="0"/>
                            <a:cs typeface="Arial" panose="020B0604020202020204" pitchFamily="34" charset="0"/>
                          </a:rPr>
                          <m:t>ij</m:t>
                        </m:r>
                      </m:sub>
                    </m:sSub>
                  </m:oMath>
                </a14:m>
                <a:r>
                  <a:rPr lang="fr-FR" sz="1800" b="0" dirty="0">
                    <a:latin typeface="Cambria Math" panose="02040503050406030204" pitchFamily="18" charset="0"/>
                    <a:ea typeface="Calibri" panose="020F0502020204030204" pitchFamily="34" charset="0"/>
                    <a:cs typeface="Arial" panose="020B0604020202020204" pitchFamily="34" charset="0"/>
                  </a:rPr>
                  <a:t> = </a:t>
                </a:r>
                <a14:m>
                  <m:oMath xmlns:m="http://schemas.openxmlformats.org/officeDocument/2006/math">
                    <m:sSubSup>
                      <m:sSubSupPr>
                        <m:ctrlPr>
                          <a:rPr lang="fr-FR" sz="1800" b="0" i="0" smtClean="0">
                            <a:latin typeface="Cambria Math" panose="02040503050406030204" pitchFamily="18" charset="0"/>
                            <a:ea typeface="Calibri" panose="020F0502020204030204" pitchFamily="34" charset="0"/>
                            <a:cs typeface="Arial" panose="020B0604020202020204" pitchFamily="34" charset="0"/>
                          </a:rPr>
                        </m:ctrlPr>
                      </m:sSubSupPr>
                      <m:e>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p</m:t>
                        </m:r>
                      </m:e>
                      <m:sub>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i</m:t>
                        </m:r>
                        <m:r>
                          <a:rPr lang="fr-FR" sz="1800" b="0" i="0" smtClean="0">
                            <a:latin typeface="Cambria Math" panose="02040503050406030204" pitchFamily="18" charset="0"/>
                            <a:ea typeface="Calibri" panose="020F0502020204030204" pitchFamily="34" charset="0"/>
                            <a:cs typeface="Arial" panose="020B0604020202020204" pitchFamily="34" charset="0"/>
                          </a:rPr>
                          <m:t>,</m:t>
                        </m:r>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j</m:t>
                        </m:r>
                      </m:sub>
                      <m:sup>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Rx</m:t>
                        </m:r>
                      </m:sup>
                    </m:sSubSup>
                    <m:r>
                      <a:rPr lang="fr-FR" sz="1800" b="0" i="0" smtClean="0">
                        <a:latin typeface="Cambria Math" panose="02040503050406030204" pitchFamily="18" charset="0"/>
                        <a:ea typeface="Calibri" panose="020F0502020204030204" pitchFamily="34" charset="0"/>
                        <a:cs typeface="Arial" panose="020B0604020202020204" pitchFamily="34" charset="0"/>
                      </a:rPr>
                      <m:t> </m:t>
                    </m:r>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if</m:t>
                    </m:r>
                    <m:r>
                      <a:rPr lang="fr-FR" sz="1800" b="0" i="0" smtClean="0">
                        <a:latin typeface="Cambria Math" panose="02040503050406030204" pitchFamily="18" charset="0"/>
                        <a:ea typeface="Calibri" panose="020F0502020204030204" pitchFamily="34" charset="0"/>
                        <a:cs typeface="Arial" panose="020B0604020202020204" pitchFamily="34" charset="0"/>
                      </a:rPr>
                      <m:t> </m:t>
                    </m:r>
                    <m:d>
                      <m:dPr>
                        <m:ctrlPr>
                          <a:rPr lang="fr-FR" sz="1800" b="0" i="0" smtClean="0">
                            <a:latin typeface="Cambria Math" panose="02040503050406030204" pitchFamily="18" charset="0"/>
                            <a:ea typeface="Calibri" panose="020F0502020204030204" pitchFamily="34" charset="0"/>
                            <a:cs typeface="Arial" panose="020B0604020202020204" pitchFamily="34" charset="0"/>
                          </a:rPr>
                        </m:ctrlPr>
                      </m:dPr>
                      <m:e>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i</m:t>
                        </m:r>
                        <m:r>
                          <a:rPr lang="fr-FR" sz="1800" b="0" i="0" smtClean="0">
                            <a:latin typeface="Cambria Math" panose="02040503050406030204" pitchFamily="18" charset="0"/>
                            <a:ea typeface="Calibri" panose="020F0502020204030204" pitchFamily="34" charset="0"/>
                            <a:cs typeface="Arial" panose="020B0604020202020204" pitchFamily="34" charset="0"/>
                          </a:rPr>
                          <m:t>,</m:t>
                        </m:r>
                        <m:r>
                          <m:rPr>
                            <m:sty m:val="p"/>
                          </m:rPr>
                          <a:rPr lang="fr-FR" sz="1800" b="0" i="0" smtClean="0">
                            <a:latin typeface="Cambria Math" panose="02040503050406030204" pitchFamily="18" charset="0"/>
                            <a:ea typeface="Calibri" panose="020F0502020204030204" pitchFamily="34" charset="0"/>
                            <a:cs typeface="Arial" panose="020B0604020202020204" pitchFamily="34" charset="0"/>
                          </a:rPr>
                          <m:t>j</m:t>
                        </m:r>
                      </m:e>
                    </m:d>
                    <m:r>
                      <a:rPr lang="fr-FR" sz="1800" b="0" i="0" smtClean="0">
                        <a:latin typeface="Cambria Math" panose="02040503050406030204" pitchFamily="18" charset="0"/>
                        <a:ea typeface="Calibri" panose="020F0502020204030204" pitchFamily="34" charset="0"/>
                        <a:cs typeface="Arial" panose="020B0604020202020204" pitchFamily="34" charset="0"/>
                      </a:rPr>
                      <m:t>∈</m:t>
                    </m:r>
                  </m:oMath>
                </a14:m>
                <a:r>
                  <a:rPr lang="fr-FR" sz="1800" b="0" dirty="0">
                    <a:latin typeface="Cambria Math" panose="02040503050406030204" pitchFamily="18" charset="0"/>
                    <a:ea typeface="Calibri" panose="020F0502020204030204" pitchFamily="34" charset="0"/>
                    <a:cs typeface="Arial" panose="020B0604020202020204" pitchFamily="34" charset="0"/>
                  </a:rPr>
                  <a:t> </a:t>
                </a:r>
                <a14:m>
                  <m:oMath xmlns:m="http://schemas.openxmlformats.org/officeDocument/2006/math">
                    <m:r>
                      <m:rPr>
                        <m:sty m:val="p"/>
                      </m:rPr>
                      <a:rPr lang="el-GR" i="0">
                        <a:latin typeface="Cambria Math" panose="02040503050406030204" pitchFamily="18" charset="0"/>
                        <a:ea typeface="Cambria Math" panose="02040503050406030204" pitchFamily="18" charset="0"/>
                      </a:rPr>
                      <m:t>Α</m:t>
                    </m:r>
                    <m:r>
                      <a:rPr lang="fr-FR" b="0" i="0" smtClean="0">
                        <a:latin typeface="Cambria Math" panose="02040503050406030204" pitchFamily="18" charset="0"/>
                        <a:ea typeface="Cambria Math" panose="02040503050406030204" pitchFamily="18" charset="0"/>
                      </a:rPr>
                      <m:t> </m:t>
                    </m:r>
                    <m:r>
                      <m:rPr>
                        <m:sty m:val="p"/>
                      </m:rPr>
                      <a:rPr lang="fr-FR" b="0" i="0" smtClean="0">
                        <a:latin typeface="Cambria Math" panose="02040503050406030204" pitchFamily="18" charset="0"/>
                        <a:ea typeface="Cambria Math" panose="02040503050406030204" pitchFamily="18" charset="0"/>
                      </a:rPr>
                      <m:t>and</m:t>
                    </m:r>
                    <m:r>
                      <a:rPr lang="fr-FR" b="0" i="0" smtClean="0">
                        <a:latin typeface="Cambria Math" panose="02040503050406030204" pitchFamily="18" charset="0"/>
                        <a:ea typeface="Cambria Math" panose="02040503050406030204" pitchFamily="18" charset="0"/>
                      </a:rPr>
                      <m:t> 0 </m:t>
                    </m:r>
                    <m:r>
                      <m:rPr>
                        <m:sty m:val="p"/>
                      </m:rPr>
                      <a:rPr lang="fr-FR" b="0" i="0" smtClean="0">
                        <a:latin typeface="Cambria Math" panose="02040503050406030204" pitchFamily="18" charset="0"/>
                        <a:ea typeface="Cambria Math" panose="02040503050406030204" pitchFamily="18" charset="0"/>
                      </a:rPr>
                      <m:t>otherwise</m:t>
                    </m:r>
                    <m:r>
                      <a:rPr lang="fr-FR" b="0" i="0" smtClean="0">
                        <a:latin typeface="Cambria Math" panose="02040503050406030204" pitchFamily="18" charset="0"/>
                        <a:ea typeface="Cambria Math" panose="02040503050406030204" pitchFamily="18" charset="0"/>
                      </a:rPr>
                      <m:t> </m:t>
                    </m:r>
                  </m:oMath>
                </a14:m>
                <a:endParaRPr lang="fr-FR" sz="1800" b="0" dirty="0">
                  <a:latin typeface="Cambria Math" panose="02040503050406030204" pitchFamily="18" charset="0"/>
                  <a:ea typeface="Calibri" panose="020F0502020204030204" pitchFamily="34" charset="0"/>
                  <a:cs typeface="Arial" panose="020B0604020202020204" pitchFamily="34" charset="0"/>
                </a:endParaRPr>
              </a:p>
              <a:p>
                <a:pPr>
                  <a:lnSpc>
                    <a:spcPct val="107000"/>
                  </a:lnSpc>
                  <a:spcBef>
                    <a:spcPts val="0"/>
                  </a:spcBef>
                  <a:spcAft>
                    <a:spcPts val="800"/>
                  </a:spcAft>
                </a:pPr>
                <a14:m>
                  <m:oMathPara xmlns:m="http://schemas.openxmlformats.org/officeDocument/2006/math">
                    <m:oMathParaPr>
                      <m:jc m:val="left"/>
                    </m:oMathParaPr>
                    <m:oMath>
                      <m:sSub>
                        <m:sSubPr>
                          <m:ctrlPr>
                            <a:rPr lang="fr-FR" sz="1800" b="0" i="0" smtClean="0">
                              <a:latin typeface="Cambria Math" panose="02040503050406030204" pitchFamily="18" charset="0"/>
                              <a:ea typeface="Cambria Math" panose="02040503050406030204" pitchFamily="18" charset="0"/>
                              <a:cs typeface="Arial" panose="020B0604020202020204" pitchFamily="34" charset="0"/>
                            </a:rPr>
                          </m:ctrlPr>
                        </m:sSubPr>
                        <m:e>
                          <m:r>
                            <m:rPr>
                              <m:sty m:val="p"/>
                            </m:rPr>
                            <a:rPr lang="fr-FR" sz="1800" b="0" i="0" smtClean="0">
                              <a:latin typeface="Cambria Math" panose="02040503050406030204" pitchFamily="18" charset="0"/>
                              <a:ea typeface="Cambria Math" panose="02040503050406030204" pitchFamily="18" charset="0"/>
                              <a:cs typeface="Arial" panose="020B0604020202020204" pitchFamily="34" charset="0"/>
                            </a:rPr>
                            <m:t>B</m:t>
                          </m:r>
                        </m:e>
                        <m:sub>
                          <m:r>
                            <m:rPr>
                              <m:sty m:val="p"/>
                            </m:rPr>
                            <a:rPr lang="fr-FR" sz="1800" b="0" i="0" smtClean="0">
                              <a:latin typeface="Cambria Math" panose="02040503050406030204" pitchFamily="18" charset="0"/>
                              <a:ea typeface="Cambria Math" panose="02040503050406030204" pitchFamily="18" charset="0"/>
                              <a:cs typeface="Arial" panose="020B0604020202020204" pitchFamily="34" charset="0"/>
                            </a:rPr>
                            <m:t>j</m:t>
                          </m:r>
                        </m:sub>
                      </m:sSub>
                      <m:r>
                        <a:rPr lang="en-US" sz="1800" b="0" i="0" smtClean="0">
                          <a:latin typeface="Cambria Math" panose="02040503050406030204" pitchFamily="18" charset="0"/>
                          <a:ea typeface="Cambria Math" panose="02040503050406030204" pitchFamily="18" charset="0"/>
                          <a:cs typeface="Arial" panose="020B0604020202020204" pitchFamily="34" charset="0"/>
                        </a:rPr>
                        <m:t>≥0 </m:t>
                      </m:r>
                      <m:r>
                        <m:rPr>
                          <m:sty m:val="p"/>
                        </m:rPr>
                        <a:rPr lang="en-US" sz="1800" b="0" i="0" smtClean="0">
                          <a:latin typeface="Cambria Math" panose="02040503050406030204" pitchFamily="18" charset="0"/>
                          <a:ea typeface="Cambria Math" panose="02040503050406030204" pitchFamily="18" charset="0"/>
                          <a:cs typeface="Arial" panose="020B0604020202020204" pitchFamily="34" charset="0"/>
                        </a:rPr>
                        <m:t>common</m:t>
                      </m:r>
                      <m:r>
                        <a:rPr lang="en-US" sz="1800" b="0" i="0"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1800" b="0" i="0" smtClean="0">
                          <a:latin typeface="Cambria Math" panose="02040503050406030204" pitchFamily="18" charset="0"/>
                          <a:ea typeface="Cambria Math" panose="02040503050406030204" pitchFamily="18" charset="0"/>
                          <a:cs typeface="Arial" panose="020B0604020202020204" pitchFamily="34" charset="0"/>
                        </a:rPr>
                        <m:t>conflict</m:t>
                      </m:r>
                      <m:r>
                        <a:rPr lang="en-US" sz="1800" b="0" i="0"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1800" b="0" i="0" smtClean="0">
                          <a:latin typeface="Cambria Math" panose="02040503050406030204" pitchFamily="18" charset="0"/>
                          <a:ea typeface="Cambria Math" panose="02040503050406030204" pitchFamily="18" charset="0"/>
                          <a:cs typeface="Arial" panose="020B0604020202020204" pitchFamily="34" charset="0"/>
                        </a:rPr>
                        <m:t>budget</m:t>
                      </m:r>
                      <m:r>
                        <a:rPr lang="en-US" sz="1800" b="0" i="0"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1800" b="0" i="0" smtClean="0">
                          <a:latin typeface="Cambria Math" panose="02040503050406030204" pitchFamily="18" charset="0"/>
                          <a:ea typeface="Cambria Math" panose="02040503050406030204" pitchFamily="18" charset="0"/>
                          <a:cs typeface="Arial" panose="020B0604020202020204" pitchFamily="34" charset="0"/>
                        </a:rPr>
                        <m:t>permitted</m:t>
                      </m:r>
                      <m:r>
                        <a:rPr lang="en-US" sz="1800" b="0" i="0"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1800" b="0" i="0" smtClean="0">
                          <a:latin typeface="Cambria Math" panose="02040503050406030204" pitchFamily="18" charset="0"/>
                          <a:ea typeface="Cambria Math" panose="02040503050406030204" pitchFamily="18" charset="0"/>
                          <a:cs typeface="Arial" panose="020B0604020202020204" pitchFamily="34" charset="0"/>
                        </a:rPr>
                        <m:t>at</m:t>
                      </m:r>
                      <m:r>
                        <a:rPr lang="en-US" sz="1800" b="0" i="0" smtClean="0">
                          <a:latin typeface="Cambria Math" panose="02040503050406030204" pitchFamily="18" charset="0"/>
                          <a:ea typeface="Cambria Math" panose="02040503050406030204" pitchFamily="18" charset="0"/>
                          <a:cs typeface="Arial" panose="020B0604020202020204" pitchFamily="34" charset="0"/>
                        </a:rPr>
                        <m:t> </m:t>
                      </m:r>
                      <m:r>
                        <m:rPr>
                          <m:sty m:val="p"/>
                        </m:rPr>
                        <a:rPr lang="en-US" sz="1800" b="0" i="0" smtClean="0">
                          <a:latin typeface="Cambria Math" panose="02040503050406030204" pitchFamily="18" charset="0"/>
                          <a:ea typeface="Cambria Math" panose="02040503050406030204" pitchFamily="18" charset="0"/>
                          <a:cs typeface="Arial" panose="020B0604020202020204" pitchFamily="34" charset="0"/>
                        </a:rPr>
                        <m:t>cell</m:t>
                      </m:r>
                      <m:r>
                        <a:rPr lang="en-US" sz="1800" b="0" i="0" smtClean="0">
                          <a:latin typeface="Cambria Math" panose="02040503050406030204" pitchFamily="18" charset="0"/>
                          <a:ea typeface="Cambria Math" panose="02040503050406030204" pitchFamily="18" charset="0"/>
                          <a:cs typeface="Arial" panose="020B0604020202020204" pitchFamily="34" charset="0"/>
                        </a:rPr>
                        <m:t> </m:t>
                      </m:r>
                      <m:r>
                        <m:rPr>
                          <m:sty m:val="p"/>
                        </m:rPr>
                        <a:rPr lang="fr-FR" sz="1800" b="0" i="0" smtClean="0">
                          <a:latin typeface="Cambria Math" panose="02040503050406030204" pitchFamily="18" charset="0"/>
                          <a:ea typeface="Cambria Math" panose="02040503050406030204" pitchFamily="18" charset="0"/>
                          <a:cs typeface="Arial" panose="020B0604020202020204" pitchFamily="34" charset="0"/>
                        </a:rPr>
                        <m:t>j</m:t>
                      </m:r>
                    </m:oMath>
                  </m:oMathPara>
                </a14:m>
                <a:endParaRPr lang="en-US" sz="1800" b="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3FE0BA04-BE57-5682-BA9F-A9E172EA81FC}"/>
                  </a:ext>
                </a:extLst>
              </p:cNvPr>
              <p:cNvSpPr txBox="1">
                <a:spLocks noRot="1" noChangeAspect="1" noMove="1" noResize="1" noEditPoints="1" noAdjustHandles="1" noChangeArrowheads="1" noChangeShapeType="1" noTextEdit="1"/>
              </p:cNvSpPr>
              <p:nvPr/>
            </p:nvSpPr>
            <p:spPr>
              <a:xfrm>
                <a:off x="6972413" y="2765253"/>
                <a:ext cx="6096000" cy="2071401"/>
              </a:xfrm>
              <a:prstGeom prst="rect">
                <a:avLst/>
              </a:prstGeom>
              <a:blipFill>
                <a:blip r:embed="rId4"/>
                <a:stretch>
                  <a:fillRect l="-900" t="-17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2A7DBCA-73B9-11D7-5D46-CB4D7E1FFA3E}"/>
                  </a:ext>
                </a:extLst>
              </p:cNvPr>
              <p:cNvSpPr txBox="1"/>
              <p:nvPr/>
            </p:nvSpPr>
            <p:spPr>
              <a:xfrm>
                <a:off x="499140" y="5449554"/>
                <a:ext cx="10781028" cy="923330"/>
              </a:xfrm>
              <a:prstGeom prst="rect">
                <a:avLst/>
              </a:prstGeom>
              <a:noFill/>
            </p:spPr>
            <p:txBody>
              <a:bodyPr wrap="none" rtlCol="0">
                <a:spAutoFit/>
              </a:bodyPr>
              <a:lstStyle/>
              <a:p>
                <a:r>
                  <a:rPr lang="en-US" dirty="0"/>
                  <a:t>Why minimizing the number of colors ? </a:t>
                </a:r>
                <a:br>
                  <a:rPr lang="en-US" dirty="0"/>
                </a:b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By minimizing the number of colors, we make sure that we avoid the excessive bandwidth time splitting + </a:t>
                </a:r>
              </a:p>
              <a:p>
                <a:r>
                  <a:rPr lang="en-US" dirty="0"/>
                  <a:t>We have a constraint on the interference limit </a:t>
                </a:r>
              </a:p>
            </p:txBody>
          </p:sp>
        </mc:Choice>
        <mc:Fallback>
          <p:sp>
            <p:nvSpPr>
              <p:cNvPr id="9" name="TextBox 8">
                <a:extLst>
                  <a:ext uri="{FF2B5EF4-FFF2-40B4-BE49-F238E27FC236}">
                    <a16:creationId xmlns:a16="http://schemas.microsoft.com/office/drawing/2014/main" id="{12A7DBCA-73B9-11D7-5D46-CB4D7E1FFA3E}"/>
                  </a:ext>
                </a:extLst>
              </p:cNvPr>
              <p:cNvSpPr txBox="1">
                <a:spLocks noRot="1" noChangeAspect="1" noMove="1" noResize="1" noEditPoints="1" noAdjustHandles="1" noChangeArrowheads="1" noChangeShapeType="1" noTextEdit="1"/>
              </p:cNvSpPr>
              <p:nvPr/>
            </p:nvSpPr>
            <p:spPr>
              <a:xfrm>
                <a:off x="499140" y="5449554"/>
                <a:ext cx="10781028" cy="923330"/>
              </a:xfrm>
              <a:prstGeom prst="rect">
                <a:avLst/>
              </a:prstGeom>
              <a:blipFill>
                <a:blip r:embed="rId5"/>
                <a:stretch>
                  <a:fillRect l="-509" t="-3311" b="-10596"/>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0A2AA0A7-5213-2C4D-AB29-5C923F2269AD}"/>
              </a:ext>
            </a:extLst>
          </p:cNvPr>
          <p:cNvSpPr txBox="1"/>
          <p:nvPr/>
        </p:nvSpPr>
        <p:spPr>
          <a:xfrm>
            <a:off x="5694729" y="2423579"/>
            <a:ext cx="442750" cy="369332"/>
          </a:xfrm>
          <a:prstGeom prst="rect">
            <a:avLst/>
          </a:prstGeom>
          <a:noFill/>
        </p:spPr>
        <p:txBody>
          <a:bodyPr wrap="none" rtlCol="0">
            <a:spAutoFit/>
          </a:bodyPr>
          <a:lstStyle/>
          <a:p>
            <a:r>
              <a:rPr lang="en-US" dirty="0"/>
              <a:t>(1)</a:t>
            </a:r>
          </a:p>
        </p:txBody>
      </p:sp>
      <p:sp>
        <p:nvSpPr>
          <p:cNvPr id="12" name="TextBox 11">
            <a:extLst>
              <a:ext uri="{FF2B5EF4-FFF2-40B4-BE49-F238E27FC236}">
                <a16:creationId xmlns:a16="http://schemas.microsoft.com/office/drawing/2014/main" id="{35A7C84D-4540-CE31-5CBC-CFDA6A0852A6}"/>
              </a:ext>
            </a:extLst>
          </p:cNvPr>
          <p:cNvSpPr txBox="1"/>
          <p:nvPr/>
        </p:nvSpPr>
        <p:spPr>
          <a:xfrm>
            <a:off x="5694729" y="3009804"/>
            <a:ext cx="6258338" cy="369332"/>
          </a:xfrm>
          <a:prstGeom prst="rect">
            <a:avLst/>
          </a:prstGeom>
          <a:noFill/>
        </p:spPr>
        <p:txBody>
          <a:bodyPr wrap="square">
            <a:spAutoFit/>
          </a:bodyPr>
          <a:lstStyle/>
          <a:p>
            <a:r>
              <a:rPr lang="en-US" dirty="0"/>
              <a:t>(2)</a:t>
            </a:r>
          </a:p>
        </p:txBody>
      </p:sp>
      <p:sp>
        <p:nvSpPr>
          <p:cNvPr id="13" name="TextBox 12">
            <a:extLst>
              <a:ext uri="{FF2B5EF4-FFF2-40B4-BE49-F238E27FC236}">
                <a16:creationId xmlns:a16="http://schemas.microsoft.com/office/drawing/2014/main" id="{8D317656-3138-D7DF-4FA0-7FB5D386C2E4}"/>
              </a:ext>
            </a:extLst>
          </p:cNvPr>
          <p:cNvSpPr txBox="1"/>
          <p:nvPr/>
        </p:nvSpPr>
        <p:spPr>
          <a:xfrm>
            <a:off x="5694729" y="3662343"/>
            <a:ext cx="442750" cy="369332"/>
          </a:xfrm>
          <a:prstGeom prst="rect">
            <a:avLst/>
          </a:prstGeom>
          <a:noFill/>
        </p:spPr>
        <p:txBody>
          <a:bodyPr wrap="none" rtlCol="0">
            <a:spAutoFit/>
          </a:bodyPr>
          <a:lstStyle/>
          <a:p>
            <a:r>
              <a:rPr lang="en-US" dirty="0"/>
              <a:t>(3)</a:t>
            </a:r>
          </a:p>
        </p:txBody>
      </p:sp>
      <p:sp>
        <p:nvSpPr>
          <p:cNvPr id="14" name="TextBox 13">
            <a:extLst>
              <a:ext uri="{FF2B5EF4-FFF2-40B4-BE49-F238E27FC236}">
                <a16:creationId xmlns:a16="http://schemas.microsoft.com/office/drawing/2014/main" id="{71AC9CB5-DD52-C712-A8D2-895F1D74A785}"/>
              </a:ext>
            </a:extLst>
          </p:cNvPr>
          <p:cNvSpPr txBox="1"/>
          <p:nvPr/>
        </p:nvSpPr>
        <p:spPr>
          <a:xfrm>
            <a:off x="5734487" y="4330781"/>
            <a:ext cx="442750" cy="369332"/>
          </a:xfrm>
          <a:prstGeom prst="rect">
            <a:avLst/>
          </a:prstGeom>
          <a:noFill/>
        </p:spPr>
        <p:txBody>
          <a:bodyPr wrap="none" rtlCol="0">
            <a:spAutoFit/>
          </a:bodyPr>
          <a:lstStyle/>
          <a:p>
            <a:r>
              <a:rPr lang="en-US" dirty="0"/>
              <a:t>(4)</a:t>
            </a:r>
          </a:p>
        </p:txBody>
      </p:sp>
      <p:sp>
        <p:nvSpPr>
          <p:cNvPr id="3" name="Footer Placeholder 2">
            <a:extLst>
              <a:ext uri="{FF2B5EF4-FFF2-40B4-BE49-F238E27FC236}">
                <a16:creationId xmlns:a16="http://schemas.microsoft.com/office/drawing/2014/main" id="{80B5766D-14CA-3352-DF29-A242D59DE8D2}"/>
              </a:ext>
            </a:extLst>
          </p:cNvPr>
          <p:cNvSpPr>
            <a:spLocks noGrp="1"/>
          </p:cNvSpPr>
          <p:nvPr>
            <p:ph type="ftr" sz="quarter" idx="11"/>
          </p:nvPr>
        </p:nvSpPr>
        <p:spPr/>
        <p:txBody>
          <a:bodyPr/>
          <a:lstStyle/>
          <a:p>
            <a:r>
              <a:rPr lang="fr-FR"/>
              <a:t>NTN Days 2026 - 13/10/2026</a:t>
            </a:r>
            <a:endParaRPr lang="en-US"/>
          </a:p>
        </p:txBody>
      </p:sp>
      <p:sp>
        <p:nvSpPr>
          <p:cNvPr id="4" name="Slide Number Placeholder 3">
            <a:extLst>
              <a:ext uri="{FF2B5EF4-FFF2-40B4-BE49-F238E27FC236}">
                <a16:creationId xmlns:a16="http://schemas.microsoft.com/office/drawing/2014/main" id="{A95C00BD-26C0-4794-5869-E87E33C51189}"/>
              </a:ext>
            </a:extLst>
          </p:cNvPr>
          <p:cNvSpPr>
            <a:spLocks noGrp="1"/>
          </p:cNvSpPr>
          <p:nvPr>
            <p:ph type="sldNum" sz="quarter" idx="12"/>
          </p:nvPr>
        </p:nvSpPr>
        <p:spPr/>
        <p:txBody>
          <a:bodyPr/>
          <a:lstStyle/>
          <a:p>
            <a:fld id="{2435CAA8-A57F-4BB3-B57F-962D9E660ABB}" type="slidenum">
              <a:rPr lang="en-US" smtClean="0"/>
              <a:t>12</a:t>
            </a:fld>
            <a:endParaRPr lang="en-US"/>
          </a:p>
        </p:txBody>
      </p:sp>
    </p:spTree>
    <p:extLst>
      <p:ext uri="{BB962C8B-B14F-4D97-AF65-F5344CB8AC3E}">
        <p14:creationId xmlns:p14="http://schemas.microsoft.com/office/powerpoint/2010/main" val="1108385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4BCF47-072A-D150-9A59-963469350456}"/>
                  </a:ext>
                </a:extLst>
              </p:cNvPr>
              <p:cNvSpPr>
                <a:spLocks noGrp="1"/>
              </p:cNvSpPr>
              <p:nvPr>
                <p:ph idx="1"/>
              </p:nvPr>
            </p:nvSpPr>
            <p:spPr>
              <a:xfrm>
                <a:off x="678543" y="310314"/>
                <a:ext cx="10515600" cy="4351338"/>
              </a:xfrm>
            </p:spPr>
            <p:txBody>
              <a:bodyPr>
                <a:normAutofit/>
              </a:bodyPr>
              <a:lstStyle/>
              <a:p>
                <a:r>
                  <a:rPr lang="en-US" sz="1600" dirty="0">
                    <a:latin typeface="Ericsson Hilda" panose="00000500000000000000" pitchFamily="2" charset="0"/>
                  </a:rPr>
                  <a:t>Choice of </a:t>
                </a:r>
                <a14:m>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 </m:t>
                    </m:r>
                  </m:oMath>
                </a14:m>
                <a:endParaRPr lang="fr-FR" sz="1600" b="0" dirty="0">
                  <a:latin typeface="Ericsson Hilda" panose="00000500000000000000" pitchFamily="2" charset="0"/>
                </a:endParaRPr>
              </a:p>
              <a:p>
                <a:r>
                  <a:rPr lang="fr-FR" sz="1600" dirty="0">
                    <a:latin typeface="Ericsson Hilda" panose="00000500000000000000" pitchFamily="2" charset="0"/>
                  </a:rPr>
                  <a:t>How </a:t>
                </a:r>
                <a:r>
                  <a:rPr lang="fr-FR" sz="1600" dirty="0" err="1">
                    <a:latin typeface="Ericsson Hilda" panose="00000500000000000000" pitchFamily="2" charset="0"/>
                  </a:rPr>
                  <a:t>does</a:t>
                </a:r>
                <a:r>
                  <a:rPr lang="fr-FR" sz="1600" dirty="0">
                    <a:latin typeface="Ericsson Hilda" panose="00000500000000000000" pitchFamily="2" charset="0"/>
                  </a:rPr>
                  <a:t> </a:t>
                </a:r>
                <a14:m>
                  <m:oMath xmlns:m="http://schemas.openxmlformats.org/officeDocument/2006/math">
                    <m:r>
                      <a:rPr lang="fr-FR" sz="1600" b="0" i="1" smtClean="0">
                        <a:latin typeface="Cambria Math" panose="02040503050406030204" pitchFamily="18" charset="0"/>
                      </a:rPr>
                      <m:t>𝛼</m:t>
                    </m:r>
                    <m:r>
                      <a:rPr lang="fr-FR" sz="1600" b="0" i="0" smtClean="0">
                        <a:latin typeface="Cambria Math" panose="02040503050406030204" pitchFamily="18" charset="0"/>
                      </a:rPr>
                      <m:t> </m:t>
                    </m:r>
                  </m:oMath>
                </a14:m>
                <a:r>
                  <a:rPr lang="fr-FR" sz="1600" b="0" dirty="0">
                    <a:latin typeface="Ericsson Hilda" panose="00000500000000000000" pitchFamily="2" charset="0"/>
                  </a:rPr>
                  <a:t>impact the performance of the </a:t>
                </a:r>
                <a:r>
                  <a:rPr lang="fr-FR" sz="1600" b="0" dirty="0" err="1">
                    <a:latin typeface="Ericsson Hilda" panose="00000500000000000000" pitchFamily="2" charset="0"/>
                  </a:rPr>
                  <a:t>algorithm</a:t>
                </a:r>
                <a:r>
                  <a:rPr lang="fr-FR" sz="1600" b="0" dirty="0">
                    <a:latin typeface="Ericsson Hilda" panose="00000500000000000000" pitchFamily="2" charset="0"/>
                  </a:rPr>
                  <a:t> ?</a:t>
                </a:r>
              </a:p>
              <a:p>
                <a:pPr lvl="1"/>
                <a14:m>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 </m:t>
                    </m:r>
                  </m:oMath>
                </a14:m>
                <a:r>
                  <a:rPr lang="fr-FR" sz="1600" b="0" dirty="0" err="1">
                    <a:latin typeface="Ericsson Hilda" panose="00000500000000000000" pitchFamily="2" charset="0"/>
                  </a:rPr>
                  <a:t>controls</a:t>
                </a:r>
                <a:r>
                  <a:rPr lang="fr-FR" sz="1600" b="0" dirty="0">
                    <a:latin typeface="Ericsson Hilda" panose="00000500000000000000" pitchFamily="2" charset="0"/>
                  </a:rPr>
                  <a:t> the </a:t>
                </a:r>
                <a:r>
                  <a:rPr lang="fr-FR" sz="1600" b="0" dirty="0" err="1">
                    <a:latin typeface="Ericsson Hilda" panose="00000500000000000000" pitchFamily="2" charset="0"/>
                  </a:rPr>
                  <a:t>density</a:t>
                </a:r>
                <a:r>
                  <a:rPr lang="fr-FR" sz="1600" b="0" dirty="0">
                    <a:latin typeface="Ericsson Hilda" panose="00000500000000000000" pitchFamily="2" charset="0"/>
                  </a:rPr>
                  <a:t> of the di-graph :</a:t>
                </a:r>
              </a:p>
              <a:p>
                <a:pPr lvl="2"/>
                <a14:m>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=1 →</m:t>
                    </m:r>
                    <m:r>
                      <a:rPr lang="fr-FR" sz="1600" b="0" i="1" smtClean="0">
                        <a:latin typeface="Cambria Math" panose="02040503050406030204" pitchFamily="18" charset="0"/>
                      </a:rPr>
                      <m:t>𝐷</m:t>
                    </m:r>
                    <m:d>
                      <m:dPr>
                        <m:ctrlPr>
                          <a:rPr lang="fr-FR" sz="1600" b="0" i="1" smtClean="0">
                            <a:latin typeface="Cambria Math" panose="02040503050406030204" pitchFamily="18" charset="0"/>
                          </a:rPr>
                        </m:ctrlPr>
                      </m:dPr>
                      <m:e>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𝑃</m:t>
                            </m:r>
                          </m:e>
                          <m:sup>
                            <m:r>
                              <a:rPr lang="fr-FR" sz="1600" b="0" i="1" smtClean="0">
                                <a:latin typeface="Cambria Math" panose="02040503050406030204" pitchFamily="18" charset="0"/>
                              </a:rPr>
                              <m:t>𝑅𝑥</m:t>
                            </m:r>
                          </m:sup>
                        </m:sSup>
                        <m:r>
                          <a:rPr lang="fr-FR" sz="1600" b="0" i="1" smtClean="0">
                            <a:latin typeface="Cambria Math" panose="02040503050406030204" pitchFamily="18" charset="0"/>
                          </a:rPr>
                          <m:t>,</m:t>
                        </m:r>
                        <m:r>
                          <a:rPr lang="fr-FR" sz="1600" b="0" i="1" smtClean="0">
                            <a:latin typeface="Cambria Math" panose="02040503050406030204" pitchFamily="18" charset="0"/>
                          </a:rPr>
                          <m:t>𝛼</m:t>
                        </m:r>
                      </m:e>
                    </m:d>
                    <m:r>
                      <a:rPr lang="fr-FR" sz="1600" b="0" i="1" smtClean="0">
                        <a:latin typeface="Cambria Math" panose="02040503050406030204" pitchFamily="18" charset="0"/>
                      </a:rPr>
                      <m:t> </m:t>
                    </m:r>
                    <m:r>
                      <a:rPr lang="fr-FR" sz="1600" b="0" i="1" smtClean="0">
                        <a:latin typeface="Cambria Math" panose="02040503050406030204" pitchFamily="18" charset="0"/>
                      </a:rPr>
                      <m:t>𝑖𝑠</m:t>
                    </m:r>
                    <m:r>
                      <a:rPr lang="fr-FR" sz="1600" b="0" i="1" smtClean="0">
                        <a:latin typeface="Cambria Math" panose="02040503050406030204" pitchFamily="18" charset="0"/>
                      </a:rPr>
                      <m:t> </m:t>
                    </m:r>
                    <m:r>
                      <a:rPr lang="fr-FR" sz="1600" b="0" i="1" smtClean="0">
                        <a:latin typeface="Cambria Math" panose="02040503050406030204" pitchFamily="18" charset="0"/>
                      </a:rPr>
                      <m:t>𝑐𝑜𝑚𝑝𝑙𝑒𝑡𝑒</m:t>
                    </m:r>
                  </m:oMath>
                </a14:m>
                <a:endParaRPr lang="fr-FR" sz="1600" b="0" dirty="0">
                  <a:latin typeface="Ericsson Hilda" panose="00000500000000000000" pitchFamily="2" charset="0"/>
                </a:endParaRPr>
              </a:p>
              <a:p>
                <a:pPr lvl="2"/>
                <a14:m>
                  <m:oMath xmlns:m="http://schemas.openxmlformats.org/officeDocument/2006/math">
                    <m:r>
                      <a:rPr lang="fr-FR" sz="1600" b="0" i="1" smtClean="0">
                        <a:latin typeface="Cambria Math" panose="02040503050406030204" pitchFamily="18" charset="0"/>
                      </a:rPr>
                      <m:t>𝛼</m:t>
                    </m:r>
                    <m:r>
                      <a:rPr lang="fr-FR" sz="1600" b="0" i="1" smtClean="0">
                        <a:latin typeface="Cambria Math" panose="02040503050406030204" pitchFamily="18" charset="0"/>
                      </a:rPr>
                      <m:t>=0 →</m:t>
                    </m:r>
                    <m:r>
                      <a:rPr lang="fr-FR" sz="1600" b="0" i="1" smtClean="0">
                        <a:latin typeface="Cambria Math" panose="02040503050406030204" pitchFamily="18" charset="0"/>
                      </a:rPr>
                      <m:t>𝐷</m:t>
                    </m:r>
                    <m:d>
                      <m:dPr>
                        <m:ctrlPr>
                          <a:rPr lang="fr-FR" sz="1600" b="0" i="1" smtClean="0">
                            <a:latin typeface="Cambria Math" panose="02040503050406030204" pitchFamily="18" charset="0"/>
                          </a:rPr>
                        </m:ctrlPr>
                      </m:dPr>
                      <m:e>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𝑃</m:t>
                            </m:r>
                          </m:e>
                          <m:sup>
                            <m:r>
                              <a:rPr lang="fr-FR" sz="1600" b="0" i="1" smtClean="0">
                                <a:latin typeface="Cambria Math" panose="02040503050406030204" pitchFamily="18" charset="0"/>
                              </a:rPr>
                              <m:t>𝑅𝑥</m:t>
                            </m:r>
                          </m:sup>
                        </m:sSup>
                        <m:r>
                          <a:rPr lang="fr-FR" sz="1600" b="0" i="1" smtClean="0">
                            <a:latin typeface="Cambria Math" panose="02040503050406030204" pitchFamily="18" charset="0"/>
                          </a:rPr>
                          <m:t>,</m:t>
                        </m:r>
                        <m:r>
                          <a:rPr lang="fr-FR" sz="1600" b="0" i="1" smtClean="0">
                            <a:latin typeface="Cambria Math" panose="02040503050406030204" pitchFamily="18" charset="0"/>
                          </a:rPr>
                          <m:t>𝛼</m:t>
                        </m:r>
                      </m:e>
                    </m:d>
                    <m:r>
                      <a:rPr lang="fr-FR" sz="1600" b="0" i="1" smtClean="0">
                        <a:latin typeface="Cambria Math" panose="02040503050406030204" pitchFamily="18" charset="0"/>
                      </a:rPr>
                      <m:t> </m:t>
                    </m:r>
                    <m:r>
                      <a:rPr lang="fr-FR" sz="1600" b="0" i="1" smtClean="0">
                        <a:latin typeface="Cambria Math" panose="02040503050406030204" pitchFamily="18" charset="0"/>
                      </a:rPr>
                      <m:t>𝑖𝑠</m:t>
                    </m:r>
                    <m:r>
                      <a:rPr lang="fr-FR" sz="1600" b="0" i="1" smtClean="0">
                        <a:latin typeface="Cambria Math" panose="02040503050406030204" pitchFamily="18" charset="0"/>
                      </a:rPr>
                      <m:t> </m:t>
                    </m:r>
                    <m:r>
                      <a:rPr lang="fr-FR" sz="1600" b="0" i="1" smtClean="0">
                        <a:latin typeface="Cambria Math" panose="02040503050406030204" pitchFamily="18" charset="0"/>
                      </a:rPr>
                      <m:t>𝑒𝑚𝑝𝑡𝑦</m:t>
                    </m:r>
                    <m:r>
                      <a:rPr lang="fr-FR" sz="1600" b="0" i="1" smtClean="0">
                        <a:latin typeface="Cambria Math" panose="02040503050406030204" pitchFamily="18" charset="0"/>
                      </a:rPr>
                      <m:t> </m:t>
                    </m:r>
                  </m:oMath>
                </a14:m>
                <a:endParaRPr lang="fr-FR" sz="1600" b="0" dirty="0">
                  <a:latin typeface="Ericsson Hilda" panose="00000500000000000000" pitchFamily="2" charset="0"/>
                </a:endParaRPr>
              </a:p>
              <a:p>
                <a:endParaRPr lang="en-US" sz="1600" dirty="0"/>
              </a:p>
              <a:p>
                <a:r>
                  <a:rPr lang="en-US" sz="1600" dirty="0"/>
                  <a:t>Scenario : 17 cells placed in a hexagonal pattern and we sweep </a:t>
                </a:r>
                <a14:m>
                  <m:oMath xmlns:m="http://schemas.openxmlformats.org/officeDocument/2006/math">
                    <m:r>
                      <a:rPr lang="fr-FR" sz="1600" b="0" i="1" smtClean="0">
                        <a:latin typeface="Cambria Math" panose="02040503050406030204" pitchFamily="18" charset="0"/>
                      </a:rPr>
                      <m:t>𝛼</m:t>
                    </m:r>
                  </m:oMath>
                </a14:m>
                <a:r>
                  <a:rPr lang="en-US" sz="1600" dirty="0"/>
                  <a:t> from 0 to 1. For each value, we construct </a:t>
                </a:r>
                <a14:m>
                  <m:oMath xmlns:m="http://schemas.openxmlformats.org/officeDocument/2006/math">
                    <m:r>
                      <a:rPr lang="fr-FR" sz="1600" i="1">
                        <a:latin typeface="Cambria Math" panose="02040503050406030204" pitchFamily="18" charset="0"/>
                      </a:rPr>
                      <m:t>𝐷</m:t>
                    </m:r>
                    <m:d>
                      <m:dPr>
                        <m:ctrlPr>
                          <a:rPr lang="fr-FR" sz="1600" i="1">
                            <a:latin typeface="Cambria Math" panose="02040503050406030204" pitchFamily="18" charset="0"/>
                          </a:rPr>
                        </m:ctrlPr>
                      </m:dPr>
                      <m:e>
                        <m:sSup>
                          <m:sSupPr>
                            <m:ctrlPr>
                              <a:rPr lang="fr-FR" sz="1600" i="1">
                                <a:latin typeface="Cambria Math" panose="02040503050406030204" pitchFamily="18" charset="0"/>
                              </a:rPr>
                            </m:ctrlPr>
                          </m:sSupPr>
                          <m:e>
                            <m:r>
                              <a:rPr lang="fr-FR" sz="1600" i="1">
                                <a:latin typeface="Cambria Math" panose="02040503050406030204" pitchFamily="18" charset="0"/>
                              </a:rPr>
                              <m:t>𝑃</m:t>
                            </m:r>
                          </m:e>
                          <m:sup>
                            <m:r>
                              <a:rPr lang="fr-FR" sz="1600" i="1">
                                <a:latin typeface="Cambria Math" panose="02040503050406030204" pitchFamily="18" charset="0"/>
                              </a:rPr>
                              <m:t>𝑅𝑥</m:t>
                            </m:r>
                          </m:sup>
                        </m:sSup>
                        <m:r>
                          <a:rPr lang="fr-FR" sz="1600" i="1">
                            <a:latin typeface="Cambria Math" panose="02040503050406030204" pitchFamily="18" charset="0"/>
                          </a:rPr>
                          <m:t>,</m:t>
                        </m:r>
                        <m:r>
                          <a:rPr lang="fr-FR" sz="1600" i="1">
                            <a:latin typeface="Cambria Math" panose="02040503050406030204" pitchFamily="18" charset="0"/>
                          </a:rPr>
                          <m:t>𝛼</m:t>
                        </m:r>
                      </m:e>
                    </m:d>
                    <m:r>
                      <a:rPr lang="fr-FR" sz="1600" b="0" i="1" smtClean="0">
                        <a:latin typeface="Cambria Math" panose="02040503050406030204" pitchFamily="18" charset="0"/>
                      </a:rPr>
                      <m:t> </m:t>
                    </m:r>
                  </m:oMath>
                </a14:m>
                <a:r>
                  <a:rPr lang="en-US" sz="1600" dirty="0"/>
                  <a:t>and apply the graph coloring optimization.</a:t>
                </a:r>
              </a:p>
              <a:p>
                <a:endParaRPr lang="en-US" sz="1600" dirty="0"/>
              </a:p>
              <a:p>
                <a:endParaRPr lang="en-US" sz="1600" dirty="0"/>
              </a:p>
            </p:txBody>
          </p:sp>
        </mc:Choice>
        <mc:Fallback>
          <p:sp>
            <p:nvSpPr>
              <p:cNvPr id="3" name="Content Placeholder 2">
                <a:extLst>
                  <a:ext uri="{FF2B5EF4-FFF2-40B4-BE49-F238E27FC236}">
                    <a16:creationId xmlns:a16="http://schemas.microsoft.com/office/drawing/2014/main" id="{5B4BCF47-072A-D150-9A59-963469350456}"/>
                  </a:ext>
                </a:extLst>
              </p:cNvPr>
              <p:cNvSpPr>
                <a:spLocks noGrp="1" noRot="1" noChangeAspect="1" noMove="1" noResize="1" noEditPoints="1" noAdjustHandles="1" noChangeArrowheads="1" noChangeShapeType="1" noTextEdit="1"/>
              </p:cNvSpPr>
              <p:nvPr>
                <p:ph idx="1"/>
              </p:nvPr>
            </p:nvSpPr>
            <p:spPr>
              <a:xfrm>
                <a:off x="678543" y="310314"/>
                <a:ext cx="10515600" cy="4351338"/>
              </a:xfrm>
              <a:blipFill>
                <a:blip r:embed="rId3"/>
                <a:stretch>
                  <a:fillRect l="-232" t="-98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34F2191-6C48-1A1B-A99A-6EDF0622D6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725184"/>
            <a:ext cx="5800725" cy="3514725"/>
          </a:xfrm>
          <a:prstGeom prst="rect">
            <a:avLst/>
          </a:prstGeom>
        </p:spPr>
      </p:pic>
      <p:pic>
        <p:nvPicPr>
          <p:cNvPr id="7" name="Picture 6">
            <a:extLst>
              <a:ext uri="{FF2B5EF4-FFF2-40B4-BE49-F238E27FC236}">
                <a16:creationId xmlns:a16="http://schemas.microsoft.com/office/drawing/2014/main" id="{6364E728-E985-3C2E-000D-8EE6E38508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6343" y="2725184"/>
            <a:ext cx="5885543" cy="3363167"/>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78EEF014-8306-A905-A9F5-578A5C365E8F}"/>
                  </a:ext>
                </a:extLst>
              </p:cNvPr>
              <p:cNvSpPr txBox="1"/>
              <p:nvPr/>
            </p:nvSpPr>
            <p:spPr>
              <a:xfrm>
                <a:off x="876852" y="6239909"/>
                <a:ext cx="4308231" cy="307777"/>
              </a:xfrm>
              <a:prstGeom prst="rect">
                <a:avLst/>
              </a:prstGeom>
              <a:noFill/>
            </p:spPr>
            <p:txBody>
              <a:bodyPr wrap="none" rtlCol="0">
                <a:spAutoFit/>
              </a:bodyPr>
              <a:lstStyle/>
              <a:p>
                <a:r>
                  <a:rPr lang="en-US" sz="1400" dirty="0">
                    <a:latin typeface="Ericsson Hilda" panose="00000500000000000000" pitchFamily="2" charset="0"/>
                  </a:rPr>
                  <a:t>Fig 1 : Mean SIR and graph density as a function of </a:t>
                </a:r>
                <a14:m>
                  <m:oMath xmlns:m="http://schemas.openxmlformats.org/officeDocument/2006/math">
                    <m:r>
                      <a:rPr lang="fr-FR" sz="1400" b="0" i="1" smtClean="0">
                        <a:latin typeface="Cambria Math" panose="02040503050406030204" pitchFamily="18" charset="0"/>
                      </a:rPr>
                      <m:t>𝛼</m:t>
                    </m:r>
                    <m:r>
                      <a:rPr lang="fr-FR" sz="1400" b="0" i="1" smtClean="0">
                        <a:latin typeface="Cambria Math" panose="02040503050406030204" pitchFamily="18" charset="0"/>
                      </a:rPr>
                      <m:t>.</m:t>
                    </m:r>
                  </m:oMath>
                </a14:m>
                <a:endParaRPr lang="en-US" sz="1400" dirty="0">
                  <a:latin typeface="Ericsson Hilda" panose="00000500000000000000" pitchFamily="2" charset="0"/>
                </a:endParaRPr>
              </a:p>
            </p:txBody>
          </p:sp>
        </mc:Choice>
        <mc:Fallback>
          <p:sp>
            <p:nvSpPr>
              <p:cNvPr id="8" name="TextBox 7">
                <a:extLst>
                  <a:ext uri="{FF2B5EF4-FFF2-40B4-BE49-F238E27FC236}">
                    <a16:creationId xmlns:a16="http://schemas.microsoft.com/office/drawing/2014/main" id="{78EEF014-8306-A905-A9F5-578A5C365E8F}"/>
                  </a:ext>
                </a:extLst>
              </p:cNvPr>
              <p:cNvSpPr txBox="1">
                <a:spLocks noRot="1" noChangeAspect="1" noMove="1" noResize="1" noEditPoints="1" noAdjustHandles="1" noChangeArrowheads="1" noChangeShapeType="1" noTextEdit="1"/>
              </p:cNvSpPr>
              <p:nvPr/>
            </p:nvSpPr>
            <p:spPr>
              <a:xfrm>
                <a:off x="876852" y="6239909"/>
                <a:ext cx="4308231" cy="307777"/>
              </a:xfrm>
              <a:prstGeom prst="rect">
                <a:avLst/>
              </a:prstGeom>
              <a:blipFill>
                <a:blip r:embed="rId6"/>
                <a:stretch>
                  <a:fillRect l="-424" t="-4000" b="-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5962E5B-2F16-FB4D-6077-97B4BE0827FF}"/>
                  </a:ext>
                </a:extLst>
              </p:cNvPr>
              <p:cNvSpPr txBox="1"/>
              <p:nvPr/>
            </p:nvSpPr>
            <p:spPr>
              <a:xfrm>
                <a:off x="7129669" y="6239908"/>
                <a:ext cx="3982309" cy="307777"/>
              </a:xfrm>
              <a:prstGeom prst="rect">
                <a:avLst/>
              </a:prstGeom>
              <a:noFill/>
            </p:spPr>
            <p:txBody>
              <a:bodyPr wrap="none" rtlCol="0">
                <a:spAutoFit/>
              </a:bodyPr>
              <a:lstStyle/>
              <a:p>
                <a:r>
                  <a:rPr lang="en-US" sz="1400" dirty="0"/>
                  <a:t>Fig 2: Mean cell capacity and K as a function of </a:t>
                </a:r>
                <a14:m>
                  <m:oMath xmlns:m="http://schemas.openxmlformats.org/officeDocument/2006/math">
                    <m:r>
                      <a:rPr lang="fr-FR" sz="1400" b="0" i="1" smtClean="0">
                        <a:latin typeface="Cambria Math" panose="02040503050406030204" pitchFamily="18" charset="0"/>
                      </a:rPr>
                      <m:t>𝛼</m:t>
                    </m:r>
                  </m:oMath>
                </a14:m>
                <a:r>
                  <a:rPr lang="en-US" sz="1400" dirty="0"/>
                  <a:t>.</a:t>
                </a:r>
              </a:p>
            </p:txBody>
          </p:sp>
        </mc:Choice>
        <mc:Fallback>
          <p:sp>
            <p:nvSpPr>
              <p:cNvPr id="9" name="TextBox 8">
                <a:extLst>
                  <a:ext uri="{FF2B5EF4-FFF2-40B4-BE49-F238E27FC236}">
                    <a16:creationId xmlns:a16="http://schemas.microsoft.com/office/drawing/2014/main" id="{95962E5B-2F16-FB4D-6077-97B4BE0827FF}"/>
                  </a:ext>
                </a:extLst>
              </p:cNvPr>
              <p:cNvSpPr txBox="1">
                <a:spLocks noRot="1" noChangeAspect="1" noMove="1" noResize="1" noEditPoints="1" noAdjustHandles="1" noChangeArrowheads="1" noChangeShapeType="1" noTextEdit="1"/>
              </p:cNvSpPr>
              <p:nvPr/>
            </p:nvSpPr>
            <p:spPr>
              <a:xfrm>
                <a:off x="7129669" y="6239908"/>
                <a:ext cx="3982309" cy="307777"/>
              </a:xfrm>
              <a:prstGeom prst="rect">
                <a:avLst/>
              </a:prstGeom>
              <a:blipFill>
                <a:blip r:embed="rId7"/>
                <a:stretch>
                  <a:fillRect l="-459" t="-4000" b="-2000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C4D6ED92-4481-9918-3D94-1CFE7A5A634E}"/>
              </a:ext>
            </a:extLst>
          </p:cNvPr>
          <p:cNvSpPr>
            <a:spLocks noGrp="1"/>
          </p:cNvSpPr>
          <p:nvPr>
            <p:ph type="ftr" sz="quarter" idx="11"/>
          </p:nvPr>
        </p:nvSpPr>
        <p:spPr/>
        <p:txBody>
          <a:bodyPr/>
          <a:lstStyle/>
          <a:p>
            <a:r>
              <a:rPr lang="fr-FR"/>
              <a:t>NTN Days 2026 - 13/10/2026</a:t>
            </a:r>
            <a:endParaRPr lang="en-US"/>
          </a:p>
        </p:txBody>
      </p:sp>
      <p:sp>
        <p:nvSpPr>
          <p:cNvPr id="4" name="Slide Number Placeholder 3">
            <a:extLst>
              <a:ext uri="{FF2B5EF4-FFF2-40B4-BE49-F238E27FC236}">
                <a16:creationId xmlns:a16="http://schemas.microsoft.com/office/drawing/2014/main" id="{CC842143-9AC6-7729-831B-BCCAE7981184}"/>
              </a:ext>
            </a:extLst>
          </p:cNvPr>
          <p:cNvSpPr>
            <a:spLocks noGrp="1"/>
          </p:cNvSpPr>
          <p:nvPr>
            <p:ph type="sldNum" sz="quarter" idx="12"/>
          </p:nvPr>
        </p:nvSpPr>
        <p:spPr/>
        <p:txBody>
          <a:bodyPr/>
          <a:lstStyle/>
          <a:p>
            <a:fld id="{2435CAA8-A57F-4BB3-B57F-962D9E660ABB}" type="slidenum">
              <a:rPr lang="en-US" smtClean="0"/>
              <a:t>13</a:t>
            </a:fld>
            <a:endParaRPr lang="en-US"/>
          </a:p>
        </p:txBody>
      </p:sp>
    </p:spTree>
    <p:extLst>
      <p:ext uri="{BB962C8B-B14F-4D97-AF65-F5344CB8AC3E}">
        <p14:creationId xmlns:p14="http://schemas.microsoft.com/office/powerpoint/2010/main" val="3243846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9ED27-9FE8-06CA-BF80-A7905B67D78B}"/>
              </a:ext>
            </a:extLst>
          </p:cNvPr>
          <p:cNvSpPr>
            <a:spLocks noGrp="1"/>
          </p:cNvSpPr>
          <p:nvPr>
            <p:ph type="title"/>
          </p:nvPr>
        </p:nvSpPr>
        <p:spPr/>
        <p:txBody>
          <a:bodyPr/>
          <a:lstStyle/>
          <a:p>
            <a:r>
              <a:rPr lang="en-US" dirty="0"/>
              <a:t>Experimental setup </a:t>
            </a:r>
          </a:p>
        </p:txBody>
      </p:sp>
      <p:sp>
        <p:nvSpPr>
          <p:cNvPr id="3" name="Content Placeholder 2">
            <a:extLst>
              <a:ext uri="{FF2B5EF4-FFF2-40B4-BE49-F238E27FC236}">
                <a16:creationId xmlns:a16="http://schemas.microsoft.com/office/drawing/2014/main" id="{A6DF0363-8C54-B456-0FF7-B335F9138E9A}"/>
              </a:ext>
            </a:extLst>
          </p:cNvPr>
          <p:cNvSpPr>
            <a:spLocks noGrp="1"/>
          </p:cNvSpPr>
          <p:nvPr>
            <p:ph idx="1"/>
          </p:nvPr>
        </p:nvSpPr>
        <p:spPr>
          <a:xfrm>
            <a:off x="838200" y="1825625"/>
            <a:ext cx="7315200" cy="4351338"/>
          </a:xfrm>
        </p:spPr>
        <p:txBody>
          <a:bodyPr>
            <a:normAutofit/>
          </a:bodyPr>
          <a:lstStyle/>
          <a:p>
            <a:r>
              <a:rPr lang="en-US" sz="1900" dirty="0">
                <a:latin typeface="Ericsson Hilda" panose="00000500000000000000" pitchFamily="2" charset="0"/>
              </a:rPr>
              <a:t>600 LEO satellites at an altitude of 440 km </a:t>
            </a:r>
          </a:p>
          <a:p>
            <a:r>
              <a:rPr lang="en-US" sz="1900" dirty="0">
                <a:latin typeface="Ericsson Hilda" panose="00000500000000000000" pitchFamily="2" charset="0"/>
              </a:rPr>
              <a:t>Each satellite generates beams with HPBW 4.33° </a:t>
            </a:r>
          </a:p>
          <a:p>
            <a:r>
              <a:rPr lang="en-US" sz="1900" dirty="0">
                <a:latin typeface="Ericsson Hilda" panose="00000500000000000000" pitchFamily="2" charset="0"/>
              </a:rPr>
              <a:t>The service link operates in L-band at a carrier frequency of 1 GHz with a bandwidth of 30 MHz</a:t>
            </a:r>
          </a:p>
          <a:p>
            <a:r>
              <a:rPr lang="en-US" sz="1900" dirty="0">
                <a:latin typeface="Ericsson Hilda" panose="00000500000000000000" pitchFamily="2" charset="0"/>
              </a:rPr>
              <a:t>The region of interest covers 17 cells, arranged in a hexagonal grid with an inter-site distance of 22.2 km.</a:t>
            </a:r>
          </a:p>
          <a:p>
            <a:r>
              <a:rPr lang="en-US" sz="1900" dirty="0">
                <a:latin typeface="Ericsson Hilda" panose="00000500000000000000" pitchFamily="2" charset="0"/>
              </a:rPr>
              <a:t>Each cell serves 0 to 50 randomly dispersed UEs.</a:t>
            </a:r>
          </a:p>
          <a:p>
            <a:pPr marL="0" indent="0">
              <a:buNone/>
            </a:pPr>
            <a:br>
              <a:rPr lang="en-US" dirty="0"/>
            </a:br>
            <a:endParaRPr lang="en-US" dirty="0"/>
          </a:p>
        </p:txBody>
      </p:sp>
      <p:sp>
        <p:nvSpPr>
          <p:cNvPr id="4" name="Footer Placeholder 3">
            <a:extLst>
              <a:ext uri="{FF2B5EF4-FFF2-40B4-BE49-F238E27FC236}">
                <a16:creationId xmlns:a16="http://schemas.microsoft.com/office/drawing/2014/main" id="{1A532E50-0D57-44F0-0FFC-AEA68A6F8D16}"/>
              </a:ext>
            </a:extLst>
          </p:cNvPr>
          <p:cNvSpPr>
            <a:spLocks noGrp="1"/>
          </p:cNvSpPr>
          <p:nvPr>
            <p:ph type="ftr" sz="quarter" idx="11"/>
          </p:nvPr>
        </p:nvSpPr>
        <p:spPr/>
        <p:txBody>
          <a:bodyPr/>
          <a:lstStyle/>
          <a:p>
            <a:r>
              <a:rPr lang="fr-FR"/>
              <a:t>NTN Days 2026 - 13/10/2026</a:t>
            </a:r>
            <a:endParaRPr lang="en-US"/>
          </a:p>
        </p:txBody>
      </p:sp>
      <p:pic>
        <p:nvPicPr>
          <p:cNvPr id="5" name="Picture 4">
            <a:extLst>
              <a:ext uri="{FF2B5EF4-FFF2-40B4-BE49-F238E27FC236}">
                <a16:creationId xmlns:a16="http://schemas.microsoft.com/office/drawing/2014/main" id="{6EC4EF3F-80A5-25AC-B258-566F112FAB99}"/>
              </a:ext>
            </a:extLst>
          </p:cNvPr>
          <p:cNvPicPr>
            <a:picLocks noChangeAspect="1"/>
          </p:cNvPicPr>
          <p:nvPr/>
        </p:nvPicPr>
        <p:blipFill rotWithShape="1">
          <a:blip r:embed="rId2"/>
          <a:srcRect l="19568" t="32645" r="12614" b="20676"/>
          <a:stretch/>
        </p:blipFill>
        <p:spPr>
          <a:xfrm>
            <a:off x="8414048" y="3429000"/>
            <a:ext cx="3392220" cy="1992418"/>
          </a:xfrm>
          <a:prstGeom prst="rect">
            <a:avLst/>
          </a:prstGeom>
        </p:spPr>
      </p:pic>
      <p:pic>
        <p:nvPicPr>
          <p:cNvPr id="7" name="Picture 6">
            <a:extLst>
              <a:ext uri="{FF2B5EF4-FFF2-40B4-BE49-F238E27FC236}">
                <a16:creationId xmlns:a16="http://schemas.microsoft.com/office/drawing/2014/main" id="{50558D41-1EF4-447D-D36F-544DAA9D0BD2}"/>
              </a:ext>
            </a:extLst>
          </p:cNvPr>
          <p:cNvPicPr>
            <a:picLocks noChangeAspect="1"/>
          </p:cNvPicPr>
          <p:nvPr/>
        </p:nvPicPr>
        <p:blipFill rotWithShape="1">
          <a:blip r:embed="rId3"/>
          <a:srcRect l="26812" t="4640" r="24702" b="8425"/>
          <a:stretch/>
        </p:blipFill>
        <p:spPr>
          <a:xfrm>
            <a:off x="8780686" y="745623"/>
            <a:ext cx="2471159" cy="2160004"/>
          </a:xfrm>
          <a:prstGeom prst="rect">
            <a:avLst/>
          </a:prstGeom>
        </p:spPr>
      </p:pic>
      <p:sp>
        <p:nvSpPr>
          <p:cNvPr id="6" name="Slide Number Placeholder 5">
            <a:extLst>
              <a:ext uri="{FF2B5EF4-FFF2-40B4-BE49-F238E27FC236}">
                <a16:creationId xmlns:a16="http://schemas.microsoft.com/office/drawing/2014/main" id="{0F7EAF5F-EC93-177A-4392-020890B409D6}"/>
              </a:ext>
            </a:extLst>
          </p:cNvPr>
          <p:cNvSpPr>
            <a:spLocks noGrp="1"/>
          </p:cNvSpPr>
          <p:nvPr>
            <p:ph type="sldNum" sz="quarter" idx="12"/>
          </p:nvPr>
        </p:nvSpPr>
        <p:spPr/>
        <p:txBody>
          <a:bodyPr/>
          <a:lstStyle/>
          <a:p>
            <a:fld id="{2435CAA8-A57F-4BB3-B57F-962D9E660ABB}" type="slidenum">
              <a:rPr lang="en-US" smtClean="0"/>
              <a:t>14</a:t>
            </a:fld>
            <a:endParaRPr lang="en-US"/>
          </a:p>
        </p:txBody>
      </p:sp>
    </p:spTree>
    <p:extLst>
      <p:ext uri="{BB962C8B-B14F-4D97-AF65-F5344CB8AC3E}">
        <p14:creationId xmlns:p14="http://schemas.microsoft.com/office/powerpoint/2010/main" val="2651681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FF03B-6AE6-8E0E-5450-1341E5F74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BBDF6-9A39-25CD-2737-07252A73C31A}"/>
              </a:ext>
            </a:extLst>
          </p:cNvPr>
          <p:cNvSpPr>
            <a:spLocks noGrp="1"/>
          </p:cNvSpPr>
          <p:nvPr>
            <p:ph type="title"/>
          </p:nvPr>
        </p:nvSpPr>
        <p:spPr/>
        <p:txBody>
          <a:bodyPr/>
          <a:lstStyle/>
          <a:p>
            <a:r>
              <a:rPr lang="en-US" dirty="0"/>
              <a:t>Baseline Algorithms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FA5204-30EB-7163-3CEB-659297F5CB30}"/>
                  </a:ext>
                </a:extLst>
              </p:cNvPr>
              <p:cNvSpPr>
                <a:spLocks noGrp="1"/>
              </p:cNvSpPr>
              <p:nvPr>
                <p:ph idx="1"/>
              </p:nvPr>
            </p:nvSpPr>
            <p:spPr>
              <a:xfrm>
                <a:off x="838200" y="1614488"/>
                <a:ext cx="10515600" cy="4351338"/>
              </a:xfrm>
            </p:spPr>
            <p:txBody>
              <a:bodyPr>
                <a:normAutofit/>
              </a:bodyPr>
              <a:lstStyle/>
              <a:p>
                <a:r>
                  <a:rPr lang="en-US" sz="1800" dirty="0">
                    <a:latin typeface="Ericsson Hilda" panose="00000500000000000000" pitchFamily="2" charset="0"/>
                  </a:rPr>
                  <a:t>ILP-based graph-coloring solution (</a:t>
                </a:r>
                <a14:m>
                  <m:oMath xmlns:m="http://schemas.openxmlformats.org/officeDocument/2006/math">
                    <m:r>
                      <a:rPr lang="fr-FR" sz="1800" b="0" i="1" smtClean="0">
                        <a:latin typeface="Cambria Math" panose="02040503050406030204" pitchFamily="18" charset="0"/>
                      </a:rPr>
                      <m:t>𝛼</m:t>
                    </m:r>
                    <m:r>
                      <a:rPr lang="fr-FR" sz="1800" b="0" i="1" smtClean="0">
                        <a:latin typeface="Cambria Math" panose="02040503050406030204" pitchFamily="18" charset="0"/>
                      </a:rPr>
                      <m:t>=0.25, </m:t>
                    </m:r>
                    <m:r>
                      <a:rPr lang="fr-FR" sz="1800" b="0" i="1" smtClean="0">
                        <a:latin typeface="Cambria Math" panose="02040503050406030204" pitchFamily="18" charset="0"/>
                      </a:rPr>
                      <m:t>𝛼</m:t>
                    </m:r>
                    <m:r>
                      <a:rPr lang="fr-FR" sz="1800" b="0" i="1" smtClean="0">
                        <a:latin typeface="Cambria Math" panose="02040503050406030204" pitchFamily="18" charset="0"/>
                      </a:rPr>
                      <m:t>=0.35 , </m:t>
                    </m:r>
                    <m:r>
                      <a:rPr lang="fr-FR" sz="1800" b="0" i="1" smtClean="0">
                        <a:latin typeface="Cambria Math" panose="02040503050406030204" pitchFamily="18" charset="0"/>
                      </a:rPr>
                      <m:t>𝛼</m:t>
                    </m:r>
                    <m:r>
                      <a:rPr lang="fr-FR" sz="1800" b="0" i="1" smtClean="0">
                        <a:latin typeface="Cambria Math" panose="02040503050406030204" pitchFamily="18" charset="0"/>
                      </a:rPr>
                      <m:t>=0.70 ) </m:t>
                    </m:r>
                  </m:oMath>
                </a14:m>
                <a:endParaRPr lang="en-US" sz="1800" dirty="0">
                  <a:latin typeface="Ericsson Hilda" panose="00000500000000000000" pitchFamily="2" charset="0"/>
                </a:endParaRPr>
              </a:p>
              <a:p>
                <a:pPr marL="457200" lvl="1" indent="0">
                  <a:buNone/>
                </a:pPr>
                <a:r>
                  <a:rPr lang="en-US" sz="1400" dirty="0">
                    <a:latin typeface="Ericsson Hilda" panose="00000500000000000000" pitchFamily="2" charset="0"/>
                  </a:rPr>
                  <a:t>Provided by Branch and Bound Algorithm </a:t>
                </a:r>
              </a:p>
              <a:p>
                <a:r>
                  <a:rPr lang="en-US" sz="1800" dirty="0">
                    <a:latin typeface="Ericsson Hilda" panose="00000500000000000000" pitchFamily="2" charset="0"/>
                  </a:rPr>
                  <a:t>Regular beam hopping based on geometrical separation (BH = 1, BH = 3 and BH = 4)</a:t>
                </a:r>
              </a:p>
              <a:p>
                <a:r>
                  <a:rPr lang="en-US" sz="1800" dirty="0">
                    <a:latin typeface="Ericsson Hilda" panose="00000500000000000000" pitchFamily="2" charset="0"/>
                  </a:rPr>
                  <a:t>Greedy search : 2-Pass Heuristic, which, given a fixed number of colors, starts from a random coloring and iteratively improves it by testing all possible color reassignments for each cell and selecting the one that minimizes the total number of constraint violations.</a:t>
                </a:r>
                <a:br>
                  <a:rPr lang="en-US" sz="1800" dirty="0">
                    <a:latin typeface="Ericsson Hilda" panose="00000500000000000000" pitchFamily="2" charset="0"/>
                  </a:rPr>
                </a:br>
                <a:endParaRPr lang="en-US" sz="1800" dirty="0">
                  <a:latin typeface="Ericsson Hilda" panose="00000500000000000000" pitchFamily="2" charset="0"/>
                </a:endParaRPr>
              </a:p>
            </p:txBody>
          </p:sp>
        </mc:Choice>
        <mc:Fallback>
          <p:sp>
            <p:nvSpPr>
              <p:cNvPr id="3" name="Content Placeholder 2">
                <a:extLst>
                  <a:ext uri="{FF2B5EF4-FFF2-40B4-BE49-F238E27FC236}">
                    <a16:creationId xmlns:a16="http://schemas.microsoft.com/office/drawing/2014/main" id="{5AFA5204-30EB-7163-3CEB-659297F5CB30}"/>
                  </a:ext>
                </a:extLst>
              </p:cNvPr>
              <p:cNvSpPr>
                <a:spLocks noGrp="1" noRot="1" noChangeAspect="1" noMove="1" noResize="1" noEditPoints="1" noAdjustHandles="1" noChangeArrowheads="1" noChangeShapeType="1" noTextEdit="1"/>
              </p:cNvSpPr>
              <p:nvPr>
                <p:ph idx="1"/>
              </p:nvPr>
            </p:nvSpPr>
            <p:spPr>
              <a:xfrm>
                <a:off x="838200" y="1614488"/>
                <a:ext cx="10515600" cy="4351338"/>
              </a:xfrm>
              <a:blipFill>
                <a:blip r:embed="rId3"/>
                <a:stretch>
                  <a:fillRect l="-406" t="-1401" r="-69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EA65E14-FA1D-BA8B-F4C4-1F64FD0C96C1}"/>
              </a:ext>
            </a:extLst>
          </p:cNvPr>
          <p:cNvPicPr>
            <a:picLocks noChangeAspect="1"/>
          </p:cNvPicPr>
          <p:nvPr/>
        </p:nvPicPr>
        <p:blipFill>
          <a:blip r:embed="rId4"/>
          <a:stretch>
            <a:fillRect/>
          </a:stretch>
        </p:blipFill>
        <p:spPr>
          <a:xfrm>
            <a:off x="3388909" y="3429000"/>
            <a:ext cx="4869518" cy="2845238"/>
          </a:xfrm>
          <a:prstGeom prst="rect">
            <a:avLst/>
          </a:prstGeom>
        </p:spPr>
      </p:pic>
      <p:sp>
        <p:nvSpPr>
          <p:cNvPr id="4" name="Footer Placeholder 3">
            <a:extLst>
              <a:ext uri="{FF2B5EF4-FFF2-40B4-BE49-F238E27FC236}">
                <a16:creationId xmlns:a16="http://schemas.microsoft.com/office/drawing/2014/main" id="{9409A5FB-C201-A861-9B16-CD90FA1CD07F}"/>
              </a:ext>
            </a:extLst>
          </p:cNvPr>
          <p:cNvSpPr>
            <a:spLocks noGrp="1"/>
          </p:cNvSpPr>
          <p:nvPr>
            <p:ph type="ftr" sz="quarter" idx="11"/>
          </p:nvPr>
        </p:nvSpPr>
        <p:spPr/>
        <p:txBody>
          <a:bodyPr/>
          <a:lstStyle/>
          <a:p>
            <a:r>
              <a:rPr lang="fr-FR"/>
              <a:t>NTN Days 2026 - 13/10/2026</a:t>
            </a:r>
            <a:endParaRPr lang="en-US"/>
          </a:p>
        </p:txBody>
      </p:sp>
      <p:sp>
        <p:nvSpPr>
          <p:cNvPr id="6" name="Slide Number Placeholder 5">
            <a:extLst>
              <a:ext uri="{FF2B5EF4-FFF2-40B4-BE49-F238E27FC236}">
                <a16:creationId xmlns:a16="http://schemas.microsoft.com/office/drawing/2014/main" id="{51C331A3-D421-10A2-6BDC-B803679F648C}"/>
              </a:ext>
            </a:extLst>
          </p:cNvPr>
          <p:cNvSpPr>
            <a:spLocks noGrp="1"/>
          </p:cNvSpPr>
          <p:nvPr>
            <p:ph type="sldNum" sz="quarter" idx="12"/>
          </p:nvPr>
        </p:nvSpPr>
        <p:spPr/>
        <p:txBody>
          <a:bodyPr/>
          <a:lstStyle/>
          <a:p>
            <a:fld id="{2435CAA8-A57F-4BB3-B57F-962D9E660ABB}" type="slidenum">
              <a:rPr lang="en-US" smtClean="0"/>
              <a:t>15</a:t>
            </a:fld>
            <a:endParaRPr lang="en-US"/>
          </a:p>
        </p:txBody>
      </p:sp>
    </p:spTree>
    <p:extLst>
      <p:ext uri="{BB962C8B-B14F-4D97-AF65-F5344CB8AC3E}">
        <p14:creationId xmlns:p14="http://schemas.microsoft.com/office/powerpoint/2010/main" val="116934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973AE-8B21-D2A8-0B71-0C791F44C70E}"/>
              </a:ext>
            </a:extLst>
          </p:cNvPr>
          <p:cNvSpPr>
            <a:spLocks noGrp="1"/>
          </p:cNvSpPr>
          <p:nvPr>
            <p:ph type="title"/>
          </p:nvPr>
        </p:nvSpPr>
        <p:spPr/>
        <p:txBody>
          <a:bodyPr/>
          <a:lstStyle/>
          <a:p>
            <a:r>
              <a:rPr lang="en-US" dirty="0"/>
              <a:t>Metrics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2B0AF16-F20A-5465-B090-2FF297D8D33E}"/>
                  </a:ext>
                </a:extLst>
              </p:cNvPr>
              <p:cNvSpPr>
                <a:spLocks noGrp="1"/>
              </p:cNvSpPr>
              <p:nvPr>
                <p:ph idx="1"/>
              </p:nvPr>
            </p:nvSpPr>
            <p:spPr/>
            <p:txBody>
              <a:bodyPr>
                <a:normAutofit/>
              </a:bodyPr>
              <a:lstStyle/>
              <a:p>
                <a:r>
                  <a:rPr lang="en-US" sz="1800" b="1" dirty="0">
                    <a:solidFill>
                      <a:srgbClr val="002060"/>
                    </a:solidFill>
                    <a:latin typeface="Ericsson Hilda" panose="00000500000000000000" pitchFamily="2" charset="0"/>
                  </a:rPr>
                  <a:t>Cell capacity </a:t>
                </a:r>
                <a:r>
                  <a:rPr lang="en-US" sz="1800" dirty="0">
                    <a:latin typeface="Ericsson Hilda" panose="00000500000000000000" pitchFamily="2" charset="0"/>
                  </a:rPr>
                  <a:t>: computed analytically using the Shannon formula. For a given coloring with K colors, the capacity of cell </a:t>
                </a:r>
                <a14:m>
                  <m:oMath xmlns:m="http://schemas.openxmlformats.org/officeDocument/2006/math">
                    <m:r>
                      <a:rPr lang="fr-FR" sz="1800" b="0" i="1" smtClean="0">
                        <a:latin typeface="Cambria Math" panose="02040503050406030204" pitchFamily="18" charset="0"/>
                      </a:rPr>
                      <m:t>𝑖</m:t>
                    </m:r>
                    <m:r>
                      <a:rPr lang="fr-FR" sz="1800" b="0" i="1" smtClean="0">
                        <a:latin typeface="Cambria Math" panose="02040503050406030204" pitchFamily="18" charset="0"/>
                      </a:rPr>
                      <m:t> </m:t>
                    </m:r>
                  </m:oMath>
                </a14:m>
                <a:r>
                  <a:rPr lang="en-US" sz="1800" dirty="0">
                    <a:latin typeface="Ericsson Hilda" panose="00000500000000000000" pitchFamily="2" charset="0"/>
                  </a:rPr>
                  <a:t>is defined as : </a:t>
                </a:r>
                <a14:m>
                  <m:oMath xmlns:m="http://schemas.openxmlformats.org/officeDocument/2006/math">
                    <m:sSub>
                      <m:sSubPr>
                        <m:ctrlPr>
                          <a:rPr lang="fr-FR" sz="1800" b="0" i="1" smtClean="0">
                            <a:latin typeface="Cambria Math" panose="02040503050406030204" pitchFamily="18" charset="0"/>
                          </a:rPr>
                        </m:ctrlPr>
                      </m:sSubPr>
                      <m:e>
                        <m:r>
                          <a:rPr lang="fr-FR" sz="1800" b="0" i="1" smtClean="0">
                            <a:latin typeface="Cambria Math" panose="02040503050406030204" pitchFamily="18" charset="0"/>
                          </a:rPr>
                          <m:t>𝑐</m:t>
                        </m:r>
                      </m:e>
                      <m:sub>
                        <m:r>
                          <a:rPr lang="fr-FR" sz="1800" b="0" i="1" smtClean="0">
                            <a:latin typeface="Cambria Math" panose="02040503050406030204" pitchFamily="18" charset="0"/>
                          </a:rPr>
                          <m:t>𝑖</m:t>
                        </m:r>
                      </m:sub>
                    </m:sSub>
                    <m:d>
                      <m:dPr>
                        <m:ctrlPr>
                          <a:rPr lang="fr-FR" sz="1800" b="0" i="1" smtClean="0">
                            <a:latin typeface="Cambria Math" panose="02040503050406030204" pitchFamily="18" charset="0"/>
                            <a:ea typeface="Cambria Math" panose="02040503050406030204" pitchFamily="18" charset="0"/>
                          </a:rPr>
                        </m:ctrlPr>
                      </m:dPr>
                      <m:e>
                        <m:sSup>
                          <m:sSupPr>
                            <m:ctrlPr>
                              <a:rPr lang="fr-FR" sz="1800" b="0" i="1" smtClean="0">
                                <a:latin typeface="Cambria Math" panose="02040503050406030204" pitchFamily="18" charset="0"/>
                                <a:ea typeface="Cambria Math" panose="02040503050406030204" pitchFamily="18" charset="0"/>
                              </a:rPr>
                            </m:ctrlPr>
                          </m:sSupPr>
                          <m:e>
                            <m:r>
                              <a:rPr lang="fr-FR" sz="1800" b="0" i="1" smtClean="0">
                                <a:latin typeface="Cambria Math" panose="02040503050406030204" pitchFamily="18" charset="0"/>
                                <a:ea typeface="Cambria Math" panose="02040503050406030204" pitchFamily="18" charset="0"/>
                              </a:rPr>
                              <m:t>∁</m:t>
                            </m:r>
                          </m:e>
                          <m:sup>
                            <m:r>
                              <a:rPr lang="fr-FR" sz="1800" b="0" i="1" smtClean="0">
                                <a:latin typeface="Cambria Math" panose="02040503050406030204" pitchFamily="18" charset="0"/>
                                <a:ea typeface="Cambria Math" panose="02040503050406030204" pitchFamily="18" charset="0"/>
                              </a:rPr>
                              <m:t>′</m:t>
                            </m:r>
                          </m:sup>
                        </m:sSup>
                      </m:e>
                    </m:d>
                    <m:r>
                      <a:rPr lang="fr-FR" sz="1800" b="0" i="1" smtClean="0">
                        <a:latin typeface="Cambria Math" panose="02040503050406030204" pitchFamily="18" charset="0"/>
                        <a:ea typeface="Cambria Math" panose="02040503050406030204" pitchFamily="18" charset="0"/>
                      </a:rPr>
                      <m:t>= </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𝜔</m:t>
                        </m:r>
                      </m:num>
                      <m:den>
                        <m:r>
                          <a:rPr lang="fr-FR" sz="1800" b="0" i="1" smtClean="0">
                            <a:latin typeface="Cambria Math" panose="02040503050406030204" pitchFamily="18" charset="0"/>
                            <a:ea typeface="Cambria Math" panose="02040503050406030204" pitchFamily="18" charset="0"/>
                          </a:rPr>
                          <m:t>𝐾</m:t>
                        </m:r>
                      </m:den>
                    </m:f>
                    <m:r>
                      <a:rPr lang="fr-FR" sz="1800" b="0" i="1" smtClean="0">
                        <a:latin typeface="Cambria Math" panose="02040503050406030204" pitchFamily="18" charset="0"/>
                        <a:ea typeface="Cambria Math" panose="02040503050406030204" pitchFamily="18" charset="0"/>
                      </a:rPr>
                      <m:t> .</m:t>
                    </m:r>
                    <m:func>
                      <m:funcPr>
                        <m:ctrlPr>
                          <a:rPr lang="fr-FR" sz="1800" b="0" i="1" smtClean="0">
                            <a:latin typeface="Cambria Math" panose="02040503050406030204" pitchFamily="18" charset="0"/>
                            <a:ea typeface="Cambria Math" panose="02040503050406030204" pitchFamily="18" charset="0"/>
                          </a:rPr>
                        </m:ctrlPr>
                      </m:funcPr>
                      <m:fName>
                        <m:sSub>
                          <m:sSubPr>
                            <m:ctrlPr>
                              <a:rPr lang="fr-FR" sz="1800" b="0" i="0" smtClean="0">
                                <a:latin typeface="Cambria Math" panose="02040503050406030204" pitchFamily="18" charset="0"/>
                                <a:ea typeface="Cambria Math" panose="02040503050406030204" pitchFamily="18" charset="0"/>
                              </a:rPr>
                            </m:ctrlPr>
                          </m:sSubPr>
                          <m:e>
                            <m:r>
                              <m:rPr>
                                <m:sty m:val="p"/>
                              </m:rPr>
                              <a:rPr lang="fr-FR" sz="1800" b="0" i="0" smtClean="0">
                                <a:latin typeface="Cambria Math" panose="02040503050406030204" pitchFamily="18" charset="0"/>
                                <a:ea typeface="Cambria Math" panose="02040503050406030204" pitchFamily="18" charset="0"/>
                              </a:rPr>
                              <m:t>log</m:t>
                            </m:r>
                          </m:e>
                          <m:sub>
                            <m:r>
                              <a:rPr lang="fr-FR" sz="1800" b="0" i="1" smtClean="0">
                                <a:latin typeface="Cambria Math" panose="02040503050406030204" pitchFamily="18" charset="0"/>
                                <a:ea typeface="Cambria Math" panose="02040503050406030204" pitchFamily="18" charset="0"/>
                              </a:rPr>
                              <m:t>2</m:t>
                            </m:r>
                          </m:sub>
                        </m:sSub>
                      </m:fName>
                      <m:e>
                        <m:r>
                          <a:rPr lang="fr-FR" sz="1800" b="0" i="1" smtClean="0">
                            <a:latin typeface="Cambria Math" panose="02040503050406030204" pitchFamily="18" charset="0"/>
                            <a:ea typeface="Cambria Math" panose="02040503050406030204" pitchFamily="18" charset="0"/>
                          </a:rPr>
                          <m:t>(1+</m:t>
                        </m:r>
                        <m:r>
                          <a:rPr lang="fr-FR" sz="1800" b="0" i="1" smtClean="0">
                            <a:latin typeface="Cambria Math" panose="02040503050406030204" pitchFamily="18" charset="0"/>
                            <a:ea typeface="Cambria Math" panose="02040503050406030204" pitchFamily="18" charset="0"/>
                          </a:rPr>
                          <m:t>𝑆𝐼𝑁</m:t>
                        </m:r>
                        <m:sSub>
                          <m:sSubPr>
                            <m:ctrlPr>
                              <a:rPr lang="fr-FR" sz="1800" b="0" i="1" smtClean="0">
                                <a:latin typeface="Cambria Math" panose="02040503050406030204" pitchFamily="18" charset="0"/>
                                <a:ea typeface="Cambria Math" panose="02040503050406030204" pitchFamily="18" charset="0"/>
                              </a:rPr>
                            </m:ctrlPr>
                          </m:sSubPr>
                          <m:e>
                            <m:r>
                              <a:rPr lang="fr-FR" sz="1800" b="0" i="1" smtClean="0">
                                <a:latin typeface="Cambria Math" panose="02040503050406030204" pitchFamily="18" charset="0"/>
                                <a:ea typeface="Cambria Math" panose="02040503050406030204" pitchFamily="18" charset="0"/>
                              </a:rPr>
                              <m:t>𝑅</m:t>
                            </m:r>
                          </m:e>
                          <m:sub>
                            <m:r>
                              <a:rPr lang="fr-FR" sz="1800" b="0" i="1" smtClean="0">
                                <a:latin typeface="Cambria Math" panose="02040503050406030204" pitchFamily="18" charset="0"/>
                                <a:ea typeface="Cambria Math" panose="02040503050406030204" pitchFamily="18" charset="0"/>
                              </a:rPr>
                              <m:t>𝑖</m:t>
                            </m:r>
                          </m:sub>
                        </m:sSub>
                        <m:d>
                          <m:dPr>
                            <m:ctrlPr>
                              <a:rPr lang="fr-FR" sz="1800" b="0" i="1" smtClean="0">
                                <a:latin typeface="Cambria Math" panose="02040503050406030204" pitchFamily="18" charset="0"/>
                                <a:ea typeface="Cambria Math" panose="02040503050406030204" pitchFamily="18" charset="0"/>
                              </a:rPr>
                            </m:ctrlPr>
                          </m:dPr>
                          <m:e>
                            <m:r>
                              <a:rPr lang="fr-FR" sz="1800" b="0" i="1" smtClean="0">
                                <a:latin typeface="Cambria Math" panose="02040503050406030204" pitchFamily="18" charset="0"/>
                                <a:ea typeface="Cambria Math" panose="02040503050406030204" pitchFamily="18" charset="0"/>
                              </a:rPr>
                              <m:t>∁′</m:t>
                            </m:r>
                          </m:e>
                        </m:d>
                        <m:r>
                          <a:rPr lang="fr-FR" sz="1800" b="0" i="1" smtClean="0">
                            <a:latin typeface="Cambria Math" panose="02040503050406030204" pitchFamily="18" charset="0"/>
                            <a:ea typeface="Cambria Math" panose="02040503050406030204" pitchFamily="18" charset="0"/>
                          </a:rPr>
                          <m:t>)</m:t>
                        </m:r>
                      </m:e>
                    </m:func>
                  </m:oMath>
                </a14:m>
                <a:r>
                  <a:rPr lang="en-US" sz="1800" dirty="0">
                    <a:latin typeface="Ericsson Hilda" panose="00000500000000000000" pitchFamily="2" charset="0"/>
                  </a:rPr>
                  <a:t>, where </a:t>
                </a:r>
                <a14:m>
                  <m:oMath xmlns:m="http://schemas.openxmlformats.org/officeDocument/2006/math">
                    <m:r>
                      <a:rPr lang="en-US" sz="1800" i="1" smtClean="0">
                        <a:latin typeface="Cambria Math" panose="02040503050406030204" pitchFamily="18" charset="0"/>
                        <a:ea typeface="Cambria Math" panose="02040503050406030204" pitchFamily="18" charset="0"/>
                      </a:rPr>
                      <m:t>𝜔</m:t>
                    </m:r>
                    <m:r>
                      <a:rPr lang="fr-FR" sz="1800" b="0" i="1" smtClean="0">
                        <a:latin typeface="Cambria Math" panose="02040503050406030204" pitchFamily="18" charset="0"/>
                        <a:ea typeface="Cambria Math" panose="02040503050406030204" pitchFamily="18" charset="0"/>
                      </a:rPr>
                      <m:t> </m:t>
                    </m:r>
                  </m:oMath>
                </a14:m>
                <a:r>
                  <a:rPr lang="en-US" sz="1800" dirty="0">
                    <a:latin typeface="Ericsson Hilda" panose="00000500000000000000" pitchFamily="2" charset="0"/>
                  </a:rPr>
                  <a:t>is the total bandwidth, </a:t>
                </a:r>
                <a14:m>
                  <m:oMath xmlns:m="http://schemas.openxmlformats.org/officeDocument/2006/math">
                    <m:r>
                      <a:rPr lang="fr-FR" sz="1800" b="0" i="1" smtClean="0">
                        <a:latin typeface="Cambria Math" panose="02040503050406030204" pitchFamily="18" charset="0"/>
                      </a:rPr>
                      <m:t>𝐾</m:t>
                    </m:r>
                    <m:r>
                      <a:rPr lang="fr-FR" sz="1800" b="0" i="1" smtClean="0">
                        <a:latin typeface="Cambria Math" panose="02040503050406030204" pitchFamily="18" charset="0"/>
                      </a:rPr>
                      <m:t> </m:t>
                    </m:r>
                  </m:oMath>
                </a14:m>
                <a:r>
                  <a:rPr lang="en-US" sz="1800" dirty="0">
                    <a:latin typeface="Ericsson Hilda" panose="00000500000000000000" pitchFamily="2" charset="0"/>
                  </a:rPr>
                  <a:t>is the number of colors.</a:t>
                </a:r>
                <a:br>
                  <a:rPr lang="en-US" sz="1800" dirty="0">
                    <a:latin typeface="Ericsson Hilda" panose="00000500000000000000" pitchFamily="2" charset="0"/>
                  </a:rPr>
                </a:br>
                <a:r>
                  <a:rPr lang="en-US" sz="1800" dirty="0">
                    <a:latin typeface="Ericsson Hilda" panose="00000500000000000000" pitchFamily="2" charset="0"/>
                  </a:rPr>
                  <a:t>SINR is computed as : </a:t>
                </a:r>
                <a14:m>
                  <m:oMath xmlns:m="http://schemas.openxmlformats.org/officeDocument/2006/math">
                    <m:r>
                      <a:rPr lang="fr-FR" sz="1800" b="0" i="1" smtClean="0">
                        <a:latin typeface="Cambria Math" panose="02040503050406030204" pitchFamily="18" charset="0"/>
                      </a:rPr>
                      <m:t>𝑆𝐼𝑁</m:t>
                    </m:r>
                    <m:sSub>
                      <m:sSubPr>
                        <m:ctrlPr>
                          <a:rPr lang="fr-FR" sz="1800" b="0" i="1" smtClean="0">
                            <a:latin typeface="Cambria Math" panose="02040503050406030204" pitchFamily="18" charset="0"/>
                          </a:rPr>
                        </m:ctrlPr>
                      </m:sSubPr>
                      <m:e>
                        <m:r>
                          <a:rPr lang="fr-FR" sz="1800" b="0" i="1" smtClean="0">
                            <a:latin typeface="Cambria Math" panose="02040503050406030204" pitchFamily="18" charset="0"/>
                          </a:rPr>
                          <m:t>𝑅</m:t>
                        </m:r>
                      </m:e>
                      <m:sub>
                        <m:r>
                          <a:rPr lang="fr-FR" sz="1800" b="0" i="1" smtClean="0">
                            <a:latin typeface="Cambria Math" panose="02040503050406030204" pitchFamily="18" charset="0"/>
                          </a:rPr>
                          <m:t>𝑖</m:t>
                        </m:r>
                      </m:sub>
                    </m:sSub>
                    <m:r>
                      <a:rPr lang="fr-FR" sz="1800" b="0" i="1" smtClean="0">
                        <a:latin typeface="Cambria Math" panose="02040503050406030204" pitchFamily="18" charset="0"/>
                      </a:rPr>
                      <m:t>= </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1</m:t>
                        </m:r>
                      </m:num>
                      <m:den>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1</m:t>
                            </m:r>
                          </m:num>
                          <m:den>
                            <m:r>
                              <a:rPr lang="fr-FR" sz="1800" b="0" i="1" smtClean="0">
                                <a:latin typeface="Cambria Math" panose="02040503050406030204" pitchFamily="18" charset="0"/>
                              </a:rPr>
                              <m:t>𝑆𝐼</m:t>
                            </m:r>
                            <m:sSub>
                              <m:sSubPr>
                                <m:ctrlPr>
                                  <a:rPr lang="fr-FR" sz="1800" b="0" i="1" smtClean="0">
                                    <a:latin typeface="Cambria Math" panose="02040503050406030204" pitchFamily="18" charset="0"/>
                                  </a:rPr>
                                </m:ctrlPr>
                              </m:sSubPr>
                              <m:e>
                                <m:r>
                                  <a:rPr lang="fr-FR" sz="1800" b="0" i="1" smtClean="0">
                                    <a:latin typeface="Cambria Math" panose="02040503050406030204" pitchFamily="18" charset="0"/>
                                  </a:rPr>
                                  <m:t>𝑅</m:t>
                                </m:r>
                              </m:e>
                              <m:sub>
                                <m:r>
                                  <a:rPr lang="fr-FR" sz="1800" b="0" i="1" smtClean="0">
                                    <a:latin typeface="Cambria Math" panose="02040503050406030204" pitchFamily="18" charset="0"/>
                                  </a:rPr>
                                  <m:t>𝑖</m:t>
                                </m:r>
                              </m:sub>
                            </m:sSub>
                          </m:den>
                        </m:f>
                        <m:r>
                          <a:rPr lang="fr-FR" sz="1800" b="0" i="1" smtClean="0">
                            <a:latin typeface="Cambria Math" panose="02040503050406030204" pitchFamily="18" charset="0"/>
                          </a:rPr>
                          <m:t>+</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1</m:t>
                            </m:r>
                          </m:num>
                          <m:den>
                            <m:r>
                              <a:rPr lang="fr-FR" sz="1800" b="0" i="1" smtClean="0">
                                <a:latin typeface="Cambria Math" panose="02040503050406030204" pitchFamily="18" charset="0"/>
                              </a:rPr>
                              <m:t>𝑆𝑁</m:t>
                            </m:r>
                            <m:sSub>
                              <m:sSubPr>
                                <m:ctrlPr>
                                  <a:rPr lang="fr-FR" sz="1800" b="0" i="1" smtClean="0">
                                    <a:latin typeface="Cambria Math" panose="02040503050406030204" pitchFamily="18" charset="0"/>
                                  </a:rPr>
                                </m:ctrlPr>
                              </m:sSubPr>
                              <m:e>
                                <m:r>
                                  <a:rPr lang="fr-FR" sz="1800" b="0" i="1" smtClean="0">
                                    <a:latin typeface="Cambria Math" panose="02040503050406030204" pitchFamily="18" charset="0"/>
                                  </a:rPr>
                                  <m:t>𝑅</m:t>
                                </m:r>
                              </m:e>
                              <m:sub>
                                <m:r>
                                  <a:rPr lang="fr-FR" sz="1800" b="0" i="1" smtClean="0">
                                    <a:latin typeface="Cambria Math" panose="02040503050406030204" pitchFamily="18" charset="0"/>
                                  </a:rPr>
                                  <m:t>𝑖</m:t>
                                </m:r>
                              </m:sub>
                            </m:sSub>
                          </m:den>
                        </m:f>
                      </m:den>
                    </m:f>
                  </m:oMath>
                </a14:m>
                <a:r>
                  <a:rPr lang="en-US" sz="1800" dirty="0">
                    <a:latin typeface="Ericsson Hilda" panose="00000500000000000000" pitchFamily="2" charset="0"/>
                  </a:rPr>
                  <a:t> </a:t>
                </a:r>
              </a:p>
              <a:p>
                <a:endParaRPr lang="en-US" sz="1800" dirty="0">
                  <a:latin typeface="Ericsson Hilda" panose="00000500000000000000" pitchFamily="2" charset="0"/>
                </a:endParaRPr>
              </a:p>
              <a:p>
                <a:r>
                  <a:rPr lang="en-US" sz="1800" b="1" dirty="0">
                    <a:solidFill>
                      <a:srgbClr val="002060"/>
                    </a:solidFill>
                    <a:latin typeface="Ericsson Hilda" panose="00000500000000000000" pitchFamily="2" charset="0"/>
                  </a:rPr>
                  <a:t>Interference budget violations rate : </a:t>
                </a:r>
                <a:r>
                  <a:rPr lang="en-US" sz="1800" dirty="0">
                    <a:latin typeface="Ericsson Hilda" panose="00000500000000000000" pitchFamily="2" charset="0"/>
                  </a:rPr>
                  <a:t>the number of nodes exceeding the interference budget.</a:t>
                </a:r>
              </a:p>
              <a:p>
                <a:endParaRPr lang="en-US" sz="1800" dirty="0">
                  <a:latin typeface="Ericsson Hilda" panose="00000500000000000000" pitchFamily="2" charset="0"/>
                </a:endParaRPr>
              </a:p>
              <a:p>
                <a:r>
                  <a:rPr lang="en-US" sz="1800" b="1" dirty="0">
                    <a:solidFill>
                      <a:srgbClr val="002060"/>
                    </a:solidFill>
                    <a:latin typeface="Ericsson Hilda" panose="00000500000000000000" pitchFamily="2" charset="0"/>
                  </a:rPr>
                  <a:t>User throughput satisfaction : </a:t>
                </a:r>
                <a:r>
                  <a:rPr lang="en-US" sz="1800" dirty="0">
                    <a:latin typeface="Ericsson Hilda" panose="00000500000000000000" pitchFamily="2" charset="0"/>
                  </a:rPr>
                  <a:t>each UE is assigned a traffic demand drawn from a lognormal distribution depending on the geographical environment type (e.g., rural, urban) of its serving cell. This traffic is injected into the simulator as the requested traffic for each UE. </a:t>
                </a:r>
              </a:p>
              <a:p>
                <a:endParaRPr lang="en-US" sz="1600" dirty="0">
                  <a:latin typeface="Ericsson Hilda" panose="00000500000000000000" pitchFamily="2" charset="0"/>
                </a:endParaRPr>
              </a:p>
            </p:txBody>
          </p:sp>
        </mc:Choice>
        <mc:Fallback>
          <p:sp>
            <p:nvSpPr>
              <p:cNvPr id="3" name="Content Placeholder 2">
                <a:extLst>
                  <a:ext uri="{FF2B5EF4-FFF2-40B4-BE49-F238E27FC236}">
                    <a16:creationId xmlns:a16="http://schemas.microsoft.com/office/drawing/2014/main" id="{C2B0AF16-F20A-5465-B090-2FF297D8D33E}"/>
                  </a:ext>
                </a:extLst>
              </p:cNvPr>
              <p:cNvSpPr>
                <a:spLocks noGrp="1" noRot="1" noChangeAspect="1" noMove="1" noResize="1" noEditPoints="1" noAdjustHandles="1" noChangeArrowheads="1" noChangeShapeType="1" noTextEdit="1"/>
              </p:cNvSpPr>
              <p:nvPr>
                <p:ph idx="1"/>
              </p:nvPr>
            </p:nvSpPr>
            <p:spPr>
              <a:blipFill>
                <a:blip r:embed="rId3"/>
                <a:stretch>
                  <a:fillRect l="-406" t="-1261" r="-75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A571642-024D-BB7C-CCC8-9F1D40506994}"/>
              </a:ext>
            </a:extLst>
          </p:cNvPr>
          <p:cNvSpPr>
            <a:spLocks noGrp="1"/>
          </p:cNvSpPr>
          <p:nvPr>
            <p:ph type="ftr" sz="quarter" idx="11"/>
          </p:nvPr>
        </p:nvSpPr>
        <p:spPr/>
        <p:txBody>
          <a:bodyPr/>
          <a:lstStyle/>
          <a:p>
            <a:r>
              <a:rPr lang="fr-FR"/>
              <a:t>NTN Days 2026 - 13/10/2026</a:t>
            </a:r>
            <a:endParaRPr lang="en-US"/>
          </a:p>
        </p:txBody>
      </p:sp>
      <p:sp>
        <p:nvSpPr>
          <p:cNvPr id="5" name="Slide Number Placeholder 4">
            <a:extLst>
              <a:ext uri="{FF2B5EF4-FFF2-40B4-BE49-F238E27FC236}">
                <a16:creationId xmlns:a16="http://schemas.microsoft.com/office/drawing/2014/main" id="{8755D027-AA05-004D-765B-C4E47084F7CD}"/>
              </a:ext>
            </a:extLst>
          </p:cNvPr>
          <p:cNvSpPr>
            <a:spLocks noGrp="1"/>
          </p:cNvSpPr>
          <p:nvPr>
            <p:ph type="sldNum" sz="quarter" idx="12"/>
          </p:nvPr>
        </p:nvSpPr>
        <p:spPr/>
        <p:txBody>
          <a:bodyPr/>
          <a:lstStyle/>
          <a:p>
            <a:fld id="{2435CAA8-A57F-4BB3-B57F-962D9E660ABB}" type="slidenum">
              <a:rPr lang="en-US" smtClean="0"/>
              <a:t>16</a:t>
            </a:fld>
            <a:endParaRPr lang="en-US"/>
          </a:p>
        </p:txBody>
      </p:sp>
    </p:spTree>
    <p:extLst>
      <p:ext uri="{BB962C8B-B14F-4D97-AF65-F5344CB8AC3E}">
        <p14:creationId xmlns:p14="http://schemas.microsoft.com/office/powerpoint/2010/main" val="2200788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DEF65-952C-C462-1779-A85A5A900475}"/>
              </a:ext>
            </a:extLst>
          </p:cNvPr>
          <p:cNvSpPr>
            <a:spLocks noGrp="1"/>
          </p:cNvSpPr>
          <p:nvPr>
            <p:ph type="title"/>
          </p:nvPr>
        </p:nvSpPr>
        <p:spPr/>
        <p:txBody>
          <a:bodyPr/>
          <a:lstStyle/>
          <a:p>
            <a:r>
              <a:rPr lang="en-US" dirty="0"/>
              <a:t>Numerical results </a:t>
            </a:r>
          </a:p>
        </p:txBody>
      </p:sp>
      <p:pic>
        <p:nvPicPr>
          <p:cNvPr id="8" name="Content Placeholder 7">
            <a:extLst>
              <a:ext uri="{FF2B5EF4-FFF2-40B4-BE49-F238E27FC236}">
                <a16:creationId xmlns:a16="http://schemas.microsoft.com/office/drawing/2014/main" id="{212B389B-5516-73A3-C36E-118385C5042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12238" y="1595544"/>
            <a:ext cx="5181600" cy="4148130"/>
          </a:xfrm>
          <a:prstGeom prst="rect">
            <a:avLst/>
          </a:prstGeom>
        </p:spPr>
      </p:pic>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F47DF9B-8A87-5E8A-9B22-843F3626A86B}"/>
                  </a:ext>
                </a:extLst>
              </p:cNvPr>
              <p:cNvSpPr txBox="1"/>
              <p:nvPr/>
            </p:nvSpPr>
            <p:spPr>
              <a:xfrm>
                <a:off x="5704114" y="2035628"/>
                <a:ext cx="5570967" cy="313932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Ericsson Hilda" panose="00000500000000000000" pitchFamily="2" charset="0"/>
                  </a:rPr>
                  <a:t>Lowest SIR =&gt; BH = 1 </a:t>
                </a:r>
              </a:p>
              <a:p>
                <a:pPr marL="285750" indent="-285750">
                  <a:buFont typeface="Arial" panose="020B0604020202020204" pitchFamily="34" charset="0"/>
                  <a:buChar char="•"/>
                </a:pPr>
                <a:endParaRPr lang="en-US" dirty="0">
                  <a:latin typeface="Ericsson Hilda" panose="00000500000000000000" pitchFamily="2" charset="0"/>
                </a:endParaRPr>
              </a:p>
              <a:p>
                <a:pPr marL="285750" indent="-285750">
                  <a:buFont typeface="Arial" panose="020B0604020202020204" pitchFamily="34" charset="0"/>
                  <a:buChar char="•"/>
                </a:pPr>
                <a:r>
                  <a:rPr lang="en-US" dirty="0">
                    <a:latin typeface="Ericsson Hilda" panose="00000500000000000000" pitchFamily="2" charset="0"/>
                  </a:rPr>
                  <a:t>BH : when increasing the number of colors, SIR increases</a:t>
                </a:r>
              </a:p>
              <a:p>
                <a:pPr marL="285750" indent="-285750">
                  <a:buFont typeface="Arial" panose="020B0604020202020204" pitchFamily="34" charset="0"/>
                  <a:buChar char="•"/>
                </a:pPr>
                <a:endParaRPr lang="en-US" dirty="0">
                  <a:latin typeface="Ericsson Hilda" panose="00000500000000000000" pitchFamily="2" charset="0"/>
                </a:endParaRPr>
              </a:p>
              <a:p>
                <a:pPr marL="285750" indent="-285750">
                  <a:buFont typeface="Arial" panose="020B0604020202020204" pitchFamily="34" charset="0"/>
                  <a:buChar char="•"/>
                </a:pPr>
                <a:r>
                  <a:rPr lang="en-US" dirty="0">
                    <a:latin typeface="Ericsson Hilda" panose="00000500000000000000" pitchFamily="2" charset="0"/>
                  </a:rPr>
                  <a:t>Optimization-based algorithm =&gt; if </a:t>
                </a:r>
                <a14:m>
                  <m:oMath xmlns:m="http://schemas.openxmlformats.org/officeDocument/2006/math">
                    <m:r>
                      <a:rPr lang="fr-FR" b="0" i="1" smtClean="0">
                        <a:latin typeface="Cambria Math" panose="02040503050406030204" pitchFamily="18" charset="0"/>
                      </a:rPr>
                      <m:t>𝛼</m:t>
                    </m:r>
                    <m:r>
                      <a:rPr lang="fr-FR" b="0" i="0" smtClean="0">
                        <a:latin typeface="Cambria Math" panose="02040503050406030204" pitchFamily="18" charset="0"/>
                      </a:rPr>
                      <m:t> </m:t>
                    </m:r>
                    <m:r>
                      <m:rPr>
                        <m:sty m:val="p"/>
                      </m:rPr>
                      <a:rPr lang="fr-FR" b="0" i="0" smtClean="0">
                        <a:latin typeface="Cambria Math" panose="02040503050406030204" pitchFamily="18" charset="0"/>
                      </a:rPr>
                      <m:t>is</m:t>
                    </m:r>
                    <m:r>
                      <a:rPr lang="fr-FR" b="0" i="0" smtClean="0">
                        <a:latin typeface="Cambria Math" panose="02040503050406030204" pitchFamily="18" charset="0"/>
                      </a:rPr>
                      <m:t> </m:t>
                    </m:r>
                    <m:r>
                      <m:rPr>
                        <m:sty m:val="p"/>
                      </m:rPr>
                      <a:rPr lang="fr-FR" b="0" i="0" smtClean="0">
                        <a:latin typeface="Cambria Math" panose="02040503050406030204" pitchFamily="18" charset="0"/>
                      </a:rPr>
                      <m:t>higher</m:t>
                    </m:r>
                    <m:r>
                      <a:rPr lang="fr-FR" b="0" i="0" smtClean="0">
                        <a:latin typeface="Cambria Math" panose="02040503050406030204" pitchFamily="18" charset="0"/>
                      </a:rPr>
                      <m:t> </m:t>
                    </m:r>
                  </m:oMath>
                </a14:m>
                <a:r>
                  <a:rPr lang="en-US" dirty="0">
                    <a:latin typeface="Ericsson Hilda" panose="00000500000000000000" pitchFamily="2" charset="0"/>
                  </a:rPr>
                  <a:t>, the graph is denser , K is higher and SIR is higher</a:t>
                </a:r>
              </a:p>
              <a:p>
                <a:pPr marL="285750" indent="-285750">
                  <a:buFont typeface="Arial" panose="020B0604020202020204" pitchFamily="34" charset="0"/>
                  <a:buChar char="•"/>
                </a:pPr>
                <a:endParaRPr lang="en-US" dirty="0">
                  <a:latin typeface="Ericsson Hilda" panose="00000500000000000000" pitchFamily="2" charset="0"/>
                </a:endParaRPr>
              </a:p>
              <a:p>
                <a:pPr marL="285750" indent="-285750">
                  <a:buFont typeface="Arial" panose="020B0604020202020204" pitchFamily="34" charset="0"/>
                  <a:buChar char="•"/>
                </a:pPr>
                <a:r>
                  <a:rPr lang="en-US" dirty="0">
                    <a:latin typeface="Ericsson Hilda" panose="00000500000000000000" pitchFamily="2" charset="0"/>
                  </a:rPr>
                  <a:t>Fairness : Optimization-based algorithm realize more fairness than BH because BH focuses on the best-served users (located at the center of the cells)</a:t>
                </a:r>
              </a:p>
            </p:txBody>
          </p:sp>
        </mc:Choice>
        <mc:Fallback>
          <p:sp>
            <p:nvSpPr>
              <p:cNvPr id="16" name="TextBox 15">
                <a:extLst>
                  <a:ext uri="{FF2B5EF4-FFF2-40B4-BE49-F238E27FC236}">
                    <a16:creationId xmlns:a16="http://schemas.microsoft.com/office/drawing/2014/main" id="{CF47DF9B-8A87-5E8A-9B22-843F3626A86B}"/>
                  </a:ext>
                </a:extLst>
              </p:cNvPr>
              <p:cNvSpPr txBox="1">
                <a:spLocks noRot="1" noChangeAspect="1" noMove="1" noResize="1" noEditPoints="1" noAdjustHandles="1" noChangeArrowheads="1" noChangeShapeType="1" noTextEdit="1"/>
              </p:cNvSpPr>
              <p:nvPr/>
            </p:nvSpPr>
            <p:spPr>
              <a:xfrm>
                <a:off x="5704114" y="2035628"/>
                <a:ext cx="5570967" cy="3139321"/>
              </a:xfrm>
              <a:prstGeom prst="rect">
                <a:avLst/>
              </a:prstGeom>
              <a:blipFill>
                <a:blip r:embed="rId4"/>
                <a:stretch>
                  <a:fillRect l="-766" t="-971" r="-219" b="-2330"/>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DC4A533A-C2D6-69C2-AAD8-F40DE89AF560}"/>
              </a:ext>
            </a:extLst>
          </p:cNvPr>
          <p:cNvSpPr>
            <a:spLocks noGrp="1"/>
          </p:cNvSpPr>
          <p:nvPr>
            <p:ph type="ftr" sz="quarter" idx="11"/>
          </p:nvPr>
        </p:nvSpPr>
        <p:spPr/>
        <p:txBody>
          <a:bodyPr/>
          <a:lstStyle/>
          <a:p>
            <a:r>
              <a:rPr lang="fr-FR"/>
              <a:t>NTN Days 2026 - 13/10/2026</a:t>
            </a:r>
            <a:endParaRPr lang="en-US"/>
          </a:p>
        </p:txBody>
      </p:sp>
      <p:sp>
        <p:nvSpPr>
          <p:cNvPr id="4" name="Slide Number Placeholder 3">
            <a:extLst>
              <a:ext uri="{FF2B5EF4-FFF2-40B4-BE49-F238E27FC236}">
                <a16:creationId xmlns:a16="http://schemas.microsoft.com/office/drawing/2014/main" id="{1E534249-CF63-B831-FAD4-94DFBBCD7315}"/>
              </a:ext>
            </a:extLst>
          </p:cNvPr>
          <p:cNvSpPr>
            <a:spLocks noGrp="1"/>
          </p:cNvSpPr>
          <p:nvPr>
            <p:ph type="sldNum" sz="quarter" idx="12"/>
          </p:nvPr>
        </p:nvSpPr>
        <p:spPr/>
        <p:txBody>
          <a:bodyPr/>
          <a:lstStyle/>
          <a:p>
            <a:fld id="{2435CAA8-A57F-4BB3-B57F-962D9E660ABB}" type="slidenum">
              <a:rPr lang="en-US" smtClean="0"/>
              <a:t>17</a:t>
            </a:fld>
            <a:endParaRPr lang="en-US"/>
          </a:p>
        </p:txBody>
      </p:sp>
      <p:sp>
        <p:nvSpPr>
          <p:cNvPr id="5" name="TextBox 4">
            <a:extLst>
              <a:ext uri="{FF2B5EF4-FFF2-40B4-BE49-F238E27FC236}">
                <a16:creationId xmlns:a16="http://schemas.microsoft.com/office/drawing/2014/main" id="{411351F2-D17B-4B4B-1CAA-696F926C3245}"/>
              </a:ext>
            </a:extLst>
          </p:cNvPr>
          <p:cNvSpPr txBox="1"/>
          <p:nvPr/>
        </p:nvSpPr>
        <p:spPr>
          <a:xfrm>
            <a:off x="1394232" y="5743674"/>
            <a:ext cx="3217612" cy="369332"/>
          </a:xfrm>
          <a:prstGeom prst="rect">
            <a:avLst/>
          </a:prstGeom>
          <a:noFill/>
        </p:spPr>
        <p:txBody>
          <a:bodyPr wrap="none" rtlCol="0">
            <a:spAutoFit/>
          </a:bodyPr>
          <a:lstStyle/>
          <a:p>
            <a:r>
              <a:rPr lang="en-US" dirty="0"/>
              <a:t>Fig 3. SIR CDFs for all methods</a:t>
            </a:r>
          </a:p>
        </p:txBody>
      </p:sp>
    </p:spTree>
    <p:extLst>
      <p:ext uri="{BB962C8B-B14F-4D97-AF65-F5344CB8AC3E}">
        <p14:creationId xmlns:p14="http://schemas.microsoft.com/office/powerpoint/2010/main" val="3286859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A724B-7ED4-E68E-D393-2B7D5BF6D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8A737-5706-45BF-99AA-230691515DF1}"/>
              </a:ext>
            </a:extLst>
          </p:cNvPr>
          <p:cNvSpPr>
            <a:spLocks noGrp="1"/>
          </p:cNvSpPr>
          <p:nvPr>
            <p:ph type="title"/>
          </p:nvPr>
        </p:nvSpPr>
        <p:spPr/>
        <p:txBody>
          <a:bodyPr/>
          <a:lstStyle/>
          <a:p>
            <a:r>
              <a:rPr lang="en-US" dirty="0"/>
              <a:t>Numerical results </a:t>
            </a:r>
          </a:p>
        </p:txBody>
      </p:sp>
      <p:pic>
        <p:nvPicPr>
          <p:cNvPr id="15" name="Content Placeholder 9">
            <a:extLst>
              <a:ext uri="{FF2B5EF4-FFF2-40B4-BE49-F238E27FC236}">
                <a16:creationId xmlns:a16="http://schemas.microsoft.com/office/drawing/2014/main" id="{56CE8519-1A91-FB6D-B14F-7A6B58F718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735" y="1690688"/>
            <a:ext cx="5181600" cy="2936752"/>
          </a:xfrm>
          <a:prstGeom prst="rect">
            <a:avLst/>
          </a:prstGeom>
        </p:spPr>
      </p:pic>
      <p:sp>
        <p:nvSpPr>
          <p:cNvPr id="4" name="Content Placeholder 3">
            <a:extLst>
              <a:ext uri="{FF2B5EF4-FFF2-40B4-BE49-F238E27FC236}">
                <a16:creationId xmlns:a16="http://schemas.microsoft.com/office/drawing/2014/main" id="{F8D1A836-D6B4-5C15-9992-AB4665935A79}"/>
              </a:ext>
            </a:extLst>
          </p:cNvPr>
          <p:cNvSpPr>
            <a:spLocks noGrp="1"/>
          </p:cNvSpPr>
          <p:nvPr>
            <p:ph sz="half" idx="2"/>
          </p:nvPr>
        </p:nvSpPr>
        <p:spPr>
          <a:xfrm>
            <a:off x="6064533" y="1929008"/>
            <a:ext cx="5757704" cy="4295354"/>
          </a:xfrm>
        </p:spPr>
        <p:txBody>
          <a:bodyPr>
            <a:normAutofit/>
          </a:bodyPr>
          <a:lstStyle/>
          <a:p>
            <a:r>
              <a:rPr lang="en-US" sz="1800" dirty="0">
                <a:latin typeface="Ericsson Hilda" panose="00000500000000000000" pitchFamily="2" charset="0"/>
              </a:rPr>
              <a:t>BH=1 exhibits 100% constraint  violations.</a:t>
            </a:r>
          </a:p>
          <a:p>
            <a:r>
              <a:rPr lang="en-US" sz="1800" dirty="0">
                <a:latin typeface="Ericsson Hilda" panose="00000500000000000000" pitchFamily="2" charset="0"/>
              </a:rPr>
              <a:t>BH=3 less violations.</a:t>
            </a:r>
          </a:p>
          <a:p>
            <a:r>
              <a:rPr lang="en-US" sz="1800" dirty="0">
                <a:latin typeface="Ericsson Hilda" panose="00000500000000000000" pitchFamily="2" charset="0"/>
              </a:rPr>
              <a:t>Optimization based algorithms achieve 0% constraint violation.</a:t>
            </a:r>
          </a:p>
          <a:p>
            <a:r>
              <a:rPr lang="en-US" sz="1800" dirty="0">
                <a:latin typeface="Ericsson Hilda" panose="00000500000000000000" pitchFamily="2" charset="0"/>
              </a:rPr>
              <a:t>Greedy search : 5.9% </a:t>
            </a:r>
          </a:p>
        </p:txBody>
      </p:sp>
      <p:sp>
        <p:nvSpPr>
          <p:cNvPr id="3" name="Footer Placeholder 2">
            <a:extLst>
              <a:ext uri="{FF2B5EF4-FFF2-40B4-BE49-F238E27FC236}">
                <a16:creationId xmlns:a16="http://schemas.microsoft.com/office/drawing/2014/main" id="{CB870E0D-9F5E-6D8C-1E0E-A0C12F7F229A}"/>
              </a:ext>
            </a:extLst>
          </p:cNvPr>
          <p:cNvSpPr>
            <a:spLocks noGrp="1"/>
          </p:cNvSpPr>
          <p:nvPr>
            <p:ph type="ftr" sz="quarter" idx="11"/>
          </p:nvPr>
        </p:nvSpPr>
        <p:spPr/>
        <p:txBody>
          <a:bodyPr/>
          <a:lstStyle/>
          <a:p>
            <a:r>
              <a:rPr lang="fr-FR"/>
              <a:t>NTN Days 2026 - 13/10/2026</a:t>
            </a:r>
            <a:endParaRPr lang="en-US"/>
          </a:p>
        </p:txBody>
      </p:sp>
      <p:sp>
        <p:nvSpPr>
          <p:cNvPr id="5" name="Slide Number Placeholder 4">
            <a:extLst>
              <a:ext uri="{FF2B5EF4-FFF2-40B4-BE49-F238E27FC236}">
                <a16:creationId xmlns:a16="http://schemas.microsoft.com/office/drawing/2014/main" id="{77FF3288-EDAF-B090-342A-DF336DB7D360}"/>
              </a:ext>
            </a:extLst>
          </p:cNvPr>
          <p:cNvSpPr>
            <a:spLocks noGrp="1"/>
          </p:cNvSpPr>
          <p:nvPr>
            <p:ph type="sldNum" sz="quarter" idx="12"/>
          </p:nvPr>
        </p:nvSpPr>
        <p:spPr/>
        <p:txBody>
          <a:bodyPr/>
          <a:lstStyle/>
          <a:p>
            <a:fld id="{2435CAA8-A57F-4BB3-B57F-962D9E660ABB}" type="slidenum">
              <a:rPr lang="en-US" smtClean="0"/>
              <a:t>18</a:t>
            </a:fld>
            <a:endParaRPr lang="en-US"/>
          </a:p>
        </p:txBody>
      </p:sp>
      <p:sp>
        <p:nvSpPr>
          <p:cNvPr id="6" name="TextBox 5">
            <a:extLst>
              <a:ext uri="{FF2B5EF4-FFF2-40B4-BE49-F238E27FC236}">
                <a16:creationId xmlns:a16="http://schemas.microsoft.com/office/drawing/2014/main" id="{8966082D-CE4C-BB40-D2FC-2D91C78553D4}"/>
              </a:ext>
            </a:extLst>
          </p:cNvPr>
          <p:cNvSpPr txBox="1"/>
          <p:nvPr/>
        </p:nvSpPr>
        <p:spPr>
          <a:xfrm>
            <a:off x="882933" y="4627440"/>
            <a:ext cx="4443204" cy="369332"/>
          </a:xfrm>
          <a:prstGeom prst="rect">
            <a:avLst/>
          </a:prstGeom>
          <a:noFill/>
        </p:spPr>
        <p:txBody>
          <a:bodyPr wrap="none" rtlCol="0">
            <a:spAutoFit/>
          </a:bodyPr>
          <a:lstStyle/>
          <a:p>
            <a:r>
              <a:rPr lang="en-US" dirty="0"/>
              <a:t>Fig 4. Constraint violations for all methods  </a:t>
            </a:r>
          </a:p>
        </p:txBody>
      </p:sp>
    </p:spTree>
    <p:extLst>
      <p:ext uri="{BB962C8B-B14F-4D97-AF65-F5344CB8AC3E}">
        <p14:creationId xmlns:p14="http://schemas.microsoft.com/office/powerpoint/2010/main" val="2608827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E6D01-6A4E-824F-195A-6862FFE28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25FB2-C9FC-6BAC-F11B-84E7673EF702}"/>
              </a:ext>
            </a:extLst>
          </p:cNvPr>
          <p:cNvSpPr>
            <a:spLocks noGrp="1"/>
          </p:cNvSpPr>
          <p:nvPr>
            <p:ph type="title"/>
          </p:nvPr>
        </p:nvSpPr>
        <p:spPr/>
        <p:txBody>
          <a:bodyPr/>
          <a:lstStyle/>
          <a:p>
            <a:r>
              <a:rPr lang="en-US" dirty="0"/>
              <a:t>Numerical results </a:t>
            </a:r>
          </a:p>
        </p:txBody>
      </p:sp>
      <p:pic>
        <p:nvPicPr>
          <p:cNvPr id="19" name="Content Placeholder 18">
            <a:extLst>
              <a:ext uri="{FF2B5EF4-FFF2-40B4-BE49-F238E27FC236}">
                <a16:creationId xmlns:a16="http://schemas.microsoft.com/office/drawing/2014/main" id="{A75CB0CA-5880-BA4A-52DE-04EB4352D0B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61999" y="1508827"/>
            <a:ext cx="5181600" cy="4139570"/>
          </a:xfrm>
          <a:prstGeom prst="rect">
            <a:avLst/>
          </a:prstGeom>
        </p:spPr>
      </p:pic>
      <p:pic>
        <p:nvPicPr>
          <p:cNvPr id="17" name="Picture 16">
            <a:extLst>
              <a:ext uri="{FF2B5EF4-FFF2-40B4-BE49-F238E27FC236}">
                <a16:creationId xmlns:a16="http://schemas.microsoft.com/office/drawing/2014/main" id="{D9038049-4B4F-2D5C-70D7-A9F150427373}"/>
              </a:ext>
            </a:extLst>
          </p:cNvPr>
          <p:cNvPicPr>
            <a:picLocks noChangeAspect="1"/>
          </p:cNvPicPr>
          <p:nvPr/>
        </p:nvPicPr>
        <p:blipFill>
          <a:blip r:embed="rId4"/>
          <a:stretch>
            <a:fillRect/>
          </a:stretch>
        </p:blipFill>
        <p:spPr>
          <a:xfrm>
            <a:off x="6282813" y="1209603"/>
            <a:ext cx="5643077" cy="2154283"/>
          </a:xfrm>
          <a:prstGeom prst="rect">
            <a:avLst/>
          </a:prstGeom>
        </p:spPr>
      </p:pic>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CA246660-89E7-9B79-BA09-8EDE8FFE66F9}"/>
                  </a:ext>
                </a:extLst>
              </p:cNvPr>
              <p:cNvSpPr txBox="1"/>
              <p:nvPr/>
            </p:nvSpPr>
            <p:spPr>
              <a:xfrm>
                <a:off x="6427486" y="3578612"/>
                <a:ext cx="5582265" cy="2585323"/>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Ericsson Hilda" panose="00000500000000000000" pitchFamily="2" charset="0"/>
                  </a:rPr>
                  <a:t>Among the regular BH techniques, BH=1 has the lowest capacity per cell values. However, it is not the lowest : </a:t>
                </a:r>
                <a:br>
                  <a:rPr lang="en-US" dirty="0">
                    <a:latin typeface="Ericsson Hilda" panose="00000500000000000000" pitchFamily="2" charset="0"/>
                  </a:rPr>
                </a:br>
                <a:r>
                  <a:rPr lang="en-US" dirty="0" err="1">
                    <a:latin typeface="Ericsson Hilda" panose="00000500000000000000" pitchFamily="2" charset="0"/>
                  </a:rPr>
                  <a:t>Optim</a:t>
                </a:r>
                <a:r>
                  <a:rPr lang="en-US" dirty="0">
                    <a:latin typeface="Ericsson Hilda" panose="00000500000000000000" pitchFamily="2" charset="0"/>
                  </a:rPr>
                  <a:t> </a:t>
                </a:r>
                <a14:m>
                  <m:oMath xmlns:m="http://schemas.openxmlformats.org/officeDocument/2006/math">
                    <m:r>
                      <a:rPr lang="fr-FR" b="0" i="1" smtClean="0">
                        <a:latin typeface="Cambria Math" panose="02040503050406030204" pitchFamily="18" charset="0"/>
                      </a:rPr>
                      <m:t>𝛼</m:t>
                    </m:r>
                    <m:r>
                      <a:rPr lang="fr-FR" b="0" i="1" smtClean="0">
                        <a:latin typeface="Cambria Math" panose="02040503050406030204" pitchFamily="18" charset="0"/>
                      </a:rPr>
                      <m:t>=0.7 </m:t>
                    </m:r>
                  </m:oMath>
                </a14:m>
                <a:r>
                  <a:rPr lang="en-US" dirty="0">
                    <a:latin typeface="Ericsson Hilda" panose="00000500000000000000" pitchFamily="2" charset="0"/>
                  </a:rPr>
                  <a:t>the lowest =&gt; because K=7 =&gt; each beam is only scheduled 1/7 slots =&gt; cell capacity is penalized.</a:t>
                </a:r>
              </a:p>
              <a:p>
                <a:endParaRPr lang="en-US" dirty="0">
                  <a:latin typeface="Ericsson Hilda" panose="00000500000000000000" pitchFamily="2" charset="0"/>
                </a:endParaRPr>
              </a:p>
              <a:p>
                <a:pPr marL="285750" indent="-285750">
                  <a:buFont typeface="Arial" panose="020B0604020202020204" pitchFamily="34" charset="0"/>
                  <a:buChar char="•"/>
                </a:pPr>
                <a:r>
                  <a:rPr lang="en-US" dirty="0">
                    <a:latin typeface="Ericsson Hilda" panose="00000500000000000000" pitchFamily="2" charset="0"/>
                  </a:rPr>
                  <a:t>Optim </a:t>
                </a:r>
                <a14:m>
                  <m:oMath xmlns:m="http://schemas.openxmlformats.org/officeDocument/2006/math">
                    <m:r>
                      <a:rPr lang="fr-FR" b="0" i="1" smtClean="0">
                        <a:latin typeface="Cambria Math" panose="02040503050406030204" pitchFamily="18" charset="0"/>
                      </a:rPr>
                      <m:t>𝛼</m:t>
                    </m:r>
                    <m:r>
                      <a:rPr lang="fr-FR" b="0" i="1" smtClean="0">
                        <a:latin typeface="Cambria Math" panose="02040503050406030204" pitchFamily="18" charset="0"/>
                      </a:rPr>
                      <m:t>=0.35 </m:t>
                    </m:r>
                  </m:oMath>
                </a14:m>
                <a:r>
                  <a:rPr lang="en-US" dirty="0">
                    <a:latin typeface="Ericsson Hilda" panose="00000500000000000000" pitchFamily="2" charset="0"/>
                  </a:rPr>
                  <a:t>presents comparable performance to BH = 4 with more fairness</a:t>
                </a:r>
              </a:p>
            </p:txBody>
          </p:sp>
        </mc:Choice>
        <mc:Fallback>
          <p:sp>
            <p:nvSpPr>
              <p:cNvPr id="22" name="TextBox 21">
                <a:extLst>
                  <a:ext uri="{FF2B5EF4-FFF2-40B4-BE49-F238E27FC236}">
                    <a16:creationId xmlns:a16="http://schemas.microsoft.com/office/drawing/2014/main" id="{CA246660-89E7-9B79-BA09-8EDE8FFE66F9}"/>
                  </a:ext>
                </a:extLst>
              </p:cNvPr>
              <p:cNvSpPr txBox="1">
                <a:spLocks noRot="1" noChangeAspect="1" noMove="1" noResize="1" noEditPoints="1" noAdjustHandles="1" noChangeArrowheads="1" noChangeShapeType="1" noTextEdit="1"/>
              </p:cNvSpPr>
              <p:nvPr/>
            </p:nvSpPr>
            <p:spPr>
              <a:xfrm>
                <a:off x="6427486" y="3578612"/>
                <a:ext cx="5582265" cy="2585323"/>
              </a:xfrm>
              <a:prstGeom prst="rect">
                <a:avLst/>
              </a:prstGeom>
              <a:blipFill>
                <a:blip r:embed="rId5"/>
                <a:stretch>
                  <a:fillRect l="-655" t="-943" b="-3066"/>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67C8370A-7D99-FD10-A529-A85CE7051CFA}"/>
              </a:ext>
            </a:extLst>
          </p:cNvPr>
          <p:cNvSpPr>
            <a:spLocks noGrp="1"/>
          </p:cNvSpPr>
          <p:nvPr>
            <p:ph type="ftr" sz="quarter" idx="11"/>
          </p:nvPr>
        </p:nvSpPr>
        <p:spPr/>
        <p:txBody>
          <a:bodyPr/>
          <a:lstStyle/>
          <a:p>
            <a:r>
              <a:rPr lang="fr-FR"/>
              <a:t>NTN Days 2026 - 13/10/2026</a:t>
            </a:r>
            <a:endParaRPr lang="en-US"/>
          </a:p>
        </p:txBody>
      </p:sp>
      <p:sp>
        <p:nvSpPr>
          <p:cNvPr id="4" name="Slide Number Placeholder 3">
            <a:extLst>
              <a:ext uri="{FF2B5EF4-FFF2-40B4-BE49-F238E27FC236}">
                <a16:creationId xmlns:a16="http://schemas.microsoft.com/office/drawing/2014/main" id="{EB09E483-906D-53FB-80DC-573508378E40}"/>
              </a:ext>
            </a:extLst>
          </p:cNvPr>
          <p:cNvSpPr>
            <a:spLocks noGrp="1"/>
          </p:cNvSpPr>
          <p:nvPr>
            <p:ph type="sldNum" sz="quarter" idx="12"/>
          </p:nvPr>
        </p:nvSpPr>
        <p:spPr/>
        <p:txBody>
          <a:bodyPr/>
          <a:lstStyle/>
          <a:p>
            <a:fld id="{2435CAA8-A57F-4BB3-B57F-962D9E660ABB}" type="slidenum">
              <a:rPr lang="en-US" smtClean="0"/>
              <a:t>19</a:t>
            </a:fld>
            <a:endParaRPr lang="en-US"/>
          </a:p>
        </p:txBody>
      </p:sp>
      <p:sp>
        <p:nvSpPr>
          <p:cNvPr id="5" name="TextBox 4">
            <a:extLst>
              <a:ext uri="{FF2B5EF4-FFF2-40B4-BE49-F238E27FC236}">
                <a16:creationId xmlns:a16="http://schemas.microsoft.com/office/drawing/2014/main" id="{871A6A98-F1DB-65E6-DCC4-10B5A3760E59}"/>
              </a:ext>
            </a:extLst>
          </p:cNvPr>
          <p:cNvSpPr txBox="1"/>
          <p:nvPr/>
        </p:nvSpPr>
        <p:spPr>
          <a:xfrm>
            <a:off x="1840301" y="5794603"/>
            <a:ext cx="3024995" cy="369332"/>
          </a:xfrm>
          <a:prstGeom prst="rect">
            <a:avLst/>
          </a:prstGeom>
          <a:noFill/>
        </p:spPr>
        <p:txBody>
          <a:bodyPr wrap="none" rtlCol="0">
            <a:spAutoFit/>
          </a:bodyPr>
          <a:lstStyle/>
          <a:p>
            <a:r>
              <a:rPr lang="en-US" dirty="0"/>
              <a:t>Fig 5. Capacity per cell CDFs</a:t>
            </a:r>
          </a:p>
        </p:txBody>
      </p:sp>
    </p:spTree>
    <p:extLst>
      <p:ext uri="{BB962C8B-B14F-4D97-AF65-F5344CB8AC3E}">
        <p14:creationId xmlns:p14="http://schemas.microsoft.com/office/powerpoint/2010/main" val="868211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F16BE-EE1D-C758-69EA-4A5EA5D58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08441-F859-42A7-3C35-C30D2D5F28CB}"/>
              </a:ext>
            </a:extLst>
          </p:cNvPr>
          <p:cNvSpPr>
            <a:spLocks noGrp="1"/>
          </p:cNvSpPr>
          <p:nvPr>
            <p:ph type="title"/>
          </p:nvPr>
        </p:nvSpPr>
        <p:spPr/>
        <p:txBody>
          <a:bodyPr/>
          <a:lstStyle/>
          <a:p>
            <a:r>
              <a:rPr lang="en-US" dirty="0"/>
              <a:t>Numerical results </a:t>
            </a:r>
          </a:p>
        </p:txBody>
      </p:sp>
      <p:pic>
        <p:nvPicPr>
          <p:cNvPr id="21" name="Content Placeholder 20">
            <a:extLst>
              <a:ext uri="{FF2B5EF4-FFF2-40B4-BE49-F238E27FC236}">
                <a16:creationId xmlns:a16="http://schemas.microsoft.com/office/drawing/2014/main" id="{A8DEE56F-2A5B-2100-CE41-89E329B13D25}"/>
              </a:ext>
            </a:extLst>
          </p:cNvPr>
          <p:cNvPicPr>
            <a:picLocks noGrp="1" noChangeAspect="1"/>
          </p:cNvPicPr>
          <p:nvPr>
            <p:ph sz="half" idx="1"/>
          </p:nvPr>
        </p:nvPicPr>
        <p:blipFill>
          <a:blip r:embed="rId3"/>
          <a:stretch>
            <a:fillRect/>
          </a:stretch>
        </p:blipFill>
        <p:spPr>
          <a:xfrm>
            <a:off x="2873829" y="1864617"/>
            <a:ext cx="5181600" cy="2187039"/>
          </a:xfrm>
          <a:prstGeom prst="rect">
            <a:avLst/>
          </a:prstGeom>
        </p:spPr>
      </p:pic>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9E773AE1-97A3-B124-B526-8416F1D21271}"/>
                  </a:ext>
                </a:extLst>
              </p:cNvPr>
              <p:cNvSpPr>
                <a:spLocks noGrp="1"/>
              </p:cNvSpPr>
              <p:nvPr>
                <p:ph sz="half" idx="2"/>
              </p:nvPr>
            </p:nvSpPr>
            <p:spPr>
              <a:xfrm>
                <a:off x="1066800" y="4545806"/>
                <a:ext cx="10657114" cy="4351338"/>
              </a:xfrm>
            </p:spPr>
            <p:txBody>
              <a:bodyPr>
                <a:normAutofit/>
              </a:bodyPr>
              <a:lstStyle/>
              <a:p>
                <a:r>
                  <a:rPr lang="en-US" sz="1800" dirty="0">
                    <a:latin typeface="Ericsson Hilda" panose="00000500000000000000" pitchFamily="2" charset="0"/>
                  </a:rPr>
                  <a:t>Optim </a:t>
                </a:r>
                <a14:m>
                  <m:oMath xmlns:m="http://schemas.openxmlformats.org/officeDocument/2006/math">
                    <m:r>
                      <a:rPr lang="fr-FR" sz="1800" b="0" i="1" smtClean="0">
                        <a:latin typeface="Cambria Math" panose="02040503050406030204" pitchFamily="18" charset="0"/>
                      </a:rPr>
                      <m:t>𝛼</m:t>
                    </m:r>
                    <m:r>
                      <a:rPr lang="fr-FR" sz="1800" b="0" i="1" smtClean="0">
                        <a:latin typeface="Cambria Math" panose="02040503050406030204" pitchFamily="18" charset="0"/>
                      </a:rPr>
                      <m:t>=0.35</m:t>
                    </m:r>
                  </m:oMath>
                </a14:m>
                <a:r>
                  <a:rPr lang="en-US" sz="1800" dirty="0">
                    <a:latin typeface="Ericsson Hilda" panose="00000500000000000000" pitchFamily="2" charset="0"/>
                  </a:rPr>
                  <a:t> presents the best mean and median number for UE satisfaction rate. </a:t>
                </a:r>
              </a:p>
            </p:txBody>
          </p:sp>
        </mc:Choice>
        <mc:Fallback>
          <p:sp>
            <p:nvSpPr>
              <p:cNvPr id="5" name="Content Placeholder 4">
                <a:extLst>
                  <a:ext uri="{FF2B5EF4-FFF2-40B4-BE49-F238E27FC236}">
                    <a16:creationId xmlns:a16="http://schemas.microsoft.com/office/drawing/2014/main" id="{9E773AE1-97A3-B124-B526-8416F1D21271}"/>
                  </a:ext>
                </a:extLst>
              </p:cNvPr>
              <p:cNvSpPr>
                <a:spLocks noGrp="1" noRot="1" noChangeAspect="1" noMove="1" noResize="1" noEditPoints="1" noAdjustHandles="1" noChangeArrowheads="1" noChangeShapeType="1" noTextEdit="1"/>
              </p:cNvSpPr>
              <p:nvPr>
                <p:ph sz="half" idx="2"/>
              </p:nvPr>
            </p:nvSpPr>
            <p:spPr>
              <a:xfrm>
                <a:off x="1066800" y="4545806"/>
                <a:ext cx="10657114" cy="4351338"/>
              </a:xfrm>
              <a:blipFill>
                <a:blip r:embed="rId4"/>
                <a:stretch>
                  <a:fillRect l="-343" t="-1401"/>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FAA40E6E-DDCF-94E5-6734-D2712D2096EE}"/>
              </a:ext>
            </a:extLst>
          </p:cNvPr>
          <p:cNvSpPr>
            <a:spLocks noGrp="1"/>
          </p:cNvSpPr>
          <p:nvPr>
            <p:ph type="ftr" sz="quarter" idx="11"/>
          </p:nvPr>
        </p:nvSpPr>
        <p:spPr/>
        <p:txBody>
          <a:bodyPr/>
          <a:lstStyle/>
          <a:p>
            <a:r>
              <a:rPr lang="fr-FR"/>
              <a:t>NTN Days 2026 - 13/10/2026</a:t>
            </a:r>
            <a:endParaRPr lang="en-US"/>
          </a:p>
        </p:txBody>
      </p:sp>
      <p:sp>
        <p:nvSpPr>
          <p:cNvPr id="4" name="Slide Number Placeholder 3">
            <a:extLst>
              <a:ext uri="{FF2B5EF4-FFF2-40B4-BE49-F238E27FC236}">
                <a16:creationId xmlns:a16="http://schemas.microsoft.com/office/drawing/2014/main" id="{B887E533-89A3-7107-01F8-1B41AA4B0F5D}"/>
              </a:ext>
            </a:extLst>
          </p:cNvPr>
          <p:cNvSpPr>
            <a:spLocks noGrp="1"/>
          </p:cNvSpPr>
          <p:nvPr>
            <p:ph type="sldNum" sz="quarter" idx="12"/>
          </p:nvPr>
        </p:nvSpPr>
        <p:spPr/>
        <p:txBody>
          <a:bodyPr/>
          <a:lstStyle/>
          <a:p>
            <a:fld id="{2435CAA8-A57F-4BB3-B57F-962D9E660ABB}" type="slidenum">
              <a:rPr lang="en-US" smtClean="0"/>
              <a:t>20</a:t>
            </a:fld>
            <a:endParaRPr lang="en-US"/>
          </a:p>
        </p:txBody>
      </p:sp>
    </p:spTree>
    <p:extLst>
      <p:ext uri="{BB962C8B-B14F-4D97-AF65-F5344CB8AC3E}">
        <p14:creationId xmlns:p14="http://schemas.microsoft.com/office/powerpoint/2010/main" val="3983975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E556F-A3C0-A2ED-4A5E-1B759B259212}"/>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FCA6DBD8-E4F2-3385-7420-00BD35ADCB3E}"/>
              </a:ext>
            </a:extLst>
          </p:cNvPr>
          <p:cNvSpPr>
            <a:spLocks noGrp="1"/>
          </p:cNvSpPr>
          <p:nvPr>
            <p:ph idx="1"/>
          </p:nvPr>
        </p:nvSpPr>
        <p:spPr>
          <a:xfrm>
            <a:off x="794657" y="1335768"/>
            <a:ext cx="10515600" cy="4351338"/>
          </a:xfrm>
        </p:spPr>
        <p:txBody>
          <a:bodyPr>
            <a:normAutofit/>
          </a:bodyPr>
          <a:lstStyle/>
          <a:p>
            <a:r>
              <a:rPr lang="en-US" sz="2000" dirty="0">
                <a:latin typeface="Ericsson Hilda" panose="00000500000000000000" pitchFamily="2" charset="0"/>
              </a:rPr>
              <a:t>We proposed an interference-aware Beam Hopping scheduling framework for LEO satellite networks based on soft-conflict graph coloring that provides a good balance between limiting interference and avoiding excessive time-slot fragmentation.</a:t>
            </a:r>
          </a:p>
          <a:p>
            <a:r>
              <a:rPr lang="en-US" sz="2000" dirty="0">
                <a:latin typeface="Ericsson Hilda" panose="00000500000000000000" pitchFamily="2" charset="0"/>
              </a:rPr>
              <a:t>Unlike conventional Beam Hopping schemes that rely on predefined geometric patterns, the proposed algorithm rely on physical interference to take scheduling decisions.</a:t>
            </a:r>
          </a:p>
          <a:p>
            <a:r>
              <a:rPr lang="en-US" sz="2000" dirty="0">
                <a:latin typeface="Ericsson Hilda" panose="00000500000000000000" pitchFamily="2" charset="0"/>
              </a:rPr>
              <a:t>Adaptable approach to heterogeneous and irregular NTN deployments where interference relationships may be highly irregular and difficult to capture through fixed reuse patterns.</a:t>
            </a:r>
            <a:br>
              <a:rPr lang="en-US" sz="2000" dirty="0">
                <a:latin typeface="Ericsson Hilda" panose="00000500000000000000" pitchFamily="2" charset="0"/>
              </a:rPr>
            </a:br>
            <a:endParaRPr lang="en-US" sz="2000" dirty="0">
              <a:latin typeface="Ericsson Hilda" panose="00000500000000000000" pitchFamily="2" charset="0"/>
            </a:endParaRPr>
          </a:p>
          <a:p>
            <a:endParaRPr lang="en-US" sz="2000" dirty="0">
              <a:latin typeface="Ericsson Hilda" panose="00000500000000000000" pitchFamily="2" charset="0"/>
            </a:endParaRPr>
          </a:p>
        </p:txBody>
      </p:sp>
      <p:sp>
        <p:nvSpPr>
          <p:cNvPr id="4" name="Footer Placeholder 3">
            <a:extLst>
              <a:ext uri="{FF2B5EF4-FFF2-40B4-BE49-F238E27FC236}">
                <a16:creationId xmlns:a16="http://schemas.microsoft.com/office/drawing/2014/main" id="{85B42CDA-CC46-AD00-3074-9B08FF342FFF}"/>
              </a:ext>
            </a:extLst>
          </p:cNvPr>
          <p:cNvSpPr>
            <a:spLocks noGrp="1"/>
          </p:cNvSpPr>
          <p:nvPr>
            <p:ph type="ftr" sz="quarter" idx="11"/>
          </p:nvPr>
        </p:nvSpPr>
        <p:spPr/>
        <p:txBody>
          <a:bodyPr/>
          <a:lstStyle/>
          <a:p>
            <a:r>
              <a:rPr lang="fr-FR"/>
              <a:t>NTN Days 2026 - 13/10/2026</a:t>
            </a:r>
            <a:endParaRPr lang="en-US"/>
          </a:p>
        </p:txBody>
      </p:sp>
      <p:sp>
        <p:nvSpPr>
          <p:cNvPr id="5" name="Title 1">
            <a:extLst>
              <a:ext uri="{FF2B5EF4-FFF2-40B4-BE49-F238E27FC236}">
                <a16:creationId xmlns:a16="http://schemas.microsoft.com/office/drawing/2014/main" id="{A8DA1E29-E71F-9BF9-762A-C83203858317}"/>
              </a:ext>
            </a:extLst>
          </p:cNvPr>
          <p:cNvSpPr txBox="1">
            <a:spLocks/>
          </p:cNvSpPr>
          <p:nvPr/>
        </p:nvSpPr>
        <p:spPr>
          <a:xfrm>
            <a:off x="751114" y="39029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Future work</a:t>
            </a:r>
          </a:p>
        </p:txBody>
      </p:sp>
      <p:sp>
        <p:nvSpPr>
          <p:cNvPr id="7" name="TextBox 6">
            <a:extLst>
              <a:ext uri="{FF2B5EF4-FFF2-40B4-BE49-F238E27FC236}">
                <a16:creationId xmlns:a16="http://schemas.microsoft.com/office/drawing/2014/main" id="{62E09D83-220A-C5E3-FE82-1CA5CDCAA752}"/>
              </a:ext>
            </a:extLst>
          </p:cNvPr>
          <p:cNvSpPr txBox="1"/>
          <p:nvPr/>
        </p:nvSpPr>
        <p:spPr>
          <a:xfrm>
            <a:off x="751114" y="4903827"/>
            <a:ext cx="10602686" cy="369332"/>
          </a:xfrm>
          <a:prstGeom prst="rect">
            <a:avLst/>
          </a:prstGeom>
          <a:noFill/>
        </p:spPr>
        <p:txBody>
          <a:bodyPr wrap="square">
            <a:spAutoFit/>
          </a:bodyPr>
          <a:lstStyle/>
          <a:p>
            <a:pPr marL="285750" indent="-285750">
              <a:buFont typeface="Arial" panose="020B0604020202020204" pitchFamily="34" charset="0"/>
              <a:buChar char="•"/>
            </a:pPr>
            <a:r>
              <a:rPr lang="en-US" dirty="0">
                <a:latin typeface="Ericsson Hilda" panose="00000500000000000000" pitchFamily="2" charset="0"/>
              </a:rPr>
              <a:t>Cell planning for NTN cells  </a:t>
            </a:r>
            <a:endParaRPr lang="en-US" sz="1800" dirty="0">
              <a:latin typeface="Ericsson Hilda" panose="00000500000000000000" pitchFamily="2" charset="0"/>
            </a:endParaRPr>
          </a:p>
        </p:txBody>
      </p:sp>
      <p:sp>
        <p:nvSpPr>
          <p:cNvPr id="6" name="Slide Number Placeholder 5">
            <a:extLst>
              <a:ext uri="{FF2B5EF4-FFF2-40B4-BE49-F238E27FC236}">
                <a16:creationId xmlns:a16="http://schemas.microsoft.com/office/drawing/2014/main" id="{4AD9EA09-8863-1E03-9446-DE354B118388}"/>
              </a:ext>
            </a:extLst>
          </p:cNvPr>
          <p:cNvSpPr>
            <a:spLocks noGrp="1"/>
          </p:cNvSpPr>
          <p:nvPr>
            <p:ph type="sldNum" sz="quarter" idx="12"/>
          </p:nvPr>
        </p:nvSpPr>
        <p:spPr/>
        <p:txBody>
          <a:bodyPr/>
          <a:lstStyle/>
          <a:p>
            <a:fld id="{2435CAA8-A57F-4BB3-B57F-962D9E660ABB}" type="slidenum">
              <a:rPr lang="en-US" smtClean="0"/>
              <a:t>21</a:t>
            </a:fld>
            <a:endParaRPr lang="en-US"/>
          </a:p>
        </p:txBody>
      </p:sp>
    </p:spTree>
    <p:extLst>
      <p:ext uri="{BB962C8B-B14F-4D97-AF65-F5344CB8AC3E}">
        <p14:creationId xmlns:p14="http://schemas.microsoft.com/office/powerpoint/2010/main" val="1210320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732731-C6C4-B105-E129-93EFBC96E49F}"/>
              </a:ext>
            </a:extLst>
          </p:cNvPr>
          <p:cNvSpPr>
            <a:spLocks noGrp="1"/>
          </p:cNvSpPr>
          <p:nvPr>
            <p:ph idx="1"/>
          </p:nvPr>
        </p:nvSpPr>
        <p:spPr>
          <a:xfrm>
            <a:off x="4923237" y="2610071"/>
            <a:ext cx="7464706" cy="3746279"/>
          </a:xfrm>
        </p:spPr>
        <p:txBody>
          <a:bodyPr/>
          <a:lstStyle/>
          <a:p>
            <a:pPr marL="0" indent="0">
              <a:buNone/>
            </a:pPr>
            <a:r>
              <a:rPr lang="en-US" dirty="0"/>
              <a:t>Thank you</a:t>
            </a:r>
          </a:p>
        </p:txBody>
      </p:sp>
      <p:sp>
        <p:nvSpPr>
          <p:cNvPr id="4" name="Footer Placeholder 3">
            <a:extLst>
              <a:ext uri="{FF2B5EF4-FFF2-40B4-BE49-F238E27FC236}">
                <a16:creationId xmlns:a16="http://schemas.microsoft.com/office/drawing/2014/main" id="{C63ACA63-A0D9-BE85-CB49-EF8505232A39}"/>
              </a:ext>
            </a:extLst>
          </p:cNvPr>
          <p:cNvSpPr>
            <a:spLocks noGrp="1"/>
          </p:cNvSpPr>
          <p:nvPr>
            <p:ph type="ftr" sz="quarter" idx="11"/>
          </p:nvPr>
        </p:nvSpPr>
        <p:spPr/>
        <p:txBody>
          <a:bodyPr/>
          <a:lstStyle/>
          <a:p>
            <a:r>
              <a:rPr lang="fr-FR"/>
              <a:t>NTN Days 2026 - 13/10/2026</a:t>
            </a:r>
            <a:endParaRPr lang="en-US"/>
          </a:p>
        </p:txBody>
      </p:sp>
      <p:sp>
        <p:nvSpPr>
          <p:cNvPr id="2" name="Slide Number Placeholder 1">
            <a:extLst>
              <a:ext uri="{FF2B5EF4-FFF2-40B4-BE49-F238E27FC236}">
                <a16:creationId xmlns:a16="http://schemas.microsoft.com/office/drawing/2014/main" id="{93EEB36B-3822-15FD-9FEA-3A7D0338E6B3}"/>
              </a:ext>
            </a:extLst>
          </p:cNvPr>
          <p:cNvSpPr>
            <a:spLocks noGrp="1"/>
          </p:cNvSpPr>
          <p:nvPr>
            <p:ph type="sldNum" sz="quarter" idx="12"/>
          </p:nvPr>
        </p:nvSpPr>
        <p:spPr/>
        <p:txBody>
          <a:bodyPr/>
          <a:lstStyle/>
          <a:p>
            <a:fld id="{2435CAA8-A57F-4BB3-B57F-962D9E660ABB}" type="slidenum">
              <a:rPr lang="en-US" smtClean="0"/>
              <a:t>22</a:t>
            </a:fld>
            <a:endParaRPr lang="en-US"/>
          </a:p>
        </p:txBody>
      </p:sp>
    </p:spTree>
    <p:extLst>
      <p:ext uri="{BB962C8B-B14F-4D97-AF65-F5344CB8AC3E}">
        <p14:creationId xmlns:p14="http://schemas.microsoft.com/office/powerpoint/2010/main" val="3358324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1B9C5-5356-0A2A-8931-25EE1C18FB9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4BD5FD4-7652-4F17-B9F5-B003D50E31EC}"/>
              </a:ext>
            </a:extLst>
          </p:cNvPr>
          <p:cNvSpPr>
            <a:spLocks noGrp="1"/>
          </p:cNvSpPr>
          <p:nvPr>
            <p:ph idx="1"/>
          </p:nvPr>
        </p:nvSpPr>
        <p:spPr/>
        <p:txBody>
          <a:bodyPr>
            <a:normAutofit/>
          </a:bodyPr>
          <a:lstStyle/>
          <a:p>
            <a:pPr fontAlgn="t"/>
            <a:r>
              <a:rPr lang="en-US" sz="1400" dirty="0"/>
              <a:t>[1] : Yaxin Wang et al. “A Flexible Resource Allocation Algorithm in Full Bandwidth Beam Hopping Satellite Systems”. In: 2019 IEEE 3rd Advanced Information Management, Communicates, Electronic and Automation Control Conference (IMCEC). 2019</a:t>
            </a:r>
          </a:p>
          <a:p>
            <a:pPr fontAlgn="t"/>
            <a:r>
              <a:rPr lang="en-US" sz="1400" dirty="0"/>
              <a:t>[2] : Zhiyuan Lin et al. “Multi-Satellite Beam Hopping Based on Load Balancing and Interference Avoidance for NGSO Satellite Communication Systems”. In: IEEE Transactions on Communications 71.1 (2023)</a:t>
            </a:r>
          </a:p>
          <a:p>
            <a:pPr fontAlgn="t"/>
            <a:r>
              <a:rPr lang="en-US" sz="1400" dirty="0"/>
              <a:t>[3] : </a:t>
            </a:r>
            <a:r>
              <a:rPr lang="en-US" sz="1400" dirty="0" err="1"/>
              <a:t>Ruishuo</a:t>
            </a:r>
            <a:r>
              <a:rPr lang="en-US" sz="1400" dirty="0"/>
              <a:t> Mu et al. “Dynamic Beam Hopping for LEO Satellites with Differentiated Traffic Demands”. In: WSCP2023. 2023, pp. 621–626. DOI: 10.1109/ WCSP58612.2023.10405252</a:t>
            </a:r>
          </a:p>
          <a:p>
            <a:pPr fontAlgn="t"/>
            <a:r>
              <a:rPr lang="en-US" sz="1400" dirty="0"/>
              <a:t>[4] : Huimin Deng et al. “Satellites Beam Hopping Scheduling for Interference Avoidance”. In: IEEE Journal on Selected Areas in Communications 42.12 (2024), </a:t>
            </a:r>
          </a:p>
          <a:p>
            <a:pPr fontAlgn="t"/>
            <a:r>
              <a:rPr lang="en-US" sz="1400" dirty="0"/>
              <a:t>[5] : Zijun Liu et al. “Multi-Satellite Coordinated Beam Hopping for Interference Mitigation Under Tilted Beam Effects: A Graph-Theoretic Approach”. In: IEEE Wire less Communications Letters 15 (2026), pp. 2313–2317. DOI: 10.1109/LWC.2026.3676112.</a:t>
            </a:r>
          </a:p>
          <a:p>
            <a:endParaRPr lang="en-US" sz="1400" dirty="0"/>
          </a:p>
        </p:txBody>
      </p:sp>
      <p:sp>
        <p:nvSpPr>
          <p:cNvPr id="4" name="Footer Placeholder 3">
            <a:extLst>
              <a:ext uri="{FF2B5EF4-FFF2-40B4-BE49-F238E27FC236}">
                <a16:creationId xmlns:a16="http://schemas.microsoft.com/office/drawing/2014/main" id="{A054E655-D72D-9DB6-E65A-201585376362}"/>
              </a:ext>
            </a:extLst>
          </p:cNvPr>
          <p:cNvSpPr>
            <a:spLocks noGrp="1"/>
          </p:cNvSpPr>
          <p:nvPr>
            <p:ph type="ftr" sz="quarter" idx="11"/>
          </p:nvPr>
        </p:nvSpPr>
        <p:spPr/>
        <p:txBody>
          <a:bodyPr/>
          <a:lstStyle/>
          <a:p>
            <a:r>
              <a:rPr lang="fr-FR"/>
              <a:t>NTN Days 2026 - 13/10/2026</a:t>
            </a:r>
            <a:endParaRPr lang="en-US"/>
          </a:p>
        </p:txBody>
      </p:sp>
      <p:sp>
        <p:nvSpPr>
          <p:cNvPr id="5" name="Slide Number Placeholder 4">
            <a:extLst>
              <a:ext uri="{FF2B5EF4-FFF2-40B4-BE49-F238E27FC236}">
                <a16:creationId xmlns:a16="http://schemas.microsoft.com/office/drawing/2014/main" id="{26E1B12A-0995-DFA0-9162-58A5A2ABEBD3}"/>
              </a:ext>
            </a:extLst>
          </p:cNvPr>
          <p:cNvSpPr>
            <a:spLocks noGrp="1"/>
          </p:cNvSpPr>
          <p:nvPr>
            <p:ph type="sldNum" sz="quarter" idx="12"/>
          </p:nvPr>
        </p:nvSpPr>
        <p:spPr/>
        <p:txBody>
          <a:bodyPr/>
          <a:lstStyle/>
          <a:p>
            <a:fld id="{2435CAA8-A57F-4BB3-B57F-962D9E660ABB}" type="slidenum">
              <a:rPr lang="en-US" smtClean="0"/>
              <a:t>23</a:t>
            </a:fld>
            <a:endParaRPr lang="en-US"/>
          </a:p>
        </p:txBody>
      </p:sp>
    </p:spTree>
    <p:extLst>
      <p:ext uri="{BB962C8B-B14F-4D97-AF65-F5344CB8AC3E}">
        <p14:creationId xmlns:p14="http://schemas.microsoft.com/office/powerpoint/2010/main" val="1848912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FA9FD-F6F2-13EA-7E1C-767967553E8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C554755-3024-3C0B-5375-5E20E02E9225}"/>
                  </a:ext>
                </a:extLst>
              </p:cNvPr>
              <p:cNvSpPr txBox="1"/>
              <p:nvPr/>
            </p:nvSpPr>
            <p:spPr>
              <a:xfrm>
                <a:off x="2025445" y="1910899"/>
                <a:ext cx="8416413" cy="3365345"/>
              </a:xfrm>
              <a:prstGeom prst="rect">
                <a:avLst/>
              </a:prstGeom>
              <a:noFill/>
            </p:spPr>
            <p:txBody>
              <a:bodyPr wrap="square" lIns="0" tIns="0" rIns="0" bIns="0" rtlCol="0">
                <a:spAutoFit/>
              </a:bodyPr>
              <a:lstStyle/>
              <a:p>
                <a:pPr lvl="0"/>
                <a14:m>
                  <m:oMathPara xmlns:m="http://schemas.openxmlformats.org/officeDocument/2006/math">
                    <m:oMathParaPr>
                      <m:jc m:val="left"/>
                    </m:oMathParaPr>
                    <m:o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 </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𝑏</m:t>
                                      </m:r>
                                    </m:e>
                                    <m:sub>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𝑐</m:t>
                                  </m:r>
                                </m:e>
                                <m:sub>
                                  <m:r>
                                    <a:rPr lang="en-US" i="1">
                                      <a:latin typeface="Cambria Math" panose="02040503050406030204" pitchFamily="18" charset="0"/>
                                    </a:rPr>
                                    <m:t>𝑖</m:t>
                                  </m:r>
                                </m:sub>
                              </m:sSub>
                            </m:e>
                          </m:d>
                        </m:num>
                        <m:den>
                          <m:nary>
                            <m:naryPr>
                              <m:chr m:val="∑"/>
                              <m:supHide m:val="on"/>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7"/>
                                </m:r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up/>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 </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𝑏</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𝑐</m:t>
                                      </m:r>
                                    </m:e>
                                    <m:sub>
                                      <m:r>
                                        <a:rPr lang="en-US" i="1">
                                          <a:latin typeface="Cambria Math" panose="02040503050406030204" pitchFamily="18" charset="0"/>
                                        </a:rPr>
                                        <m:t>𝑖</m:t>
                                      </m:r>
                                    </m:sub>
                                  </m:sSub>
                                </m:e>
                              </m:d>
                            </m:e>
                          </m:nary>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𝑆𝐼𝑅</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𝑡ℎ𝑟𝑒𝑠ℎ𝑜𝑙𝑑</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_</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𝑙𝑖𝑛𝑒𝑎𝑟</m:t>
                          </m:r>
                        </m:sub>
                      </m:sSub>
                    </m:oMath>
                  </m:oMathPara>
                </a14:m>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lvl="0"/>
                <a14:m>
                  <m:oMathPara xmlns:m="http://schemas.openxmlformats.org/officeDocument/2006/math">
                    <m:oMathParaPr>
                      <m:jc m:val="left"/>
                    </m:oMathParaPr>
                    <m:o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 </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𝑏</m:t>
                                      </m:r>
                                    </m:e>
                                    <m:sub>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m:t>
                                          </m:r>
                                        </m:sub>
                                      </m:sSub>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𝑐</m:t>
                                  </m:r>
                                </m:e>
                                <m:sub>
                                  <m:r>
                                    <a:rPr lang="en-US" i="1">
                                      <a:latin typeface="Cambria Math" panose="02040503050406030204" pitchFamily="18" charset="0"/>
                                    </a:rPr>
                                    <m:t>𝑖</m:t>
                                  </m:r>
                                </m:sub>
                              </m:sSub>
                            </m:e>
                          </m:d>
                        </m:num>
                        <m:den>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𝑆𝐼𝑅</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𝑡ℎ𝑟𝑒𝑠ℎ𝑜𝑙𝑑</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_</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𝑙𝑖𝑛𝑒𝑎𝑟</m:t>
                              </m:r>
                            </m:sub>
                          </m:sSub>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nary>
                        <m:naryPr>
                          <m:chr m:val="∑"/>
                          <m:supHide m:val="on"/>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naryPr>
                        <m:sub>
                          <m:r>
                            <m:rPr>
                              <m:brk m:alnAt="7"/>
                            </m:r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up/>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𝑏</m:t>
                                      </m:r>
                                    </m:e>
                                    <m:sub>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𝑐</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𝑗</m:t>
                                          </m:r>
                                        </m:sub>
                                      </m:sSub>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𝑐</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d>
                        </m:e>
                      </m:nary>
                    </m:oMath>
                  </m:oMathPara>
                </a14:m>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𝐵</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𝑐</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num>
                        <m:den>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𝑆𝐼𝑅</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𝑡ℎ𝑟𝑒𝑠ℎ𝑜𝑙𝑑</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_</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𝑙𝑖𝑛𝑒𝑎𝑟</m:t>
                              </m:r>
                            </m:sub>
                          </m:sSub>
                        </m:den>
                      </m:f>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𝑐</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num>
                        <m:den>
                          <m:sSup>
                            <m:s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10</m:t>
                              </m:r>
                            </m:e>
                            <m:sup>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𝑆𝐼𝑅</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𝑡ℎ𝑟𝑒𝑠ℎ𝑜𝑙𝑑</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_</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𝑑𝐵</m:t>
                                      </m:r>
                                    </m:sub>
                                  </m:sSub>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10</m:t>
                                  </m:r>
                                </m:den>
                              </m:f>
                            </m:sup>
                          </m:sSup>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𝑐</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sub>
                          </m:sSub>
                        </m:e>
                      </m:d>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10</m:t>
                          </m:r>
                        </m:e>
                        <m:sup>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𝑆𝐼𝑅</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𝑡ℎ𝑟𝑒𝑠ℎ𝑜𝑙𝑑</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_</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𝑑𝐵</m:t>
                                  </m:r>
                                </m:sub>
                              </m:sSub>
                            </m:num>
                            <m:den>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10</m:t>
                              </m:r>
                            </m:den>
                          </m:f>
                        </m:sup>
                      </m:sSup>
                    </m:oMath>
                  </m:oMathPara>
                </a14:m>
                <a:endParaRPr kumimoji="0" lang="en-US" sz="1800" b="0" i="0" u="none" strike="noStrike" kern="1200" cap="none" spc="0" normalizeH="0" baseline="0" noProof="0" dirty="0">
                  <a:ln>
                    <a:noFill/>
                  </a:ln>
                  <a:solidFill>
                    <a:prstClr val="black"/>
                  </a:solidFill>
                  <a:effectLst/>
                  <a:uLnTx/>
                  <a:uFillTx/>
                  <a:latin typeface="Aptos" panose="02110004020202020204"/>
                  <a:ea typeface="Cambria Math" panose="020405030504060302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Choice>
        <mc:Fallback xmlns="">
          <p:sp>
            <p:nvSpPr>
              <p:cNvPr id="6" name="TextBox 5">
                <a:extLst>
                  <a:ext uri="{FF2B5EF4-FFF2-40B4-BE49-F238E27FC236}">
                    <a16:creationId xmlns:a16="http://schemas.microsoft.com/office/drawing/2014/main" id="{6C554755-3024-3C0B-5375-5E20E02E9225}"/>
                  </a:ext>
                </a:extLst>
              </p:cNvPr>
              <p:cNvSpPr txBox="1">
                <a:spLocks noRot="1" noChangeAspect="1" noMove="1" noResize="1" noEditPoints="1" noAdjustHandles="1" noChangeArrowheads="1" noChangeShapeType="1" noTextEdit="1"/>
              </p:cNvSpPr>
              <p:nvPr/>
            </p:nvSpPr>
            <p:spPr>
              <a:xfrm>
                <a:off x="2025445" y="1910899"/>
                <a:ext cx="8416413" cy="336534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BC44DA2-EB33-8045-AE89-8C8C2FE40585}"/>
                  </a:ext>
                </a:extLst>
              </p:cNvPr>
              <p:cNvSpPr txBox="1"/>
              <p:nvPr/>
            </p:nvSpPr>
            <p:spPr>
              <a:xfrm>
                <a:off x="471948" y="717755"/>
                <a:ext cx="5304786" cy="461665"/>
              </a:xfrm>
              <a:prstGeom prst="rect">
                <a:avLst/>
              </a:prstGeom>
              <a:noFill/>
            </p:spPr>
            <p:txBody>
              <a:bodyPr wrap="none" rtlCol="0">
                <a:spAutoFit/>
              </a:bodyPr>
              <a:lstStyle/>
              <a:p>
                <a:r>
                  <a:rPr lang="en-US" sz="2400" dirty="0"/>
                  <a:t>What is the budget for each cell </a:t>
                </a:r>
                <a14:m>
                  <m:oMath xmlns:m="http://schemas.openxmlformats.org/officeDocument/2006/math">
                    <m:r>
                      <a:rPr lang="en-US" sz="2400" b="0" i="1" smtClean="0">
                        <a:latin typeface="Cambria Math" panose="02040503050406030204" pitchFamily="18" charset="0"/>
                      </a:rPr>
                      <m:t>𝐵</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 ?</m:t>
                    </m:r>
                  </m:oMath>
                </a14:m>
                <a:endParaRPr lang="en-US" sz="2400" dirty="0"/>
              </a:p>
            </p:txBody>
          </p:sp>
        </mc:Choice>
        <mc:Fallback xmlns="">
          <p:sp>
            <p:nvSpPr>
              <p:cNvPr id="2" name="TextBox 1">
                <a:extLst>
                  <a:ext uri="{FF2B5EF4-FFF2-40B4-BE49-F238E27FC236}">
                    <a16:creationId xmlns:a16="http://schemas.microsoft.com/office/drawing/2014/main" id="{7BC44DA2-EB33-8045-AE89-8C8C2FE40585}"/>
                  </a:ext>
                </a:extLst>
              </p:cNvPr>
              <p:cNvSpPr txBox="1">
                <a:spLocks noRot="1" noChangeAspect="1" noMove="1" noResize="1" noEditPoints="1" noAdjustHandles="1" noChangeArrowheads="1" noChangeShapeType="1" noTextEdit="1"/>
              </p:cNvSpPr>
              <p:nvPr/>
            </p:nvSpPr>
            <p:spPr>
              <a:xfrm>
                <a:off x="471948" y="717755"/>
                <a:ext cx="5304786" cy="461665"/>
              </a:xfrm>
              <a:prstGeom prst="rect">
                <a:avLst/>
              </a:prstGeom>
              <a:blipFill>
                <a:blip r:embed="rId3"/>
                <a:stretch>
                  <a:fillRect l="-1722"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5917EE4-A47C-313A-C107-7FBD5AD8ABB5}"/>
                  </a:ext>
                </a:extLst>
              </p:cNvPr>
              <p:cNvSpPr txBox="1"/>
              <p:nvPr/>
            </p:nvSpPr>
            <p:spPr>
              <a:xfrm>
                <a:off x="6233651" y="2895600"/>
                <a:ext cx="4543616" cy="797462"/>
              </a:xfrm>
              <a:prstGeom prst="rect">
                <a:avLst/>
              </a:prstGeom>
              <a:noFill/>
            </p:spPr>
            <p:txBody>
              <a:bodyPr wrap="none" rtlCol="0">
                <a:spAutoFit/>
              </a:bodyPr>
              <a:lstStyle/>
              <a:p>
                <a:pPr/>
                <a14:m>
                  <m:oMathPara xmlns:m="http://schemas.openxmlformats.org/officeDocument/2006/math">
                    <m:oMath>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6</m:t>
                          </m:r>
                        </m:e>
                      </m:d>
                      <m:nary>
                        <m:naryPr>
                          <m:chr m:val="∑"/>
                          <m:supHide m:val="on"/>
                          <m:ctrlPr>
                            <a:rPr lang="en-US" i="1">
                              <a:solidFill>
                                <a:prstClr val="black"/>
                              </a:solidFill>
                              <a:latin typeface="Cambria Math" panose="02040503050406030204" pitchFamily="18" charset="0"/>
                            </a:rPr>
                          </m:ctrlPr>
                        </m:naryPr>
                        <m:sub>
                          <m:r>
                            <m:rPr>
                              <m:brk m:alnAt="7"/>
                            </m:rPr>
                            <a:rPr lang="en-US" i="1">
                              <a:solidFill>
                                <a:prstClr val="black"/>
                              </a:solidFill>
                              <a:latin typeface="Cambria Math" panose="02040503050406030204" pitchFamily="18" charset="0"/>
                            </a:rPr>
                            <m:t>𝑖</m:t>
                          </m:r>
                          <m:r>
                            <a:rPr lang="en-US" i="1">
                              <a:solidFill>
                                <a:prstClr val="black"/>
                              </a:solidFill>
                              <a:latin typeface="Cambria Math" panose="02040503050406030204" pitchFamily="18" charset="0"/>
                            </a:rPr>
                            <m:t>:</m:t>
                          </m:r>
                          <m:d>
                            <m:dPr>
                              <m:begChr m:val="{"/>
                              <m:endChr m:val="}"/>
                              <m:ctrlPr>
                                <a:rPr lang="en-US" i="1">
                                  <a:solidFill>
                                    <a:prstClr val="black"/>
                                  </a:solidFill>
                                  <a:latin typeface="Cambria Math" panose="02040503050406030204" pitchFamily="18" charset="0"/>
                                </a:rPr>
                              </m:ctrlPr>
                            </m:dPr>
                            <m:e>
                              <m:r>
                                <m:rPr>
                                  <m:brk m:alnAt="7"/>
                                </m:rPr>
                                <a:rPr lang="en-US" i="1">
                                  <a:solidFill>
                                    <a:prstClr val="black"/>
                                  </a:solidFill>
                                  <a:latin typeface="Cambria Math" panose="02040503050406030204" pitchFamily="18" charset="0"/>
                                </a:rPr>
                                <m:t>𝑖</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𝑗</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𝐸</m:t>
                          </m:r>
                        </m:sub>
                        <m:sup/>
                        <m:e>
                          <m:nary>
                            <m:naryPr>
                              <m:chr m:val="∑"/>
                              <m:limLoc m:val="subSup"/>
                              <m:ctrlPr>
                                <a:rPr lang="en-US" i="1">
                                  <a:solidFill>
                                    <a:prstClr val="black"/>
                                  </a:solidFill>
                                  <a:latin typeface="Cambria Math" panose="02040503050406030204" pitchFamily="18" charset="0"/>
                                </a:rPr>
                              </m:ctrlPr>
                            </m:naryPr>
                            <m:sub>
                              <m:r>
                                <m:rPr>
                                  <m:brk m:alnAt="25"/>
                                </m:rPr>
                                <a:rPr lang="en-US" i="1">
                                  <a:solidFill>
                                    <a:prstClr val="black"/>
                                  </a:solidFill>
                                  <a:latin typeface="Cambria Math" panose="02040503050406030204" pitchFamily="18" charset="0"/>
                                </a:rPr>
                                <m:t>𝑘</m:t>
                              </m:r>
                              <m:r>
                                <a:rPr lang="en-US" i="1">
                                  <a:solidFill>
                                    <a:prstClr val="black"/>
                                  </a:solidFill>
                                  <a:latin typeface="Cambria Math" panose="02040503050406030204" pitchFamily="18" charset="0"/>
                                </a:rPr>
                                <m:t>=1</m:t>
                              </m:r>
                            </m:sub>
                            <m:sup>
                              <m:r>
                                <a:rPr lang="en-US" i="1">
                                  <a:solidFill>
                                    <a:prstClr val="black"/>
                                  </a:solidFill>
                                  <a:latin typeface="Cambria Math" panose="02040503050406030204" pitchFamily="18" charset="0"/>
                                </a:rPr>
                                <m:t>𝐾</m:t>
                              </m:r>
                            </m:sup>
                            <m:e>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𝑤</m:t>
                                  </m:r>
                                </m:e>
                                <m:sub>
                                  <m:r>
                                    <a:rPr lang="en-US" i="1">
                                      <a:solidFill>
                                        <a:prstClr val="black"/>
                                      </a:solidFill>
                                      <a:latin typeface="Cambria Math" panose="02040503050406030204" pitchFamily="18" charset="0"/>
                                    </a:rPr>
                                    <m:t>𝑖𝑗</m:t>
                                  </m:r>
                                </m:sub>
                              </m:sSub>
                              <m:sSub>
                                <m:sSubPr>
                                  <m:ctrlPr>
                                    <a:rPr lang="en-US" i="1">
                                      <a:solidFill>
                                        <a:prstClr val="black"/>
                                      </a:solidFill>
                                      <a:latin typeface="Cambria Math" panose="02040503050406030204" pitchFamily="18" charset="0"/>
                                    </a:rPr>
                                  </m:ctrlPr>
                                </m:sSubPr>
                                <m:e>
                                  <m:r>
                                    <a:rPr lang="en-US" i="1">
                                      <a:solidFill>
                                        <a:prstClr val="black"/>
                                      </a:solidFill>
                                      <a:latin typeface="Cambria Math" panose="02040503050406030204" pitchFamily="18" charset="0"/>
                                    </a:rPr>
                                    <m:t>𝑧</m:t>
                                  </m:r>
                                </m:e>
                                <m:sub>
                                  <m:r>
                                    <a:rPr lang="en-US" i="1">
                                      <a:solidFill>
                                        <a:prstClr val="black"/>
                                      </a:solidFill>
                                      <a:latin typeface="Cambria Math" panose="02040503050406030204" pitchFamily="18" charset="0"/>
                                    </a:rPr>
                                    <m:t>𝑖𝑗</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𝑘</m:t>
                                  </m:r>
                                </m:sub>
                              </m:sSub>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𝐵</m:t>
                              </m:r>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𝑖</m:t>
                              </m:r>
                              <m:r>
                                <a:rPr lang="en-US" i="1">
                                  <a:solidFill>
                                    <a:prstClr val="black"/>
                                  </a:solidFill>
                                  <a:latin typeface="Cambria Math" panose="02040503050406030204" pitchFamily="18" charset="0"/>
                                </a:rPr>
                                <m:t>)      ∀</m:t>
                              </m:r>
                            </m:e>
                          </m:nary>
                        </m:e>
                      </m:nary>
                      <m:r>
                        <a:rPr lang="en-US" i="1">
                          <a:solidFill>
                            <a:prstClr val="black"/>
                          </a:solidFill>
                          <a:latin typeface="Cambria Math" panose="02040503050406030204" pitchFamily="18" charset="0"/>
                        </a:rPr>
                        <m:t>𝑖</m:t>
                      </m:r>
                      <m:r>
                        <a:rPr lang="en-US" i="1">
                          <a:solidFill>
                            <a:prstClr val="black"/>
                          </a:solidFill>
                          <a:latin typeface="Cambria Math" panose="02040503050406030204" pitchFamily="18" charset="0"/>
                        </a:rPr>
                        <m:t>∈</m:t>
                      </m:r>
                      <m:r>
                        <a:rPr lang="fr-FR" i="1">
                          <a:solidFill>
                            <a:prstClr val="black"/>
                          </a:solidFill>
                          <a:latin typeface="Cambria Math" panose="02040503050406030204" pitchFamily="18" charset="0"/>
                        </a:rPr>
                        <m:t>𝑉</m:t>
                      </m:r>
                    </m:oMath>
                  </m:oMathPara>
                </a14:m>
                <a:endParaRPr lang="en-US" dirty="0"/>
              </a:p>
            </p:txBody>
          </p:sp>
        </mc:Choice>
        <mc:Fallback xmlns="">
          <p:sp>
            <p:nvSpPr>
              <p:cNvPr id="3" name="TextBox 2">
                <a:extLst>
                  <a:ext uri="{FF2B5EF4-FFF2-40B4-BE49-F238E27FC236}">
                    <a16:creationId xmlns:a16="http://schemas.microsoft.com/office/drawing/2014/main" id="{A5917EE4-A47C-313A-C107-7FBD5AD8ABB5}"/>
                  </a:ext>
                </a:extLst>
              </p:cNvPr>
              <p:cNvSpPr txBox="1">
                <a:spLocks noRot="1" noChangeAspect="1" noMove="1" noResize="1" noEditPoints="1" noAdjustHandles="1" noChangeArrowheads="1" noChangeShapeType="1" noTextEdit="1"/>
              </p:cNvSpPr>
              <p:nvPr/>
            </p:nvSpPr>
            <p:spPr>
              <a:xfrm>
                <a:off x="6233651" y="2895600"/>
                <a:ext cx="4543616" cy="79746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45548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2e84ceb-fbfd-47ab-be52-080c6b87953f}" enabled="0" method="" siteId="{92e84ceb-fbfd-47ab-be52-080c6b87953f}" removed="1"/>
</clbl:labelList>
</file>

<file path=docProps/app.xml><?xml version="1.0" encoding="utf-8"?>
<Properties xmlns="http://schemas.openxmlformats.org/officeDocument/2006/extended-properties" xmlns:vt="http://schemas.openxmlformats.org/officeDocument/2006/docPropsVTypes">
  <TotalTime>11278</TotalTime>
  <Words>3986</Words>
  <Application>Microsoft Office PowerPoint</Application>
  <PresentationFormat>Widescreen</PresentationFormat>
  <Paragraphs>311</Paragraphs>
  <Slides>24</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Black</vt:lpstr>
      <vt:lpstr>Aptos Display</vt:lpstr>
      <vt:lpstr>Arial</vt:lpstr>
      <vt:lpstr>Cambria Math</vt:lpstr>
      <vt:lpstr>Ericsson Hilda</vt:lpstr>
      <vt:lpstr>Office Theme</vt:lpstr>
      <vt:lpstr>Interference-Aware Beam Hopping Scheduling for LEO Satellite Networks using Soft-Conflict Graph Coloring</vt:lpstr>
      <vt:lpstr>Agenda</vt:lpstr>
      <vt:lpstr>Non-terrestrial Networks (NTN):</vt:lpstr>
      <vt:lpstr>Non-terrestrial Networks (NTN):</vt:lpstr>
      <vt:lpstr>Context</vt:lpstr>
      <vt:lpstr>Context</vt:lpstr>
      <vt:lpstr>Related work </vt:lpstr>
      <vt:lpstr>System model </vt:lpstr>
      <vt:lpstr>PowerPoint Presentation</vt:lpstr>
      <vt:lpstr>PowerPoint Presentation</vt:lpstr>
      <vt:lpstr>Interference Di-graph D(P^Rx,α)</vt:lpstr>
      <vt:lpstr>Graph coloring optimization problem </vt:lpstr>
      <vt:lpstr>PowerPoint Presentation</vt:lpstr>
      <vt:lpstr>Experimental setup </vt:lpstr>
      <vt:lpstr>Baseline Algorithms</vt:lpstr>
      <vt:lpstr>Metrics </vt:lpstr>
      <vt:lpstr>Numerical results </vt:lpstr>
      <vt:lpstr>Numerical results </vt:lpstr>
      <vt:lpstr>Numerical results </vt:lpstr>
      <vt:lpstr>Numerical results </vt:lpstr>
      <vt:lpstr>Conclusion </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Jihane Lghoury</dc:creator>
  <cp:lastModifiedBy>Jihane Lghoury</cp:lastModifiedBy>
  <cp:revision>3</cp:revision>
  <dcterms:created xsi:type="dcterms:W3CDTF">2026-06-24T09:32:10Z</dcterms:created>
  <dcterms:modified xsi:type="dcterms:W3CDTF">2026-10-12T10:20:41Z</dcterms:modified>
</cp:coreProperties>
</file>